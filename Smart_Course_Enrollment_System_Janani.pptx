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0ca8129e-3302-7df2-8ac8-6adfe062725a}">
          <p14:sldIdLst>
            <p14:sldId id="256"/>
          </p14:sldIdLst>
        </p14:section>
        <p14:section name="Introduction" id="{1487705a-09a4-b2b9-7a3d-2f536c075c74}">
          <p14:sldIdLst>
            <p14:sldId id="257"/>
            <p14:sldId id="258"/>
          </p14:sldIdLst>
        </p14:section>
        <p14:section name="Problem and Solution" id="{26643b8c-b800-cd6c-6a0f-f329ce629551}">
          <p14:sldIdLst>
            <p14:sldId id="259"/>
            <p14:sldId id="260"/>
            <p14:sldId id="261"/>
          </p14:sldIdLst>
        </p14:section>
        <p14:section name="Design" id="{71da81ed-4561-1082-a674-b11707249cff}">
          <p14:sldIdLst>
            <p14:sldId id="262"/>
            <p14:sldId id="263"/>
            <p14:sldId id="264"/>
            <p14:sldId id="265"/>
            <p14:sldId id="266"/>
            <p14:sldId id="267"/>
          </p14:sldIdLst>
        </p14:section>
        <p14:section name="Implementation and Output" id="{d9d0f206-ee0d-bf52-f840-e68ef0d30579}">
          <p14:sldIdLst>
            <p14:sldId id="268"/>
            <p14:sldId id="269"/>
            <p14:sldId id="270"/>
            <p14:sldId id="271"/>
          </p14:sldIdLst>
        </p14:section>
        <p14:section name="Results and End" id="{745c7759-3cee-e0a2-036e-71d992e03779}">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Say your name, the project title, and that this was done during the one-month internship at Astonish InfoTech, Tiruchirappalli.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Chapter 2 (Company Profile) and Daily Work Report. Astonish InfoTech is a software and web solutions company in Trichy.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Abstract and Chapter 1. Keep it short: what the app is, who uses it, what it is built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Chapter 5.1 Existing System. These are the eight problems of the manual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Section 1.1. The report lists eleven objectives; these eight are the main ones. The others are: responsive design, automatic database setup, and showing practical use of full stack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Chapter 5.2 Proposed System. The new system is online, so learners and staff can use it from any device with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Chapter 1 and the code in Chapter 8. Python is the language. FastAPI is the framework. MySQL stores the data. Jinja2 creates the final HTML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Daily Work Report Days 2, 4 and 5. The report says a hardware and software list was prepared on Day 4 but does not print the hardware details, so do not quote hardware numbers. If asked, say any computer that can run Python and MySQL (this is a general statement, not from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Chapter 1 and Day 8. Three-tier architecture. The report says this layering makes the system easier to maintain and more reliable. Simple example: a restaurant. Customer = browser, waiter = FastAPI, store room =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Chapter 4, Figure 4.1. The diagram has three columns: user (student), system (FastAPI plus Jinja2) and database (MySQL). If the input is not valid, an error message is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Chapter 6 Proposed Method. Eight modules. The Dashboard and Contact pages have no screenshot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Section 8.2 and Day 9-10. PK = primary key, FK = foreign key. The enrollments table stores the course and category as names (text), not as foreign keys. This is listed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Section 8.5 and 8.7. The code was lightly re-wrapped to fit the slide; the logic is the same as in the report. A route is a URL address, for example /courses shows the course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screenshots from the report (Section 9.1 and 9.2). Home page headline: Grow your skills with modern, career-ready courses. The login screenshot is trimmed to remove empty background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screenshots from the report (Section 9.3 and 9.4), trimmed of empty background only. Say openly that courses show twice: the report says the sample data was loaded once by the SQL script and once by the automatic setup. It is listed as an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screenshots from the report (Section 9.5 and 9.6), trimmed of empty background only. The saved record gets the status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Days 26-27 and Chapter 10 Analysis. Testing was done by hand in the browser and the saved records were checked in MySQL Workbench. Layout problems on small screens were fixed. The report does not mention automated tests (Pytest is listed as future work). Do not claim exact timings.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Section 10.1. The limitations are written by you in the report, so say them with confidence and add that each one is listed under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Chapter 11. The report names training institutes and learning platforms (education and training). The third application, institute staff, comes from the dashboard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Chapter 12 Future Work. The report lists 14 items; these are grouped into 12 cards (environment variables and Pytest share one card, Docker/cloud and mobile apps share one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accent4"/>
          </a:solidFill>
          <a:ln/>
        </p:spPr>
      </p:sp>
      <p:sp>
        <p:nvSpPr>
          <p:cNvPr id="3" name="Text 1"/>
          <p:cNvSpPr/>
          <p:nvPr>
            <p:ph idx="101" type="title" hasCustomPrompt="1"/>
          </p:nvPr>
        </p:nvSpPr>
        <p:spPr>
          <a:xfrm>
            <a:off x="548640" y="777240"/>
            <a:ext cx="5852160" cy="12801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1"/>
          </a:solidFill>
          <a:ln/>
        </p:spPr>
      </p:sp>
      <p:sp>
        <p:nvSpPr>
          <p:cNvPr id="3" name="Text 1"/>
          <p:cNvSpPr/>
          <p:nvPr>
            <p:ph idx="101"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1"/>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chemeClr val="tx2"/>
                </a:solidFill>
              </a:rPr>
              <a:t>Smart Course Enrollment System  |  Janani L (810023205034)</a:t>
            </a:r>
            <a:endParaRPr lang="en-US" sz="10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accent4"/>
          </a:solidFill>
          <a:ln/>
        </p:spPr>
      </p:sp>
      <p:sp>
        <p:nvSpPr>
          <p:cNvPr id="3" name="Text 1"/>
          <p:cNvSpPr/>
          <p:nvPr>
            <p:ph idx="101"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1"/>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chemeClr val="bg2"/>
                </a:solidFill>
              </a:rPr>
              <a:t>Smart Course Enrollment System  |  Janani L (810023205034)</a:t>
            </a:r>
            <a:endParaRPr lang="en-US" sz="10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slideLayout" Target="../slideLayouts/slideLayout3.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777240"/>
            <a:ext cx="5852160" cy="1280160"/>
          </a:xfrm>
          <a:prstGeom prst="rect">
            <a:avLst/>
          </a:prstGeom>
          <a:noFill/>
          <a:ln/>
        </p:spPr>
        <p:txBody>
          <a:bodyPr wrap="square" lIns="0" tIns="0" rIns="0" bIns="0" rtlCol="0" anchor="t"/>
          <a:lstStyle/>
          <a:p>
            <a:pPr algn="l" indent="0" marL="0">
              <a:buNone/>
            </a:pPr>
            <a:r>
              <a:rPr lang="en-US" sz="3800" b="1" dirty="0">
                <a:solidFill>
                  <a:schemeClr val="bg1"/>
                </a:solidFill>
              </a:rPr>
              <a:t>Smart Course Enrollment System</a:t>
            </a:r>
            <a:endParaRPr lang="en-US" sz="3800" dirty="0"/>
          </a:p>
        </p:txBody>
      </p:sp>
      <p:sp>
        <p:nvSpPr>
          <p:cNvPr id="3" name="Text 1"/>
          <p:cNvSpPr txBox="1"/>
          <p:nvPr/>
        </p:nvSpPr>
        <p:spPr>
          <a:xfrm>
            <a:off x="548640" y="411480"/>
            <a:ext cx="5852160" cy="274320"/>
          </a:xfrm>
          <a:prstGeom prst="rect">
            <a:avLst/>
          </a:prstGeom>
          <a:noFill/>
          <a:ln/>
        </p:spPr>
        <p:txBody>
          <a:bodyPr wrap="square" lIns="0" tIns="0" rIns="0" bIns="0" rtlCol="0" anchor="t"/>
          <a:lstStyle/>
          <a:p>
            <a:pPr indent="0" marL="0">
              <a:buNone/>
            </a:pPr>
            <a:r>
              <a:rPr lang="en-US" sz="1300" b="1" spc="200" kern="0" dirty="0">
                <a:solidFill>
                  <a:schemeClr val="accent3"/>
                </a:solidFill>
              </a:rPr>
              <a:t>SUMMER INTERNSHIP PRESENTATION  |  IT3711</a:t>
            </a:r>
            <a:endParaRPr lang="en-US" sz="1300" dirty="0"/>
          </a:p>
        </p:txBody>
      </p:sp>
      <p:sp>
        <p:nvSpPr>
          <p:cNvPr id="4" name="Text 2"/>
          <p:cNvSpPr txBox="1"/>
          <p:nvPr/>
        </p:nvSpPr>
        <p:spPr>
          <a:xfrm>
            <a:off x="548640" y="2103120"/>
            <a:ext cx="5669280" cy="548640"/>
          </a:xfrm>
          <a:prstGeom prst="rect">
            <a:avLst/>
          </a:prstGeom>
          <a:noFill/>
          <a:ln/>
        </p:spPr>
        <p:txBody>
          <a:bodyPr wrap="square" lIns="0" tIns="0" rIns="0" bIns="0" rtlCol="0" anchor="t"/>
          <a:lstStyle/>
          <a:p>
            <a:pPr indent="0" marL="0">
              <a:buNone/>
            </a:pPr>
            <a:r>
              <a:rPr lang="en-US" sz="1800" dirty="0">
                <a:solidFill>
                  <a:schemeClr val="bg2"/>
                </a:solidFill>
              </a:rPr>
              <a:t>A web application to see courses and enroll online</a:t>
            </a:r>
            <a:endParaRPr lang="en-US" sz="1800" dirty="0"/>
          </a:p>
        </p:txBody>
      </p:sp>
      <p:sp>
        <p:nvSpPr>
          <p:cNvPr id="5" name="Text 3"/>
          <p:cNvSpPr txBox="1"/>
          <p:nvPr/>
        </p:nvSpPr>
        <p:spPr>
          <a:xfrm>
            <a:off x="548640" y="2926080"/>
            <a:ext cx="6035040" cy="1828800"/>
          </a:xfrm>
          <a:prstGeom prst="rect">
            <a:avLst/>
          </a:prstGeom>
          <a:noFill/>
          <a:ln/>
        </p:spPr>
        <p:txBody>
          <a:bodyPr wrap="square" lIns="0" tIns="0" rIns="0" bIns="0" rtlCol="0" anchor="t"/>
          <a:lstStyle/>
          <a:p>
            <a:pPr indent="0" marL="0">
              <a:spcAft>
                <a:spcPts val="500"/>
              </a:spcAft>
              <a:buNone/>
            </a:pPr>
            <a:r>
              <a:rPr lang="en-US" sz="2000" b="1" dirty="0">
                <a:solidFill>
                  <a:schemeClr val="bg1"/>
                </a:solidFill>
              </a:rPr>
              <a:t>Janani L  -  810023205034</a:t>
            </a:r>
            <a:endParaRPr lang="en-US" sz="1600" dirty="0"/>
          </a:p>
          <a:p>
            <a:pPr indent="0" marL="0">
              <a:spcAft>
                <a:spcPts val="500"/>
              </a:spcAft>
              <a:buNone/>
            </a:pPr>
            <a:r>
              <a:rPr lang="en-US" sz="1500" dirty="0">
                <a:solidFill>
                  <a:schemeClr val="bg2"/>
                </a:solidFill>
              </a:rPr>
              <a:t>B.Tech Information Technology, 7th Semester, 2025-2026</a:t>
            </a:r>
            <a:endParaRPr lang="en-US" sz="1600" dirty="0"/>
          </a:p>
          <a:p>
            <a:pPr indent="0" marL="0">
              <a:spcAft>
                <a:spcPts val="500"/>
              </a:spcAft>
              <a:buNone/>
            </a:pPr>
            <a:r>
              <a:rPr lang="en-US" sz="1500" dirty="0">
                <a:solidFill>
                  <a:schemeClr val="bg2"/>
                </a:solidFill>
              </a:rPr>
              <a:t>University College of Engineering (BIT Campus), Anna University, Tiruchirappalli</a:t>
            </a:r>
            <a:endParaRPr lang="en-US" sz="1600" dirty="0"/>
          </a:p>
          <a:p>
            <a:pPr indent="0" marL="0">
              <a:spcAft>
                <a:spcPts val="500"/>
              </a:spcAft>
              <a:buNone/>
            </a:pPr>
            <a:r>
              <a:rPr lang="en-US" sz="1500" dirty="0">
                <a:solidFill>
                  <a:schemeClr val="bg2"/>
                </a:solidFill>
              </a:rPr>
              <a:t>Internship: Astonish InfoTech, 01/06/2026 to 30/06/2026</a:t>
            </a:r>
            <a:endParaRPr lang="en-US" sz="1600" dirty="0"/>
          </a:p>
        </p:txBody>
      </p:sp>
      <p:sp>
        <p:nvSpPr>
          <p:cNvPr id="6" name="logo frame"/>
          <p:cNvSpPr/>
          <p:nvPr/>
        </p:nvSpPr>
        <p:spPr>
          <a:xfrm>
            <a:off x="6766560" y="914400"/>
            <a:ext cx="1920240" cy="1920240"/>
          </a:xfrm>
          <a:prstGeom prst="roundRect">
            <a:avLst>
              <a:gd name="adj" fmla="val 4762"/>
            </a:avLst>
          </a:prstGeom>
          <a:solidFill>
            <a:schemeClr val="bg1"/>
          </a:solidFill>
          <a:ln w="12700">
            <a:solidFill>
              <a:schemeClr val="bg1"/>
            </a:solidFill>
            <a:prstDash val="solid"/>
          </a:ln>
        </p:spPr>
      </p:sp>
      <p:pic>
        <p:nvPicPr>
          <p:cNvPr id="7" name="Anna University logo" descr="Anna University logo">    </p:cNvPr>
          <p:cNvPicPr>
            <a:picLocks noChangeAspect="1"/>
          </p:cNvPicPr>
          <p:nvPr/>
        </p:nvPicPr>
        <p:blipFill>
          <a:blip r:embed="rId1"/>
          <a:stretch>
            <a:fillRect/>
          </a:stretch>
        </p:blipFill>
        <p:spPr>
          <a:xfrm>
            <a:off x="6858000" y="1005840"/>
            <a:ext cx="1737360" cy="1737360"/>
          </a:xfrm>
          <a:prstGeom prst="rect">
            <a:avLst/>
          </a:prstGeom>
        </p:spPr>
      </p:pic>
      <p:sp>
        <p:nvSpPr>
          <p:cNvPr id="8" name="Text 5"/>
          <p:cNvSpPr txBox="1"/>
          <p:nvPr/>
        </p:nvSpPr>
        <p:spPr>
          <a:xfrm>
            <a:off x="6766560" y="2971800"/>
            <a:ext cx="1920240" cy="274320"/>
          </a:xfrm>
          <a:prstGeom prst="rect">
            <a:avLst/>
          </a:prstGeom>
          <a:noFill/>
          <a:ln/>
        </p:spPr>
        <p:txBody>
          <a:bodyPr wrap="square" lIns="0" tIns="0" rIns="0" bIns="0" rtlCol="0" anchor="t"/>
          <a:lstStyle/>
          <a:p>
            <a:pPr algn="ctr" indent="0" marL="0">
              <a:buNone/>
            </a:pPr>
            <a:r>
              <a:rPr lang="en-US" sz="1400" i="1" dirty="0">
                <a:solidFill>
                  <a:schemeClr val="bg2"/>
                </a:solidFill>
              </a:rPr>
              <a:t>Anna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Internship and Company</a:t>
            </a:r>
            <a:endParaRPr lang="en-US" sz="3200" dirty="0"/>
          </a:p>
        </p:txBody>
      </p:sp>
      <p:sp>
        <p:nvSpPr>
          <p:cNvPr id="3" name="logo card"/>
          <p:cNvSpPr/>
          <p:nvPr/>
        </p:nvSpPr>
        <p:spPr>
          <a:xfrm>
            <a:off x="457200" y="1143000"/>
            <a:ext cx="4480560" cy="1188720"/>
          </a:xfrm>
          <a:prstGeom prst="roundRect">
            <a:avLst>
              <a:gd name="adj" fmla="val 7692"/>
            </a:avLst>
          </a:prstGeom>
          <a:solidFill>
            <a:schemeClr val="accent4"/>
          </a:solidFill>
          <a:ln w="12700">
            <a:solidFill>
              <a:schemeClr val="accent4"/>
            </a:solidFill>
            <a:prstDash val="solid"/>
          </a:ln>
        </p:spPr>
      </p:sp>
      <p:pic>
        <p:nvPicPr>
          <p:cNvPr id="4" name="Astonish InfoTech logo" descr="Astonish InfoTech logo">    </p:cNvPr>
          <p:cNvPicPr>
            <a:picLocks noChangeAspect="1"/>
          </p:cNvPicPr>
          <p:nvPr/>
        </p:nvPicPr>
        <p:blipFill>
          <a:blip r:embed="rId1"/>
          <a:stretch>
            <a:fillRect/>
          </a:stretch>
        </p:blipFill>
        <p:spPr>
          <a:xfrm>
            <a:off x="1097280" y="1252728"/>
            <a:ext cx="3200400" cy="1032387"/>
          </a:xfrm>
          <a:prstGeom prst="rect">
            <a:avLst/>
          </a:prstGeom>
        </p:spPr>
      </p:pic>
      <p:sp>
        <p:nvSpPr>
          <p:cNvPr id="5" name="Text 2"/>
          <p:cNvSpPr txBox="1"/>
          <p:nvPr/>
        </p:nvSpPr>
        <p:spPr>
          <a:xfrm>
            <a:off x="457200" y="2514600"/>
            <a:ext cx="4480560" cy="2194560"/>
          </a:xfrm>
          <a:prstGeom prst="rect">
            <a:avLst/>
          </a:prstGeom>
          <a:noFill/>
          <a:ln/>
        </p:spPr>
        <p:txBody>
          <a:bodyPr wrap="square" lIns="0" tIns="0" rIns="0" bIns="0" rtlCol="0" anchor="t"/>
          <a:lstStyle/>
          <a:p>
            <a:pPr indent="0" marL="0">
              <a:spcAft>
                <a:spcPts val="500"/>
              </a:spcAft>
              <a:buNone/>
            </a:pPr>
            <a:r>
              <a:rPr lang="en-US" sz="1500" b="1" dirty="0">
                <a:solidFill>
                  <a:schemeClr val="accent5"/>
                </a:solidFill>
              </a:rPr>
              <a:t>Company: </a:t>
            </a:r>
            <a:pPr indent="0" marL="0">
              <a:spcAft>
                <a:spcPts val="500"/>
              </a:spcAft>
              <a:buNone/>
            </a:pPr>
            <a:r>
              <a:rPr lang="en-US" sz="1500" dirty="0">
                <a:solidFill>
                  <a:schemeClr val="tx1"/>
                </a:solidFill>
              </a:rPr>
              <a:t>Astonish InfoTech Private Limited</a:t>
            </a:r>
            <a:endParaRPr lang="en-US" sz="1500" dirty="0"/>
          </a:p>
          <a:p>
            <a:pPr indent="0" marL="0">
              <a:spcAft>
                <a:spcPts val="500"/>
              </a:spcAft>
              <a:buNone/>
            </a:pPr>
            <a:r>
              <a:rPr lang="en-US" sz="1500" b="1" dirty="0">
                <a:solidFill>
                  <a:schemeClr val="accent5"/>
                </a:solidFill>
              </a:rPr>
              <a:t>Place: </a:t>
            </a:r>
            <a:pPr indent="0" marL="0">
              <a:spcAft>
                <a:spcPts val="500"/>
              </a:spcAft>
              <a:buNone/>
            </a:pPr>
            <a:r>
              <a:rPr lang="en-US" sz="1500" dirty="0">
                <a:solidFill>
                  <a:schemeClr val="tx1"/>
                </a:solidFill>
              </a:rPr>
              <a:t>Tiruchirappalli (Trichy), Tamil Nadu</a:t>
            </a:r>
            <a:endParaRPr lang="en-US" sz="1500" dirty="0"/>
          </a:p>
          <a:p>
            <a:pPr indent="0" marL="0">
              <a:spcAft>
                <a:spcPts val="500"/>
              </a:spcAft>
              <a:buNone/>
            </a:pPr>
            <a:r>
              <a:rPr lang="en-US" sz="1500" b="1" dirty="0">
                <a:solidFill>
                  <a:schemeClr val="accent5"/>
                </a:solidFill>
              </a:rPr>
              <a:t>Work: </a:t>
            </a:r>
            <a:pPr indent="0" marL="0">
              <a:spcAft>
                <a:spcPts val="500"/>
              </a:spcAft>
              <a:buNone/>
            </a:pPr>
            <a:r>
              <a:rPr lang="en-US" sz="1500" dirty="0">
                <a:solidFill>
                  <a:schemeClr val="tx1"/>
                </a:solidFill>
              </a:rPr>
              <a:t>Websites, software, mobile apps, ERP and CRM</a:t>
            </a:r>
            <a:endParaRPr lang="en-US" sz="1500" dirty="0"/>
          </a:p>
          <a:p>
            <a:pPr indent="0" marL="0">
              <a:spcAft>
                <a:spcPts val="500"/>
              </a:spcAft>
              <a:buNone/>
            </a:pPr>
            <a:r>
              <a:rPr lang="en-US" sz="1500" b="1" dirty="0">
                <a:solidFill>
                  <a:schemeClr val="accent5"/>
                </a:solidFill>
              </a:rPr>
              <a:t>Internship: </a:t>
            </a:r>
            <a:pPr indent="0" marL="0">
              <a:spcAft>
                <a:spcPts val="500"/>
              </a:spcAft>
              <a:buNone/>
            </a:pPr>
            <a:r>
              <a:rPr lang="en-US" sz="1500" dirty="0">
                <a:solidFill>
                  <a:schemeClr val="tx1"/>
                </a:solidFill>
              </a:rPr>
              <a:t>01/06/2026 to 30/06/2026</a:t>
            </a:r>
            <a:endParaRPr lang="en-US" sz="1500" dirty="0"/>
          </a:p>
          <a:p>
            <a:pPr indent="0" marL="0">
              <a:spcAft>
                <a:spcPts val="500"/>
              </a:spcAft>
              <a:buNone/>
            </a:pPr>
            <a:r>
              <a:rPr lang="en-US" sz="1500" b="1" dirty="0">
                <a:solidFill>
                  <a:schemeClr val="accent5"/>
                </a:solidFill>
              </a:rPr>
              <a:t>Project: </a:t>
            </a:r>
            <a:pPr indent="0" marL="0">
              <a:spcAft>
                <a:spcPts val="500"/>
              </a:spcAft>
              <a:buNone/>
            </a:pPr>
            <a:r>
              <a:rPr lang="en-US" sz="1500" dirty="0">
                <a:solidFill>
                  <a:schemeClr val="tx1"/>
                </a:solidFill>
              </a:rPr>
              <a:t>Smart Course Enrollment System (Python Full Stack)</a:t>
            </a:r>
            <a:endParaRPr lang="en-US" sz="1500" dirty="0"/>
          </a:p>
        </p:txBody>
      </p:sp>
      <p:sp>
        <p:nvSpPr>
          <p:cNvPr id="6" name="what i did card"/>
          <p:cNvSpPr/>
          <p:nvPr/>
        </p:nvSpPr>
        <p:spPr>
          <a:xfrm>
            <a:off x="5120640" y="1143000"/>
            <a:ext cx="3566160" cy="3474720"/>
          </a:xfrm>
          <a:prstGeom prst="roundRect">
            <a:avLst>
              <a:gd name="adj" fmla="val 2632"/>
            </a:avLst>
          </a:prstGeom>
          <a:solidFill>
            <a:schemeClr val="bg2"/>
          </a:solidFill>
          <a:ln w="12700">
            <a:solidFill>
              <a:schemeClr val="bg2"/>
            </a:solidFill>
            <a:prstDash val="solid"/>
          </a:ln>
        </p:spPr>
      </p:sp>
      <p:sp>
        <p:nvSpPr>
          <p:cNvPr id="7" name="Text 4"/>
          <p:cNvSpPr txBox="1"/>
          <p:nvPr/>
        </p:nvSpPr>
        <p:spPr>
          <a:xfrm>
            <a:off x="5303520" y="1261872"/>
            <a:ext cx="3200400" cy="365760"/>
          </a:xfrm>
          <a:prstGeom prst="rect">
            <a:avLst/>
          </a:prstGeom>
          <a:noFill/>
          <a:ln/>
        </p:spPr>
        <p:txBody>
          <a:bodyPr wrap="square" lIns="0" tIns="0" rIns="0" bIns="0" rtlCol="0" anchor="t"/>
          <a:lstStyle/>
          <a:p>
            <a:pPr indent="0" marL="0">
              <a:buNone/>
            </a:pPr>
            <a:r>
              <a:rPr lang="en-US" sz="2000" b="1" dirty="0">
                <a:solidFill>
                  <a:schemeClr val="accent5"/>
                </a:solidFill>
              </a:rPr>
              <a:t>What I did</a:t>
            </a:r>
            <a:endParaRPr lang="en-US" sz="2000" dirty="0"/>
          </a:p>
        </p:txBody>
      </p:sp>
      <p:sp>
        <p:nvSpPr>
          <p:cNvPr id="8" name="icon circle FaDesktop"/>
          <p:cNvSpPr/>
          <p:nvPr/>
        </p:nvSpPr>
        <p:spPr>
          <a:xfrm>
            <a:off x="5303520" y="1819656"/>
            <a:ext cx="457200" cy="457200"/>
          </a:xfrm>
          <a:prstGeom prst="ellipse">
            <a:avLst/>
          </a:prstGeom>
          <a:solidFill>
            <a:schemeClr val="accent1"/>
          </a:solidFill>
          <a:ln w="12700">
            <a:solidFill>
              <a:schemeClr val="accent1"/>
            </a:solidFill>
            <a:prstDash val="solid"/>
          </a:ln>
        </p:spPr>
      </p:sp>
      <p:pic>
        <p:nvPicPr>
          <p:cNvPr id="9" name="icon FaDesktop" descr="FaDesktop">    </p:cNvPr>
          <p:cNvPicPr>
            <a:picLocks noChangeAspect="1"/>
          </p:cNvPicPr>
          <p:nvPr/>
        </p:nvPicPr>
        <p:blipFill>
          <a:blip r:embed="rId2"/>
          <a:stretch>
            <a:fillRect/>
          </a:stretch>
        </p:blipFill>
        <p:spPr>
          <a:xfrm>
            <a:off x="5422392" y="1938528"/>
            <a:ext cx="219456" cy="219456"/>
          </a:xfrm>
          <a:prstGeom prst="rect">
            <a:avLst/>
          </a:prstGeom>
        </p:spPr>
      </p:pic>
      <p:sp>
        <p:nvSpPr>
          <p:cNvPr id="10" name="Text 6"/>
          <p:cNvSpPr txBox="1"/>
          <p:nvPr/>
        </p:nvSpPr>
        <p:spPr>
          <a:xfrm>
            <a:off x="5897880" y="1783080"/>
            <a:ext cx="2697480" cy="566928"/>
          </a:xfrm>
          <a:prstGeom prst="rect">
            <a:avLst/>
          </a:prstGeom>
          <a:noFill/>
          <a:ln/>
        </p:spPr>
        <p:txBody>
          <a:bodyPr wrap="square" lIns="0" tIns="0" rIns="0" bIns="0" rtlCol="0" anchor="ctr"/>
          <a:lstStyle/>
          <a:p>
            <a:pPr indent="0" marL="0">
              <a:buNone/>
            </a:pPr>
            <a:r>
              <a:rPr lang="en-US" sz="1500" dirty="0">
                <a:solidFill>
                  <a:schemeClr val="tx1"/>
                </a:solidFill>
              </a:rPr>
              <a:t>Made the web pages with HTML, CSS and JavaScript</a:t>
            </a:r>
            <a:endParaRPr lang="en-US" sz="1500" dirty="0"/>
          </a:p>
        </p:txBody>
      </p:sp>
      <p:sp>
        <p:nvSpPr>
          <p:cNvPr id="11" name="icon circle FaServer"/>
          <p:cNvSpPr/>
          <p:nvPr/>
        </p:nvSpPr>
        <p:spPr>
          <a:xfrm>
            <a:off x="5303520" y="2523744"/>
            <a:ext cx="457200" cy="457200"/>
          </a:xfrm>
          <a:prstGeom prst="ellipse">
            <a:avLst/>
          </a:prstGeom>
          <a:solidFill>
            <a:schemeClr val="accent1"/>
          </a:solidFill>
          <a:ln w="12700">
            <a:solidFill>
              <a:schemeClr val="accent1"/>
            </a:solidFill>
            <a:prstDash val="solid"/>
          </a:ln>
        </p:spPr>
      </p:sp>
      <p:pic>
        <p:nvPicPr>
          <p:cNvPr id="12" name="icon FaServer" descr="FaServer">    </p:cNvPr>
          <p:cNvPicPr>
            <a:picLocks noChangeAspect="1"/>
          </p:cNvPicPr>
          <p:nvPr/>
        </p:nvPicPr>
        <p:blipFill>
          <a:blip r:embed="rId3"/>
          <a:stretch>
            <a:fillRect/>
          </a:stretch>
        </p:blipFill>
        <p:spPr>
          <a:xfrm>
            <a:off x="5422392" y="2642616"/>
            <a:ext cx="219456" cy="219456"/>
          </a:xfrm>
          <a:prstGeom prst="rect">
            <a:avLst/>
          </a:prstGeom>
        </p:spPr>
      </p:pic>
      <p:sp>
        <p:nvSpPr>
          <p:cNvPr id="13" name="Text 8"/>
          <p:cNvSpPr txBox="1"/>
          <p:nvPr/>
        </p:nvSpPr>
        <p:spPr>
          <a:xfrm>
            <a:off x="5897880" y="2487168"/>
            <a:ext cx="2697480" cy="566928"/>
          </a:xfrm>
          <a:prstGeom prst="rect">
            <a:avLst/>
          </a:prstGeom>
          <a:noFill/>
          <a:ln/>
        </p:spPr>
        <p:txBody>
          <a:bodyPr wrap="square" lIns="0" tIns="0" rIns="0" bIns="0" rtlCol="0" anchor="ctr"/>
          <a:lstStyle/>
          <a:p>
            <a:pPr indent="0" marL="0">
              <a:buNone/>
            </a:pPr>
            <a:r>
              <a:rPr lang="en-US" sz="1500" dirty="0">
                <a:solidFill>
                  <a:schemeClr val="tx1"/>
                </a:solidFill>
              </a:rPr>
              <a:t>Wrote the backend with Python and FastAPI</a:t>
            </a:r>
            <a:endParaRPr lang="en-US" sz="1500" dirty="0"/>
          </a:p>
        </p:txBody>
      </p:sp>
      <p:sp>
        <p:nvSpPr>
          <p:cNvPr id="14" name="icon circle FaDatabase"/>
          <p:cNvSpPr/>
          <p:nvPr/>
        </p:nvSpPr>
        <p:spPr>
          <a:xfrm>
            <a:off x="5303520" y="3227832"/>
            <a:ext cx="457200" cy="457200"/>
          </a:xfrm>
          <a:prstGeom prst="ellipse">
            <a:avLst/>
          </a:prstGeom>
          <a:solidFill>
            <a:schemeClr val="accent1"/>
          </a:solidFill>
          <a:ln w="12700">
            <a:solidFill>
              <a:schemeClr val="accent1"/>
            </a:solidFill>
            <a:prstDash val="solid"/>
          </a:ln>
        </p:spPr>
      </p:sp>
      <p:pic>
        <p:nvPicPr>
          <p:cNvPr id="15" name="icon FaDatabase" descr="FaDatabase">    </p:cNvPr>
          <p:cNvPicPr>
            <a:picLocks noChangeAspect="1"/>
          </p:cNvPicPr>
          <p:nvPr/>
        </p:nvPicPr>
        <p:blipFill>
          <a:blip r:embed="rId4"/>
          <a:stretch>
            <a:fillRect/>
          </a:stretch>
        </p:blipFill>
        <p:spPr>
          <a:xfrm>
            <a:off x="5422392" y="3346704"/>
            <a:ext cx="219456" cy="219456"/>
          </a:xfrm>
          <a:prstGeom prst="rect">
            <a:avLst/>
          </a:prstGeom>
        </p:spPr>
      </p:pic>
      <p:sp>
        <p:nvSpPr>
          <p:cNvPr id="16" name="Text 10"/>
          <p:cNvSpPr txBox="1"/>
          <p:nvPr/>
        </p:nvSpPr>
        <p:spPr>
          <a:xfrm>
            <a:off x="5897880" y="3191256"/>
            <a:ext cx="2697480" cy="566928"/>
          </a:xfrm>
          <a:prstGeom prst="rect">
            <a:avLst/>
          </a:prstGeom>
          <a:noFill/>
          <a:ln/>
        </p:spPr>
        <p:txBody>
          <a:bodyPr wrap="square" lIns="0" tIns="0" rIns="0" bIns="0" rtlCol="0" anchor="ctr"/>
          <a:lstStyle/>
          <a:p>
            <a:pPr indent="0" marL="0">
              <a:buNone/>
            </a:pPr>
            <a:r>
              <a:rPr lang="en-US" sz="1500" dirty="0">
                <a:solidFill>
                  <a:schemeClr val="tx1"/>
                </a:solidFill>
              </a:rPr>
              <a:t>Connected the MySQL database</a:t>
            </a:r>
            <a:endParaRPr lang="en-US" sz="1500" dirty="0"/>
          </a:p>
        </p:txBody>
      </p:sp>
      <p:sp>
        <p:nvSpPr>
          <p:cNvPr id="17" name="icon circle FaCheckCircle"/>
          <p:cNvSpPr/>
          <p:nvPr/>
        </p:nvSpPr>
        <p:spPr>
          <a:xfrm>
            <a:off x="5303520" y="3931920"/>
            <a:ext cx="457200" cy="457200"/>
          </a:xfrm>
          <a:prstGeom prst="ellipse">
            <a:avLst/>
          </a:prstGeom>
          <a:solidFill>
            <a:schemeClr val="accent1"/>
          </a:solidFill>
          <a:ln w="12700">
            <a:solidFill>
              <a:schemeClr val="accent1"/>
            </a:solidFill>
            <a:prstDash val="solid"/>
          </a:ln>
        </p:spPr>
      </p:sp>
      <p:pic>
        <p:nvPicPr>
          <p:cNvPr id="18" name="icon FaCheckCircle" descr="FaCheckCircle">    </p:cNvPr>
          <p:cNvPicPr>
            <a:picLocks noChangeAspect="1"/>
          </p:cNvPicPr>
          <p:nvPr/>
        </p:nvPicPr>
        <p:blipFill>
          <a:blip r:embed="rId5"/>
          <a:stretch>
            <a:fillRect/>
          </a:stretch>
        </p:blipFill>
        <p:spPr>
          <a:xfrm>
            <a:off x="5422392" y="4050792"/>
            <a:ext cx="219456" cy="219456"/>
          </a:xfrm>
          <a:prstGeom prst="rect">
            <a:avLst/>
          </a:prstGeom>
        </p:spPr>
      </p:pic>
      <p:sp>
        <p:nvSpPr>
          <p:cNvPr id="19" name="Text 12"/>
          <p:cNvSpPr txBox="1"/>
          <p:nvPr/>
        </p:nvSpPr>
        <p:spPr>
          <a:xfrm>
            <a:off x="5897880" y="3895344"/>
            <a:ext cx="2697480" cy="566928"/>
          </a:xfrm>
          <a:prstGeom prst="rect">
            <a:avLst/>
          </a:prstGeom>
          <a:noFill/>
          <a:ln/>
        </p:spPr>
        <p:txBody>
          <a:bodyPr wrap="square" lIns="0" tIns="0" rIns="0" bIns="0" rtlCol="0" anchor="ctr"/>
          <a:lstStyle/>
          <a:p>
            <a:pPr indent="0" marL="0">
              <a:buNone/>
            </a:pPr>
            <a:r>
              <a:rPr lang="en-US" sz="1500" dirty="0">
                <a:solidFill>
                  <a:schemeClr val="tx1"/>
                </a:solidFill>
              </a:rPr>
              <a:t>Tested the application</a:t>
            </a:r>
            <a:endParaRPr lang="en-US" sz="15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Abstract and Introduction</a:t>
            </a:r>
            <a:endParaRPr lang="en-US" sz="3200" dirty="0"/>
          </a:p>
        </p:txBody>
      </p:sp>
      <p:sp>
        <p:nvSpPr>
          <p:cNvPr id="3" name="abstract card"/>
          <p:cNvSpPr/>
          <p:nvPr/>
        </p:nvSpPr>
        <p:spPr>
          <a:xfrm>
            <a:off x="457200" y="1143000"/>
            <a:ext cx="4023360" cy="3474720"/>
          </a:xfrm>
          <a:prstGeom prst="roundRect">
            <a:avLst>
              <a:gd name="adj" fmla="val 2632"/>
            </a:avLst>
          </a:prstGeom>
          <a:solidFill>
            <a:schemeClr val="bg2"/>
          </a:solidFill>
          <a:ln w="12700">
            <a:solidFill>
              <a:schemeClr val="bg2"/>
            </a:solidFill>
            <a:prstDash val="solid"/>
          </a:ln>
        </p:spPr>
      </p:sp>
      <p:sp>
        <p:nvSpPr>
          <p:cNvPr id="4" name="Text 2"/>
          <p:cNvSpPr txBox="1"/>
          <p:nvPr/>
        </p:nvSpPr>
        <p:spPr>
          <a:xfrm>
            <a:off x="640080" y="1261872"/>
            <a:ext cx="3657600" cy="365760"/>
          </a:xfrm>
          <a:prstGeom prst="rect">
            <a:avLst/>
          </a:prstGeom>
          <a:noFill/>
          <a:ln/>
        </p:spPr>
        <p:txBody>
          <a:bodyPr wrap="square" lIns="0" tIns="0" rIns="0" bIns="0" rtlCol="0" anchor="t"/>
          <a:lstStyle/>
          <a:p>
            <a:pPr indent="0" marL="0">
              <a:buNone/>
            </a:pPr>
            <a:r>
              <a:rPr lang="en-US" sz="2000" b="1" dirty="0">
                <a:solidFill>
                  <a:schemeClr val="accent5"/>
                </a:solidFill>
              </a:rPr>
              <a:t>Abstract</a:t>
            </a:r>
            <a:endParaRPr lang="en-US" sz="2000" dirty="0"/>
          </a:p>
        </p:txBody>
      </p:sp>
      <p:sp>
        <p:nvSpPr>
          <p:cNvPr id="5" name="Text 3"/>
          <p:cNvSpPr txBox="1"/>
          <p:nvPr/>
        </p:nvSpPr>
        <p:spPr>
          <a:xfrm>
            <a:off x="640080" y="1737360"/>
            <a:ext cx="3657600" cy="27889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A web app for course registration</a:t>
            </a:r>
            <a:endParaRPr lang="en-US" sz="1800" dirty="0"/>
          </a:p>
          <a:p>
            <a:pPr marL="342900" indent="-342900">
              <a:spcAft>
                <a:spcPts val="800"/>
              </a:spcAft>
              <a:buSzPct val="100000"/>
              <a:buChar char="•"/>
            </a:pPr>
            <a:r>
              <a:rPr lang="en-US" sz="1800" dirty="0">
                <a:solidFill>
                  <a:schemeClr val="tx1"/>
                </a:solidFill>
              </a:rPr>
              <a:t>Learners see categories and courses, filter them and enroll online</a:t>
            </a:r>
            <a:endParaRPr lang="en-US" sz="1800" dirty="0"/>
          </a:p>
          <a:p>
            <a:pPr marL="342900" indent="-342900">
              <a:spcAft>
                <a:spcPts val="800"/>
              </a:spcAft>
              <a:buSzPct val="100000"/>
              <a:buChar char="•"/>
            </a:pPr>
            <a:r>
              <a:rPr lang="en-US" sz="1800" dirty="0">
                <a:solidFill>
                  <a:schemeClr val="tx1"/>
                </a:solidFill>
              </a:rPr>
              <a:t>It has a login page and a staff dashboard</a:t>
            </a:r>
            <a:endParaRPr lang="en-US" sz="1800" dirty="0"/>
          </a:p>
          <a:p>
            <a:pPr marL="342900" indent="-342900">
              <a:spcAft>
                <a:spcPts val="800"/>
              </a:spcAft>
              <a:buSzPct val="100000"/>
              <a:buChar char="•"/>
            </a:pPr>
            <a:r>
              <a:rPr lang="en-US" sz="1800" dirty="0">
                <a:solidFill>
                  <a:schemeClr val="tx1"/>
                </a:solidFill>
              </a:rPr>
              <a:t>Built with Python (FastAPI), HTML, CSS, JavaScript and MySQL</a:t>
            </a:r>
            <a:endParaRPr lang="en-US" sz="1800" dirty="0"/>
          </a:p>
        </p:txBody>
      </p:sp>
      <p:sp>
        <p:nvSpPr>
          <p:cNvPr id="6" name="introduction card"/>
          <p:cNvSpPr/>
          <p:nvPr/>
        </p:nvSpPr>
        <p:spPr>
          <a:xfrm>
            <a:off x="4663440" y="1143000"/>
            <a:ext cx="4023360" cy="3474720"/>
          </a:xfrm>
          <a:prstGeom prst="roundRect">
            <a:avLst>
              <a:gd name="adj" fmla="val 2632"/>
            </a:avLst>
          </a:prstGeom>
          <a:solidFill>
            <a:schemeClr val="bg2"/>
          </a:solidFill>
          <a:ln w="12700">
            <a:solidFill>
              <a:schemeClr val="bg2"/>
            </a:solidFill>
            <a:prstDash val="solid"/>
          </a:ln>
        </p:spPr>
      </p:sp>
      <p:sp>
        <p:nvSpPr>
          <p:cNvPr id="7" name="Text 5"/>
          <p:cNvSpPr txBox="1"/>
          <p:nvPr/>
        </p:nvSpPr>
        <p:spPr>
          <a:xfrm>
            <a:off x="4846320" y="1261872"/>
            <a:ext cx="3657600" cy="365760"/>
          </a:xfrm>
          <a:prstGeom prst="rect">
            <a:avLst/>
          </a:prstGeom>
          <a:noFill/>
          <a:ln/>
        </p:spPr>
        <p:txBody>
          <a:bodyPr wrap="square" lIns="0" tIns="0" rIns="0" bIns="0" rtlCol="0" anchor="t"/>
          <a:lstStyle/>
          <a:p>
            <a:pPr indent="0" marL="0">
              <a:buNone/>
            </a:pPr>
            <a:r>
              <a:rPr lang="en-US" sz="2000" b="1" dirty="0">
                <a:solidFill>
                  <a:schemeClr val="accent5"/>
                </a:solidFill>
              </a:rPr>
              <a:t>Introduction</a:t>
            </a:r>
            <a:endParaRPr lang="en-US" sz="2000" dirty="0"/>
          </a:p>
        </p:txBody>
      </p:sp>
      <p:sp>
        <p:nvSpPr>
          <p:cNvPr id="8" name="Text 6"/>
          <p:cNvSpPr txBox="1"/>
          <p:nvPr/>
        </p:nvSpPr>
        <p:spPr>
          <a:xfrm>
            <a:off x="4846320" y="1737360"/>
            <a:ext cx="3657600" cy="27889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Paper forms and spreadsheets are slow and cause mistakes</a:t>
            </a:r>
            <a:endParaRPr lang="en-US" sz="1800" dirty="0"/>
          </a:p>
          <a:p>
            <a:pPr marL="342900" indent="-342900">
              <a:spcAft>
                <a:spcPts val="800"/>
              </a:spcAft>
              <a:buSzPct val="100000"/>
              <a:buChar char="•"/>
            </a:pPr>
            <a:r>
              <a:rPr lang="en-US" sz="1800" dirty="0">
                <a:solidFill>
                  <a:schemeClr val="tx1"/>
                </a:solidFill>
              </a:rPr>
              <a:t>This project puts enrollment online</a:t>
            </a:r>
            <a:endParaRPr lang="en-US" sz="1800" dirty="0"/>
          </a:p>
          <a:p>
            <a:pPr marL="342900" indent="-342900">
              <a:spcAft>
                <a:spcPts val="800"/>
              </a:spcAft>
              <a:buSzPct val="100000"/>
              <a:buChar char="•"/>
            </a:pPr>
            <a:r>
              <a:rPr lang="en-US" sz="1800" dirty="0">
                <a:solidFill>
                  <a:schemeClr val="tx1"/>
                </a:solidFill>
              </a:rPr>
              <a:t>Learners can use a phone or a laptop</a:t>
            </a:r>
            <a:endParaRPr lang="en-US" sz="1800" dirty="0"/>
          </a:p>
          <a:p>
            <a:pPr marL="342900" indent="-342900">
              <a:spcAft>
                <a:spcPts val="800"/>
              </a:spcAft>
              <a:buSzPct val="100000"/>
              <a:buChar char="•"/>
            </a:pPr>
            <a:r>
              <a:rPr lang="en-US" sz="1800" dirty="0">
                <a:solidFill>
                  <a:schemeClr val="tx1"/>
                </a:solidFill>
              </a:rPr>
              <a:t>It follows a three-layer design: browser, backend, database</a:t>
            </a:r>
            <a:endParaRPr lang="en-US" sz="18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Problem Statement</a:t>
            </a:r>
            <a:endParaRPr lang="en-US" sz="3200" dirty="0"/>
          </a:p>
        </p:txBody>
      </p:sp>
      <p:sp>
        <p:nvSpPr>
          <p:cNvPr id="3" name="problem banner"/>
          <p:cNvSpPr/>
          <p:nvPr/>
        </p:nvSpPr>
        <p:spPr>
          <a:xfrm>
            <a:off x="457200" y="1097280"/>
            <a:ext cx="8229600" cy="502920"/>
          </a:xfrm>
          <a:prstGeom prst="roundRect">
            <a:avLst>
              <a:gd name="adj" fmla="val 18182"/>
            </a:avLst>
          </a:prstGeom>
          <a:solidFill>
            <a:schemeClr val="accent5"/>
          </a:solidFill>
          <a:ln w="12700">
            <a:solidFill>
              <a:schemeClr val="accent5"/>
            </a:solidFill>
            <a:prstDash val="solid"/>
          </a:ln>
        </p:spPr>
      </p:sp>
      <p:sp>
        <p:nvSpPr>
          <p:cNvPr id="4" name="Text 2"/>
          <p:cNvSpPr txBox="1"/>
          <p:nvPr/>
        </p:nvSpPr>
        <p:spPr>
          <a:xfrm>
            <a:off x="640080" y="1097280"/>
            <a:ext cx="7863840" cy="502920"/>
          </a:xfrm>
          <a:prstGeom prst="rect">
            <a:avLst/>
          </a:prstGeom>
          <a:noFill/>
          <a:ln/>
        </p:spPr>
        <p:txBody>
          <a:bodyPr wrap="square" lIns="0" tIns="0" rIns="0" bIns="0" rtlCol="0" anchor="ctr"/>
          <a:lstStyle/>
          <a:p>
            <a:pPr indent="0" marL="0">
              <a:buNone/>
            </a:pPr>
            <a:r>
              <a:rPr lang="en-US" sz="1800" b="1" dirty="0">
                <a:solidFill>
                  <a:schemeClr val="bg1"/>
                </a:solidFill>
              </a:rPr>
              <a:t>Manual enrollment is slow, has mistakes and is hard to track</a:t>
            </a:r>
            <a:endParaRPr lang="en-US" sz="1800" dirty="0"/>
          </a:p>
        </p:txBody>
      </p:sp>
      <p:sp>
        <p:nvSpPr>
          <p:cNvPr id="5" name="problem row 1"/>
          <p:cNvSpPr/>
          <p:nvPr/>
        </p:nvSpPr>
        <p:spPr>
          <a:xfrm>
            <a:off x="457200" y="1783080"/>
            <a:ext cx="4023360" cy="658368"/>
          </a:xfrm>
          <a:prstGeom prst="roundRect">
            <a:avLst>
              <a:gd name="adj" fmla="val 13889"/>
            </a:avLst>
          </a:prstGeom>
          <a:solidFill>
            <a:schemeClr val="bg2"/>
          </a:solidFill>
          <a:ln w="12700">
            <a:solidFill>
              <a:schemeClr val="bg2"/>
            </a:solidFill>
            <a:prstDash val="solid"/>
          </a:ln>
        </p:spPr>
      </p:sp>
      <p:sp>
        <p:nvSpPr>
          <p:cNvPr id="6" name="icon circle FaPenFancy"/>
          <p:cNvSpPr/>
          <p:nvPr/>
        </p:nvSpPr>
        <p:spPr>
          <a:xfrm>
            <a:off x="566928" y="1892808"/>
            <a:ext cx="438912" cy="438912"/>
          </a:xfrm>
          <a:prstGeom prst="ellipse">
            <a:avLst/>
          </a:prstGeom>
          <a:solidFill>
            <a:schemeClr val="accent2"/>
          </a:solidFill>
          <a:ln w="12700">
            <a:solidFill>
              <a:schemeClr val="accent2"/>
            </a:solidFill>
            <a:prstDash val="solid"/>
          </a:ln>
        </p:spPr>
      </p:sp>
      <p:pic>
        <p:nvPicPr>
          <p:cNvPr id="7" name="icon FaPenFancy" descr="FaPenFancy">    </p:cNvPr>
          <p:cNvPicPr>
            <a:picLocks noChangeAspect="1"/>
          </p:cNvPicPr>
          <p:nvPr/>
        </p:nvPicPr>
        <p:blipFill>
          <a:blip r:embed="rId1"/>
          <a:stretch>
            <a:fillRect/>
          </a:stretch>
        </p:blipFill>
        <p:spPr>
          <a:xfrm>
            <a:off x="681045" y="2006925"/>
            <a:ext cx="210678" cy="210678"/>
          </a:xfrm>
          <a:prstGeom prst="rect">
            <a:avLst/>
          </a:prstGeom>
        </p:spPr>
      </p:pic>
      <p:sp>
        <p:nvSpPr>
          <p:cNvPr id="8" name="Text 5"/>
          <p:cNvSpPr txBox="1"/>
          <p:nvPr/>
        </p:nvSpPr>
        <p:spPr>
          <a:xfrm>
            <a:off x="1143000" y="1837944"/>
            <a:ext cx="3246120" cy="274320"/>
          </a:xfrm>
          <a:prstGeom prst="rect">
            <a:avLst/>
          </a:prstGeom>
          <a:noFill/>
          <a:ln/>
        </p:spPr>
        <p:txBody>
          <a:bodyPr wrap="square" lIns="0" tIns="0" rIns="0" bIns="0" rtlCol="0" anchor="t"/>
          <a:lstStyle/>
          <a:p>
            <a:pPr indent="0" marL="0">
              <a:buNone/>
            </a:pPr>
            <a:r>
              <a:rPr lang="en-US" sz="1600" b="1" dirty="0">
                <a:solidFill>
                  <a:schemeClr val="tx1"/>
                </a:solidFill>
              </a:rPr>
              <a:t>Manual enrollment</a:t>
            </a:r>
            <a:endParaRPr lang="en-US" sz="1600" dirty="0"/>
          </a:p>
        </p:txBody>
      </p:sp>
      <p:sp>
        <p:nvSpPr>
          <p:cNvPr id="9" name="Text 6"/>
          <p:cNvSpPr txBox="1"/>
          <p:nvPr/>
        </p:nvSpPr>
        <p:spPr>
          <a:xfrm>
            <a:off x="1143000" y="2121408"/>
            <a:ext cx="3246120" cy="274320"/>
          </a:xfrm>
          <a:prstGeom prst="rect">
            <a:avLst/>
          </a:prstGeom>
          <a:noFill/>
          <a:ln/>
        </p:spPr>
        <p:txBody>
          <a:bodyPr wrap="square" lIns="0" tIns="0" rIns="0" bIns="0" rtlCol="0" anchor="t"/>
          <a:lstStyle/>
          <a:p>
            <a:pPr indent="0" marL="0">
              <a:buNone/>
            </a:pPr>
            <a:r>
              <a:rPr lang="en-US" sz="1400" dirty="0">
                <a:solidFill>
                  <a:schemeClr val="tx2"/>
                </a:solidFill>
              </a:rPr>
              <a:t>Staff type paper forms again</a:t>
            </a:r>
            <a:endParaRPr lang="en-US" sz="1400" dirty="0"/>
          </a:p>
        </p:txBody>
      </p:sp>
      <p:sp>
        <p:nvSpPr>
          <p:cNvPr id="10" name="problem row 2"/>
          <p:cNvSpPr/>
          <p:nvPr/>
        </p:nvSpPr>
        <p:spPr>
          <a:xfrm>
            <a:off x="457200" y="2514600"/>
            <a:ext cx="4023360" cy="658368"/>
          </a:xfrm>
          <a:prstGeom prst="roundRect">
            <a:avLst>
              <a:gd name="adj" fmla="val 13889"/>
            </a:avLst>
          </a:prstGeom>
          <a:solidFill>
            <a:schemeClr val="bg2"/>
          </a:solidFill>
          <a:ln w="12700">
            <a:solidFill>
              <a:schemeClr val="bg2"/>
            </a:solidFill>
            <a:prstDash val="solid"/>
          </a:ln>
        </p:spPr>
      </p:sp>
      <p:sp>
        <p:nvSpPr>
          <p:cNvPr id="11" name="icon circle FaThLarge"/>
          <p:cNvSpPr/>
          <p:nvPr/>
        </p:nvSpPr>
        <p:spPr>
          <a:xfrm>
            <a:off x="566928" y="2624328"/>
            <a:ext cx="438912" cy="438912"/>
          </a:xfrm>
          <a:prstGeom prst="ellipse">
            <a:avLst/>
          </a:prstGeom>
          <a:solidFill>
            <a:schemeClr val="accent2"/>
          </a:solidFill>
          <a:ln w="12700">
            <a:solidFill>
              <a:schemeClr val="accent2"/>
            </a:solidFill>
            <a:prstDash val="solid"/>
          </a:ln>
        </p:spPr>
      </p:sp>
      <p:pic>
        <p:nvPicPr>
          <p:cNvPr id="12" name="icon FaThLarge" descr="FaThLarge">    </p:cNvPr>
          <p:cNvPicPr>
            <a:picLocks noChangeAspect="1"/>
          </p:cNvPicPr>
          <p:nvPr/>
        </p:nvPicPr>
        <p:blipFill>
          <a:blip r:embed="rId2"/>
          <a:stretch>
            <a:fillRect/>
          </a:stretch>
        </p:blipFill>
        <p:spPr>
          <a:xfrm>
            <a:off x="681045" y="2738445"/>
            <a:ext cx="210678" cy="210678"/>
          </a:xfrm>
          <a:prstGeom prst="rect">
            <a:avLst/>
          </a:prstGeom>
        </p:spPr>
      </p:pic>
      <p:sp>
        <p:nvSpPr>
          <p:cNvPr id="13" name="Text 9"/>
          <p:cNvSpPr txBox="1"/>
          <p:nvPr/>
        </p:nvSpPr>
        <p:spPr>
          <a:xfrm>
            <a:off x="1143000" y="2569464"/>
            <a:ext cx="3246120" cy="274320"/>
          </a:xfrm>
          <a:prstGeom prst="rect">
            <a:avLst/>
          </a:prstGeom>
          <a:noFill/>
          <a:ln/>
        </p:spPr>
        <p:txBody>
          <a:bodyPr wrap="square" lIns="0" tIns="0" rIns="0" bIns="0" rtlCol="0" anchor="t"/>
          <a:lstStyle/>
          <a:p>
            <a:pPr indent="0" marL="0">
              <a:buNone/>
            </a:pPr>
            <a:r>
              <a:rPr lang="en-US" sz="1600" b="1" dirty="0">
                <a:solidFill>
                  <a:schemeClr val="tx1"/>
                </a:solidFill>
              </a:rPr>
              <a:t>Scattered information</a:t>
            </a:r>
            <a:endParaRPr lang="en-US" sz="1600" dirty="0"/>
          </a:p>
        </p:txBody>
      </p:sp>
      <p:sp>
        <p:nvSpPr>
          <p:cNvPr id="14" name="Text 10"/>
          <p:cNvSpPr txBox="1"/>
          <p:nvPr/>
        </p:nvSpPr>
        <p:spPr>
          <a:xfrm>
            <a:off x="1143000" y="2852928"/>
            <a:ext cx="3246120" cy="274320"/>
          </a:xfrm>
          <a:prstGeom prst="rect">
            <a:avLst/>
          </a:prstGeom>
          <a:noFill/>
          <a:ln/>
        </p:spPr>
        <p:txBody>
          <a:bodyPr wrap="square" lIns="0" tIns="0" rIns="0" bIns="0" rtlCol="0" anchor="t"/>
          <a:lstStyle/>
          <a:p>
            <a:pPr indent="0" marL="0">
              <a:buNone/>
            </a:pPr>
            <a:r>
              <a:rPr lang="en-US" sz="1400" dirty="0">
                <a:solidFill>
                  <a:schemeClr val="tx2"/>
                </a:solidFill>
              </a:rPr>
              <a:t>Details are in many places</a:t>
            </a:r>
            <a:endParaRPr lang="en-US" sz="1400" dirty="0"/>
          </a:p>
        </p:txBody>
      </p:sp>
      <p:sp>
        <p:nvSpPr>
          <p:cNvPr id="15" name="problem row 3"/>
          <p:cNvSpPr/>
          <p:nvPr/>
        </p:nvSpPr>
        <p:spPr>
          <a:xfrm>
            <a:off x="457200" y="3246120"/>
            <a:ext cx="4023360" cy="658368"/>
          </a:xfrm>
          <a:prstGeom prst="roundRect">
            <a:avLst>
              <a:gd name="adj" fmla="val 13889"/>
            </a:avLst>
          </a:prstGeom>
          <a:solidFill>
            <a:schemeClr val="bg2"/>
          </a:solidFill>
          <a:ln w="12700">
            <a:solidFill>
              <a:schemeClr val="bg2"/>
            </a:solidFill>
            <a:prstDash val="solid"/>
          </a:ln>
        </p:spPr>
      </p:sp>
      <p:sp>
        <p:nvSpPr>
          <p:cNvPr id="16" name="icon circle FaClock"/>
          <p:cNvSpPr/>
          <p:nvPr/>
        </p:nvSpPr>
        <p:spPr>
          <a:xfrm>
            <a:off x="566928" y="3355848"/>
            <a:ext cx="438912" cy="438912"/>
          </a:xfrm>
          <a:prstGeom prst="ellipse">
            <a:avLst/>
          </a:prstGeom>
          <a:solidFill>
            <a:schemeClr val="accent2"/>
          </a:solidFill>
          <a:ln w="12700">
            <a:solidFill>
              <a:schemeClr val="accent2"/>
            </a:solidFill>
            <a:prstDash val="solid"/>
          </a:ln>
        </p:spPr>
      </p:sp>
      <p:pic>
        <p:nvPicPr>
          <p:cNvPr id="17" name="icon FaClock" descr="FaClock">    </p:cNvPr>
          <p:cNvPicPr>
            <a:picLocks noChangeAspect="1"/>
          </p:cNvPicPr>
          <p:nvPr/>
        </p:nvPicPr>
        <p:blipFill>
          <a:blip r:embed="rId3"/>
          <a:stretch>
            <a:fillRect/>
          </a:stretch>
        </p:blipFill>
        <p:spPr>
          <a:xfrm>
            <a:off x="681045" y="3469965"/>
            <a:ext cx="210678" cy="210678"/>
          </a:xfrm>
          <a:prstGeom prst="rect">
            <a:avLst/>
          </a:prstGeom>
        </p:spPr>
      </p:pic>
      <p:sp>
        <p:nvSpPr>
          <p:cNvPr id="18" name="Text 13"/>
          <p:cNvSpPr txBox="1"/>
          <p:nvPr/>
        </p:nvSpPr>
        <p:spPr>
          <a:xfrm>
            <a:off x="1143000" y="3300984"/>
            <a:ext cx="3246120" cy="274320"/>
          </a:xfrm>
          <a:prstGeom prst="rect">
            <a:avLst/>
          </a:prstGeom>
          <a:noFill/>
          <a:ln/>
        </p:spPr>
        <p:txBody>
          <a:bodyPr wrap="square" lIns="0" tIns="0" rIns="0" bIns="0" rtlCol="0" anchor="t"/>
          <a:lstStyle/>
          <a:p>
            <a:pPr indent="0" marL="0">
              <a:buNone/>
            </a:pPr>
            <a:r>
              <a:rPr lang="en-US" sz="1600" b="1" dirty="0">
                <a:solidFill>
                  <a:schemeClr val="tx1"/>
                </a:solidFill>
              </a:rPr>
              <a:t>Limited access</a:t>
            </a:r>
            <a:endParaRPr lang="en-US" sz="1600" dirty="0"/>
          </a:p>
        </p:txBody>
      </p:sp>
      <p:sp>
        <p:nvSpPr>
          <p:cNvPr id="19" name="Text 14"/>
          <p:cNvSpPr txBox="1"/>
          <p:nvPr/>
        </p:nvSpPr>
        <p:spPr>
          <a:xfrm>
            <a:off x="1143000" y="3584448"/>
            <a:ext cx="3246120" cy="274320"/>
          </a:xfrm>
          <a:prstGeom prst="rect">
            <a:avLst/>
          </a:prstGeom>
          <a:noFill/>
          <a:ln/>
        </p:spPr>
        <p:txBody>
          <a:bodyPr wrap="square" lIns="0" tIns="0" rIns="0" bIns="0" rtlCol="0" anchor="t"/>
          <a:lstStyle/>
          <a:p>
            <a:pPr indent="0" marL="0">
              <a:buNone/>
            </a:pPr>
            <a:r>
              <a:rPr lang="en-US" sz="1400" dirty="0">
                <a:solidFill>
                  <a:schemeClr val="tx2"/>
                </a:solidFill>
              </a:rPr>
              <a:t>Only during office hours</a:t>
            </a:r>
            <a:endParaRPr lang="en-US" sz="1400" dirty="0"/>
          </a:p>
        </p:txBody>
      </p:sp>
      <p:sp>
        <p:nvSpPr>
          <p:cNvPr id="20" name="problem row 4"/>
          <p:cNvSpPr/>
          <p:nvPr/>
        </p:nvSpPr>
        <p:spPr>
          <a:xfrm>
            <a:off x="457200" y="3977640"/>
            <a:ext cx="4023360" cy="658368"/>
          </a:xfrm>
          <a:prstGeom prst="roundRect">
            <a:avLst>
              <a:gd name="adj" fmla="val 13889"/>
            </a:avLst>
          </a:prstGeom>
          <a:solidFill>
            <a:schemeClr val="bg2"/>
          </a:solidFill>
          <a:ln w="12700">
            <a:solidFill>
              <a:schemeClr val="bg2"/>
            </a:solidFill>
            <a:prstDash val="solid"/>
          </a:ln>
        </p:spPr>
      </p:sp>
      <p:sp>
        <p:nvSpPr>
          <p:cNvPr id="21" name="icon circle FaFolderOpen"/>
          <p:cNvSpPr/>
          <p:nvPr/>
        </p:nvSpPr>
        <p:spPr>
          <a:xfrm>
            <a:off x="566928" y="4087368"/>
            <a:ext cx="438912" cy="438912"/>
          </a:xfrm>
          <a:prstGeom prst="ellipse">
            <a:avLst/>
          </a:prstGeom>
          <a:solidFill>
            <a:schemeClr val="accent2"/>
          </a:solidFill>
          <a:ln w="12700">
            <a:solidFill>
              <a:schemeClr val="accent2"/>
            </a:solidFill>
            <a:prstDash val="solid"/>
          </a:ln>
        </p:spPr>
      </p:sp>
      <p:pic>
        <p:nvPicPr>
          <p:cNvPr id="22" name="icon FaFolderOpen" descr="FaFolderOpen">    </p:cNvPr>
          <p:cNvPicPr>
            <a:picLocks noChangeAspect="1"/>
          </p:cNvPicPr>
          <p:nvPr/>
        </p:nvPicPr>
        <p:blipFill>
          <a:blip r:embed="rId4"/>
          <a:stretch>
            <a:fillRect/>
          </a:stretch>
        </p:blipFill>
        <p:spPr>
          <a:xfrm>
            <a:off x="681045" y="4201485"/>
            <a:ext cx="210678" cy="210678"/>
          </a:xfrm>
          <a:prstGeom prst="rect">
            <a:avLst/>
          </a:prstGeom>
        </p:spPr>
      </p:pic>
      <p:sp>
        <p:nvSpPr>
          <p:cNvPr id="23" name="Text 17"/>
          <p:cNvSpPr txBox="1"/>
          <p:nvPr/>
        </p:nvSpPr>
        <p:spPr>
          <a:xfrm>
            <a:off x="1143000" y="4032504"/>
            <a:ext cx="3246120" cy="274320"/>
          </a:xfrm>
          <a:prstGeom prst="rect">
            <a:avLst/>
          </a:prstGeom>
          <a:noFill/>
          <a:ln/>
        </p:spPr>
        <p:txBody>
          <a:bodyPr wrap="square" lIns="0" tIns="0" rIns="0" bIns="0" rtlCol="0" anchor="t"/>
          <a:lstStyle/>
          <a:p>
            <a:pPr indent="0" marL="0">
              <a:buNone/>
            </a:pPr>
            <a:r>
              <a:rPr lang="en-US" sz="1600" b="1" dirty="0">
                <a:solidFill>
                  <a:schemeClr val="tx1"/>
                </a:solidFill>
              </a:rPr>
              <a:t>Separate records</a:t>
            </a:r>
            <a:endParaRPr lang="en-US" sz="1600" dirty="0"/>
          </a:p>
        </p:txBody>
      </p:sp>
      <p:sp>
        <p:nvSpPr>
          <p:cNvPr id="24" name="Text 18"/>
          <p:cNvSpPr txBox="1"/>
          <p:nvPr/>
        </p:nvSpPr>
        <p:spPr>
          <a:xfrm>
            <a:off x="1143000" y="4315968"/>
            <a:ext cx="3246120" cy="274320"/>
          </a:xfrm>
          <a:prstGeom prst="rect">
            <a:avLst/>
          </a:prstGeom>
          <a:noFill/>
          <a:ln/>
        </p:spPr>
        <p:txBody>
          <a:bodyPr wrap="square" lIns="0" tIns="0" rIns="0" bIns="0" rtlCol="0" anchor="t"/>
          <a:lstStyle/>
          <a:p>
            <a:pPr indent="0" marL="0">
              <a:buNone/>
            </a:pPr>
            <a:r>
              <a:rPr lang="en-US" sz="1400" dirty="0">
                <a:solidFill>
                  <a:schemeClr val="tx2"/>
                </a:solidFill>
              </a:rPr>
              <a:t>Data is in separate files</a:t>
            </a:r>
            <a:endParaRPr lang="en-US" sz="1400" dirty="0"/>
          </a:p>
        </p:txBody>
      </p:sp>
      <p:sp>
        <p:nvSpPr>
          <p:cNvPr id="25" name="problem row 5"/>
          <p:cNvSpPr/>
          <p:nvPr/>
        </p:nvSpPr>
        <p:spPr>
          <a:xfrm>
            <a:off x="4663440" y="1783080"/>
            <a:ext cx="4023360" cy="658368"/>
          </a:xfrm>
          <a:prstGeom prst="roundRect">
            <a:avLst>
              <a:gd name="adj" fmla="val 13889"/>
            </a:avLst>
          </a:prstGeom>
          <a:solidFill>
            <a:schemeClr val="bg2"/>
          </a:solidFill>
          <a:ln w="12700">
            <a:solidFill>
              <a:schemeClr val="bg2"/>
            </a:solidFill>
            <a:prstDash val="solid"/>
          </a:ln>
        </p:spPr>
      </p:sp>
      <p:sp>
        <p:nvSpPr>
          <p:cNvPr id="26" name="icon circle FaBellSlash"/>
          <p:cNvSpPr/>
          <p:nvPr/>
        </p:nvSpPr>
        <p:spPr>
          <a:xfrm>
            <a:off x="4773168" y="1892808"/>
            <a:ext cx="438912" cy="438912"/>
          </a:xfrm>
          <a:prstGeom prst="ellipse">
            <a:avLst/>
          </a:prstGeom>
          <a:solidFill>
            <a:schemeClr val="accent2"/>
          </a:solidFill>
          <a:ln w="12700">
            <a:solidFill>
              <a:schemeClr val="accent2"/>
            </a:solidFill>
            <a:prstDash val="solid"/>
          </a:ln>
        </p:spPr>
      </p:sp>
      <p:pic>
        <p:nvPicPr>
          <p:cNvPr id="27" name="icon FaBellSlash" descr="FaBellSlash">    </p:cNvPr>
          <p:cNvPicPr>
            <a:picLocks noChangeAspect="1"/>
          </p:cNvPicPr>
          <p:nvPr/>
        </p:nvPicPr>
        <p:blipFill>
          <a:blip r:embed="rId5"/>
          <a:stretch>
            <a:fillRect/>
          </a:stretch>
        </p:blipFill>
        <p:spPr>
          <a:xfrm>
            <a:off x="4887285" y="2006925"/>
            <a:ext cx="210678" cy="210678"/>
          </a:xfrm>
          <a:prstGeom prst="rect">
            <a:avLst/>
          </a:prstGeom>
        </p:spPr>
      </p:pic>
      <p:sp>
        <p:nvSpPr>
          <p:cNvPr id="28" name="Text 21"/>
          <p:cNvSpPr txBox="1"/>
          <p:nvPr/>
        </p:nvSpPr>
        <p:spPr>
          <a:xfrm>
            <a:off x="5349240" y="1837944"/>
            <a:ext cx="3246120" cy="274320"/>
          </a:xfrm>
          <a:prstGeom prst="rect">
            <a:avLst/>
          </a:prstGeom>
          <a:noFill/>
          <a:ln/>
        </p:spPr>
        <p:txBody>
          <a:bodyPr wrap="square" lIns="0" tIns="0" rIns="0" bIns="0" rtlCol="0" anchor="t"/>
          <a:lstStyle/>
          <a:p>
            <a:pPr indent="0" marL="0">
              <a:buNone/>
            </a:pPr>
            <a:r>
              <a:rPr lang="en-US" sz="1600" b="1" dirty="0">
                <a:solidFill>
                  <a:schemeClr val="tx1"/>
                </a:solidFill>
              </a:rPr>
              <a:t>No instant confirmation</a:t>
            </a:r>
            <a:endParaRPr lang="en-US" sz="1600" dirty="0"/>
          </a:p>
        </p:txBody>
      </p:sp>
      <p:sp>
        <p:nvSpPr>
          <p:cNvPr id="29" name="Text 22"/>
          <p:cNvSpPr txBox="1"/>
          <p:nvPr/>
        </p:nvSpPr>
        <p:spPr>
          <a:xfrm>
            <a:off x="5349240" y="2121408"/>
            <a:ext cx="3246120" cy="274320"/>
          </a:xfrm>
          <a:prstGeom prst="rect">
            <a:avLst/>
          </a:prstGeom>
          <a:noFill/>
          <a:ln/>
        </p:spPr>
        <p:txBody>
          <a:bodyPr wrap="square" lIns="0" tIns="0" rIns="0" bIns="0" rtlCol="0" anchor="t"/>
          <a:lstStyle/>
          <a:p>
            <a:pPr indent="0" marL="0">
              <a:buNone/>
            </a:pPr>
            <a:r>
              <a:rPr lang="en-US" sz="1400" dirty="0">
                <a:solidFill>
                  <a:schemeClr val="tx2"/>
                </a:solidFill>
              </a:rPr>
              <a:t>No proof the request is saved</a:t>
            </a:r>
            <a:endParaRPr lang="en-US" sz="1400" dirty="0"/>
          </a:p>
        </p:txBody>
      </p:sp>
      <p:sp>
        <p:nvSpPr>
          <p:cNvPr id="30" name="problem row 6"/>
          <p:cNvSpPr/>
          <p:nvPr/>
        </p:nvSpPr>
        <p:spPr>
          <a:xfrm>
            <a:off x="4663440" y="2514600"/>
            <a:ext cx="4023360" cy="658368"/>
          </a:xfrm>
          <a:prstGeom prst="roundRect">
            <a:avLst>
              <a:gd name="adj" fmla="val 13889"/>
            </a:avLst>
          </a:prstGeom>
          <a:solidFill>
            <a:schemeClr val="bg2"/>
          </a:solidFill>
          <a:ln w="12700">
            <a:solidFill>
              <a:schemeClr val="bg2"/>
            </a:solidFill>
            <a:prstDash val="solid"/>
          </a:ln>
        </p:spPr>
      </p:sp>
      <p:sp>
        <p:nvSpPr>
          <p:cNvPr id="31" name="icon circle FaSearch"/>
          <p:cNvSpPr/>
          <p:nvPr/>
        </p:nvSpPr>
        <p:spPr>
          <a:xfrm>
            <a:off x="4773168" y="2624328"/>
            <a:ext cx="438912" cy="438912"/>
          </a:xfrm>
          <a:prstGeom prst="ellipse">
            <a:avLst/>
          </a:prstGeom>
          <a:solidFill>
            <a:schemeClr val="accent2"/>
          </a:solidFill>
          <a:ln w="12700">
            <a:solidFill>
              <a:schemeClr val="accent2"/>
            </a:solidFill>
            <a:prstDash val="solid"/>
          </a:ln>
        </p:spPr>
      </p:sp>
      <p:pic>
        <p:nvPicPr>
          <p:cNvPr id="32" name="icon FaSearch" descr="FaSearch">    </p:cNvPr>
          <p:cNvPicPr>
            <a:picLocks noChangeAspect="1"/>
          </p:cNvPicPr>
          <p:nvPr/>
        </p:nvPicPr>
        <p:blipFill>
          <a:blip r:embed="rId6"/>
          <a:stretch>
            <a:fillRect/>
          </a:stretch>
        </p:blipFill>
        <p:spPr>
          <a:xfrm>
            <a:off x="4887285" y="2738445"/>
            <a:ext cx="210678" cy="210678"/>
          </a:xfrm>
          <a:prstGeom prst="rect">
            <a:avLst/>
          </a:prstGeom>
        </p:spPr>
      </p:pic>
      <p:sp>
        <p:nvSpPr>
          <p:cNvPr id="33" name="Text 25"/>
          <p:cNvSpPr txBox="1"/>
          <p:nvPr/>
        </p:nvSpPr>
        <p:spPr>
          <a:xfrm>
            <a:off x="5349240" y="2569464"/>
            <a:ext cx="3246120" cy="274320"/>
          </a:xfrm>
          <a:prstGeom prst="rect">
            <a:avLst/>
          </a:prstGeom>
          <a:noFill/>
          <a:ln/>
        </p:spPr>
        <p:txBody>
          <a:bodyPr wrap="square" lIns="0" tIns="0" rIns="0" bIns="0" rtlCol="0" anchor="t"/>
          <a:lstStyle/>
          <a:p>
            <a:pPr indent="0" marL="0">
              <a:buNone/>
            </a:pPr>
            <a:r>
              <a:rPr lang="en-US" sz="1600" b="1" dirty="0">
                <a:solidFill>
                  <a:schemeClr val="tx1"/>
                </a:solidFill>
              </a:rPr>
              <a:t>Hard to track</a:t>
            </a:r>
            <a:endParaRPr lang="en-US" sz="1600" dirty="0"/>
          </a:p>
        </p:txBody>
      </p:sp>
      <p:sp>
        <p:nvSpPr>
          <p:cNvPr id="34" name="Text 26"/>
          <p:cNvSpPr txBox="1"/>
          <p:nvPr/>
        </p:nvSpPr>
        <p:spPr>
          <a:xfrm>
            <a:off x="5349240" y="2852928"/>
            <a:ext cx="3246120" cy="274320"/>
          </a:xfrm>
          <a:prstGeom prst="rect">
            <a:avLst/>
          </a:prstGeom>
          <a:noFill/>
          <a:ln/>
        </p:spPr>
        <p:txBody>
          <a:bodyPr wrap="square" lIns="0" tIns="0" rIns="0" bIns="0" rtlCol="0" anchor="t"/>
          <a:lstStyle/>
          <a:p>
            <a:pPr indent="0" marL="0">
              <a:buNone/>
            </a:pPr>
            <a:r>
              <a:rPr lang="en-US" sz="1400" dirty="0">
                <a:solidFill>
                  <a:schemeClr val="tx2"/>
                </a:solidFill>
              </a:rPr>
              <a:t>Hard to count applicants</a:t>
            </a:r>
            <a:endParaRPr lang="en-US" sz="1400" dirty="0"/>
          </a:p>
        </p:txBody>
      </p:sp>
      <p:sp>
        <p:nvSpPr>
          <p:cNvPr id="35" name="problem row 7"/>
          <p:cNvSpPr/>
          <p:nvPr/>
        </p:nvSpPr>
        <p:spPr>
          <a:xfrm>
            <a:off x="4663440" y="3246120"/>
            <a:ext cx="4023360" cy="658368"/>
          </a:xfrm>
          <a:prstGeom prst="roundRect">
            <a:avLst>
              <a:gd name="adj" fmla="val 13889"/>
            </a:avLst>
          </a:prstGeom>
          <a:solidFill>
            <a:schemeClr val="bg2"/>
          </a:solidFill>
          <a:ln w="12700">
            <a:solidFill>
              <a:schemeClr val="bg2"/>
            </a:solidFill>
            <a:prstDash val="solid"/>
          </a:ln>
        </p:spPr>
      </p:sp>
      <p:sp>
        <p:nvSpPr>
          <p:cNvPr id="36" name="icon circle FaTasks"/>
          <p:cNvSpPr/>
          <p:nvPr/>
        </p:nvSpPr>
        <p:spPr>
          <a:xfrm>
            <a:off x="4773168" y="3355848"/>
            <a:ext cx="438912" cy="438912"/>
          </a:xfrm>
          <a:prstGeom prst="ellipse">
            <a:avLst/>
          </a:prstGeom>
          <a:solidFill>
            <a:schemeClr val="accent2"/>
          </a:solidFill>
          <a:ln w="12700">
            <a:solidFill>
              <a:schemeClr val="accent2"/>
            </a:solidFill>
            <a:prstDash val="solid"/>
          </a:ln>
        </p:spPr>
      </p:sp>
      <p:pic>
        <p:nvPicPr>
          <p:cNvPr id="37" name="icon FaTasks" descr="FaTasks">    </p:cNvPr>
          <p:cNvPicPr>
            <a:picLocks noChangeAspect="1"/>
          </p:cNvPicPr>
          <p:nvPr/>
        </p:nvPicPr>
        <p:blipFill>
          <a:blip r:embed="rId7"/>
          <a:stretch>
            <a:fillRect/>
          </a:stretch>
        </p:blipFill>
        <p:spPr>
          <a:xfrm>
            <a:off x="4887285" y="3469965"/>
            <a:ext cx="210678" cy="210678"/>
          </a:xfrm>
          <a:prstGeom prst="rect">
            <a:avLst/>
          </a:prstGeom>
        </p:spPr>
      </p:pic>
      <p:sp>
        <p:nvSpPr>
          <p:cNvPr id="38" name="Text 29"/>
          <p:cNvSpPr txBox="1"/>
          <p:nvPr/>
        </p:nvSpPr>
        <p:spPr>
          <a:xfrm>
            <a:off x="5349240" y="3300984"/>
            <a:ext cx="3246120" cy="274320"/>
          </a:xfrm>
          <a:prstGeom prst="rect">
            <a:avLst/>
          </a:prstGeom>
          <a:noFill/>
          <a:ln/>
        </p:spPr>
        <p:txBody>
          <a:bodyPr wrap="square" lIns="0" tIns="0" rIns="0" bIns="0" rtlCol="0" anchor="t"/>
          <a:lstStyle/>
          <a:p>
            <a:pPr indent="0" marL="0">
              <a:buNone/>
            </a:pPr>
            <a:r>
              <a:rPr lang="en-US" sz="1600" b="1" dirty="0">
                <a:solidFill>
                  <a:schemeClr val="tx1"/>
                </a:solidFill>
              </a:rPr>
              <a:t>Slow admin work</a:t>
            </a:r>
            <a:endParaRPr lang="en-US" sz="1600" dirty="0"/>
          </a:p>
        </p:txBody>
      </p:sp>
      <p:sp>
        <p:nvSpPr>
          <p:cNvPr id="39" name="Text 30"/>
          <p:cNvSpPr txBox="1"/>
          <p:nvPr/>
        </p:nvSpPr>
        <p:spPr>
          <a:xfrm>
            <a:off x="5349240" y="3584448"/>
            <a:ext cx="3246120" cy="274320"/>
          </a:xfrm>
          <a:prstGeom prst="rect">
            <a:avLst/>
          </a:prstGeom>
          <a:noFill/>
          <a:ln/>
        </p:spPr>
        <p:txBody>
          <a:bodyPr wrap="square" lIns="0" tIns="0" rIns="0" bIns="0" rtlCol="0" anchor="t"/>
          <a:lstStyle/>
          <a:p>
            <a:pPr indent="0" marL="0">
              <a:buNone/>
            </a:pPr>
            <a:r>
              <a:rPr lang="en-US" sz="1400" dirty="0">
                <a:solidFill>
                  <a:schemeClr val="tx2"/>
                </a:solidFill>
              </a:rPr>
              <a:t>Reports are counted by hand</a:t>
            </a:r>
            <a:endParaRPr lang="en-US" sz="1400" dirty="0"/>
          </a:p>
        </p:txBody>
      </p:sp>
      <p:sp>
        <p:nvSpPr>
          <p:cNvPr id="40" name="problem row 8"/>
          <p:cNvSpPr/>
          <p:nvPr/>
        </p:nvSpPr>
        <p:spPr>
          <a:xfrm>
            <a:off x="4663440" y="3977640"/>
            <a:ext cx="4023360" cy="658368"/>
          </a:xfrm>
          <a:prstGeom prst="roundRect">
            <a:avLst>
              <a:gd name="adj" fmla="val 13889"/>
            </a:avLst>
          </a:prstGeom>
          <a:solidFill>
            <a:schemeClr val="bg2"/>
          </a:solidFill>
          <a:ln w="12700">
            <a:solidFill>
              <a:schemeClr val="bg2"/>
            </a:solidFill>
            <a:prstDash val="solid"/>
          </a:ln>
        </p:spPr>
      </p:sp>
      <p:sp>
        <p:nvSpPr>
          <p:cNvPr id="41" name="icon circle FaHourglassHalf"/>
          <p:cNvSpPr/>
          <p:nvPr/>
        </p:nvSpPr>
        <p:spPr>
          <a:xfrm>
            <a:off x="4773168" y="4087368"/>
            <a:ext cx="438912" cy="438912"/>
          </a:xfrm>
          <a:prstGeom prst="ellipse">
            <a:avLst/>
          </a:prstGeom>
          <a:solidFill>
            <a:schemeClr val="accent2"/>
          </a:solidFill>
          <a:ln w="12700">
            <a:solidFill>
              <a:schemeClr val="accent2"/>
            </a:solidFill>
            <a:prstDash val="solid"/>
          </a:ln>
        </p:spPr>
      </p:sp>
      <p:pic>
        <p:nvPicPr>
          <p:cNvPr id="42" name="icon FaHourglassHalf" descr="FaHourglassHalf">    </p:cNvPr>
          <p:cNvPicPr>
            <a:picLocks noChangeAspect="1"/>
          </p:cNvPicPr>
          <p:nvPr/>
        </p:nvPicPr>
        <p:blipFill>
          <a:blip r:embed="rId8"/>
          <a:stretch>
            <a:fillRect/>
          </a:stretch>
        </p:blipFill>
        <p:spPr>
          <a:xfrm>
            <a:off x="4887285" y="4201485"/>
            <a:ext cx="210678" cy="210678"/>
          </a:xfrm>
          <a:prstGeom prst="rect">
            <a:avLst/>
          </a:prstGeom>
        </p:spPr>
      </p:pic>
      <p:sp>
        <p:nvSpPr>
          <p:cNvPr id="43" name="Text 33"/>
          <p:cNvSpPr txBox="1"/>
          <p:nvPr/>
        </p:nvSpPr>
        <p:spPr>
          <a:xfrm>
            <a:off x="5349240" y="4032504"/>
            <a:ext cx="3246120" cy="274320"/>
          </a:xfrm>
          <a:prstGeom prst="rect">
            <a:avLst/>
          </a:prstGeom>
          <a:noFill/>
          <a:ln/>
        </p:spPr>
        <p:txBody>
          <a:bodyPr wrap="square" lIns="0" tIns="0" rIns="0" bIns="0" rtlCol="0" anchor="t"/>
          <a:lstStyle/>
          <a:p>
            <a:pPr indent="0" marL="0">
              <a:buNone/>
            </a:pPr>
            <a:r>
              <a:rPr lang="en-US" sz="1600" b="1" dirty="0">
                <a:solidFill>
                  <a:schemeClr val="tx1"/>
                </a:solidFill>
              </a:rPr>
              <a:t>Long waiting time</a:t>
            </a:r>
            <a:endParaRPr lang="en-US" sz="1600" dirty="0"/>
          </a:p>
        </p:txBody>
      </p:sp>
      <p:sp>
        <p:nvSpPr>
          <p:cNvPr id="44" name="Text 34"/>
          <p:cNvSpPr txBox="1"/>
          <p:nvPr/>
        </p:nvSpPr>
        <p:spPr>
          <a:xfrm>
            <a:off x="5349240" y="4315968"/>
            <a:ext cx="3246120" cy="274320"/>
          </a:xfrm>
          <a:prstGeom prst="rect">
            <a:avLst/>
          </a:prstGeom>
          <a:noFill/>
          <a:ln/>
        </p:spPr>
        <p:txBody>
          <a:bodyPr wrap="square" lIns="0" tIns="0" rIns="0" bIns="0" rtlCol="0" anchor="t"/>
          <a:lstStyle/>
          <a:p>
            <a:pPr indent="0" marL="0">
              <a:buNone/>
            </a:pPr>
            <a:r>
              <a:rPr lang="en-US" sz="1400" dirty="0">
                <a:solidFill>
                  <a:schemeClr val="tx2"/>
                </a:solidFill>
              </a:rPr>
              <a:t>Long queues at the counter</a:t>
            </a:r>
            <a:endParaRPr lang="en-US" sz="14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Objectives</a:t>
            </a:r>
            <a:endParaRPr lang="en-US" sz="3200" dirty="0"/>
          </a:p>
        </p:txBody>
      </p:sp>
      <p:sp>
        <p:nvSpPr>
          <p:cNvPr id="3" name="objective 1"/>
          <p:cNvSpPr/>
          <p:nvPr/>
        </p:nvSpPr>
        <p:spPr>
          <a:xfrm>
            <a:off x="457200" y="1188720"/>
            <a:ext cx="4023360" cy="777240"/>
          </a:xfrm>
          <a:prstGeom prst="roundRect">
            <a:avLst>
              <a:gd name="adj" fmla="val 11765"/>
            </a:avLst>
          </a:prstGeom>
          <a:solidFill>
            <a:schemeClr val="bg2"/>
          </a:solidFill>
          <a:ln w="12700">
            <a:solidFill>
              <a:schemeClr val="bg2"/>
            </a:solidFill>
            <a:prstDash val="solid"/>
          </a:ln>
        </p:spPr>
      </p:sp>
      <p:sp>
        <p:nvSpPr>
          <p:cNvPr id="4" name="number 1"/>
          <p:cNvSpPr/>
          <p:nvPr/>
        </p:nvSpPr>
        <p:spPr>
          <a:xfrm>
            <a:off x="566928" y="1371600"/>
            <a:ext cx="411480" cy="411480"/>
          </a:xfrm>
          <a:prstGeom prst="ellipse">
            <a:avLst/>
          </a:prstGeom>
          <a:solidFill>
            <a:schemeClr val="accent1"/>
          </a:solidFill>
          <a:ln w="12700">
            <a:solidFill>
              <a:schemeClr val="accent1"/>
            </a:solidFill>
            <a:prstDash val="solid"/>
          </a:ln>
        </p:spPr>
      </p:sp>
      <p:sp>
        <p:nvSpPr>
          <p:cNvPr id="5" name="Text 3"/>
          <p:cNvSpPr txBox="1"/>
          <p:nvPr/>
        </p:nvSpPr>
        <p:spPr>
          <a:xfrm>
            <a:off x="566928" y="137160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115568" y="1225296"/>
            <a:ext cx="3291840" cy="704088"/>
          </a:xfrm>
          <a:prstGeom prst="rect">
            <a:avLst/>
          </a:prstGeom>
          <a:noFill/>
          <a:ln/>
        </p:spPr>
        <p:txBody>
          <a:bodyPr wrap="square" lIns="0" tIns="0" rIns="0" bIns="0" rtlCol="0" anchor="ctr"/>
          <a:lstStyle/>
          <a:p>
            <a:pPr indent="0" marL="0">
              <a:buNone/>
            </a:pPr>
            <a:r>
              <a:rPr lang="en-US" sz="1500" dirty="0">
                <a:solidFill>
                  <a:schemeClr val="tx1"/>
                </a:solidFill>
              </a:rPr>
              <a:t>Build a web app with Python, FastAPI and MySQL</a:t>
            </a:r>
            <a:endParaRPr lang="en-US" sz="1500" dirty="0"/>
          </a:p>
        </p:txBody>
      </p:sp>
      <p:sp>
        <p:nvSpPr>
          <p:cNvPr id="7" name="objective 2"/>
          <p:cNvSpPr/>
          <p:nvPr/>
        </p:nvSpPr>
        <p:spPr>
          <a:xfrm>
            <a:off x="457200" y="2075688"/>
            <a:ext cx="4023360" cy="777240"/>
          </a:xfrm>
          <a:prstGeom prst="roundRect">
            <a:avLst>
              <a:gd name="adj" fmla="val 11765"/>
            </a:avLst>
          </a:prstGeom>
          <a:solidFill>
            <a:schemeClr val="bg2"/>
          </a:solidFill>
          <a:ln w="12700">
            <a:solidFill>
              <a:schemeClr val="bg2"/>
            </a:solidFill>
            <a:prstDash val="solid"/>
          </a:ln>
        </p:spPr>
      </p:sp>
      <p:sp>
        <p:nvSpPr>
          <p:cNvPr id="8" name="number 2"/>
          <p:cNvSpPr/>
          <p:nvPr/>
        </p:nvSpPr>
        <p:spPr>
          <a:xfrm>
            <a:off x="566928" y="2258568"/>
            <a:ext cx="411480" cy="411480"/>
          </a:xfrm>
          <a:prstGeom prst="ellipse">
            <a:avLst/>
          </a:prstGeom>
          <a:solidFill>
            <a:schemeClr val="accent1"/>
          </a:solidFill>
          <a:ln w="12700">
            <a:solidFill>
              <a:schemeClr val="accent1"/>
            </a:solidFill>
            <a:prstDash val="solid"/>
          </a:ln>
        </p:spPr>
      </p:sp>
      <p:sp>
        <p:nvSpPr>
          <p:cNvPr id="9" name="Text 7"/>
          <p:cNvSpPr txBox="1"/>
          <p:nvPr/>
        </p:nvSpPr>
        <p:spPr>
          <a:xfrm>
            <a:off x="566928" y="2258568"/>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1115568" y="2112264"/>
            <a:ext cx="3291840" cy="704088"/>
          </a:xfrm>
          <a:prstGeom prst="rect">
            <a:avLst/>
          </a:prstGeom>
          <a:noFill/>
          <a:ln/>
        </p:spPr>
        <p:txBody>
          <a:bodyPr wrap="square" lIns="0" tIns="0" rIns="0" bIns="0" rtlCol="0" anchor="ctr"/>
          <a:lstStyle/>
          <a:p>
            <a:pPr indent="0" marL="0">
              <a:buNone/>
            </a:pPr>
            <a:r>
              <a:rPr lang="en-US" sz="1500" dirty="0">
                <a:solidFill>
                  <a:schemeClr val="tx1"/>
                </a:solidFill>
              </a:rPr>
              <a:t>Store categories, courses and enrollments in a database</a:t>
            </a:r>
            <a:endParaRPr lang="en-US" sz="1500" dirty="0"/>
          </a:p>
        </p:txBody>
      </p:sp>
      <p:sp>
        <p:nvSpPr>
          <p:cNvPr id="11" name="objective 3"/>
          <p:cNvSpPr/>
          <p:nvPr/>
        </p:nvSpPr>
        <p:spPr>
          <a:xfrm>
            <a:off x="457200" y="2962656"/>
            <a:ext cx="4023360" cy="777240"/>
          </a:xfrm>
          <a:prstGeom prst="roundRect">
            <a:avLst>
              <a:gd name="adj" fmla="val 11765"/>
            </a:avLst>
          </a:prstGeom>
          <a:solidFill>
            <a:schemeClr val="bg2"/>
          </a:solidFill>
          <a:ln w="12700">
            <a:solidFill>
              <a:schemeClr val="bg2"/>
            </a:solidFill>
            <a:prstDash val="solid"/>
          </a:ln>
        </p:spPr>
      </p:sp>
      <p:sp>
        <p:nvSpPr>
          <p:cNvPr id="12" name="number 3"/>
          <p:cNvSpPr/>
          <p:nvPr/>
        </p:nvSpPr>
        <p:spPr>
          <a:xfrm>
            <a:off x="566928" y="3145536"/>
            <a:ext cx="411480" cy="411480"/>
          </a:xfrm>
          <a:prstGeom prst="ellipse">
            <a:avLst/>
          </a:prstGeom>
          <a:solidFill>
            <a:schemeClr val="accent1"/>
          </a:solidFill>
          <a:ln w="12700">
            <a:solidFill>
              <a:schemeClr val="accent1"/>
            </a:solidFill>
            <a:prstDash val="solid"/>
          </a:ln>
        </p:spPr>
      </p:sp>
      <p:sp>
        <p:nvSpPr>
          <p:cNvPr id="13" name="Text 11"/>
          <p:cNvSpPr txBox="1"/>
          <p:nvPr/>
        </p:nvSpPr>
        <p:spPr>
          <a:xfrm>
            <a:off x="566928" y="3145536"/>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2"/>
          <p:cNvSpPr txBox="1"/>
          <p:nvPr/>
        </p:nvSpPr>
        <p:spPr>
          <a:xfrm>
            <a:off x="1115568" y="2999232"/>
            <a:ext cx="3291840" cy="704088"/>
          </a:xfrm>
          <a:prstGeom prst="rect">
            <a:avLst/>
          </a:prstGeom>
          <a:noFill/>
          <a:ln/>
        </p:spPr>
        <p:txBody>
          <a:bodyPr wrap="square" lIns="0" tIns="0" rIns="0" bIns="0" rtlCol="0" anchor="ctr"/>
          <a:lstStyle/>
          <a:p>
            <a:pPr indent="0" marL="0">
              <a:buNone/>
            </a:pPr>
            <a:r>
              <a:rPr lang="en-US" sz="1500" dirty="0">
                <a:solidFill>
                  <a:schemeClr val="tx1"/>
                </a:solidFill>
              </a:rPr>
              <a:t>Show courses with instructor, duration, level and seats</a:t>
            </a:r>
            <a:endParaRPr lang="en-US" sz="1500" dirty="0"/>
          </a:p>
        </p:txBody>
      </p:sp>
      <p:sp>
        <p:nvSpPr>
          <p:cNvPr id="15" name="objective 4"/>
          <p:cNvSpPr/>
          <p:nvPr/>
        </p:nvSpPr>
        <p:spPr>
          <a:xfrm>
            <a:off x="457200" y="3849624"/>
            <a:ext cx="4023360" cy="777240"/>
          </a:xfrm>
          <a:prstGeom prst="roundRect">
            <a:avLst>
              <a:gd name="adj" fmla="val 11765"/>
            </a:avLst>
          </a:prstGeom>
          <a:solidFill>
            <a:schemeClr val="bg2"/>
          </a:solidFill>
          <a:ln w="12700">
            <a:solidFill>
              <a:schemeClr val="bg2"/>
            </a:solidFill>
            <a:prstDash val="solid"/>
          </a:ln>
        </p:spPr>
      </p:sp>
      <p:sp>
        <p:nvSpPr>
          <p:cNvPr id="16" name="number 4"/>
          <p:cNvSpPr/>
          <p:nvPr/>
        </p:nvSpPr>
        <p:spPr>
          <a:xfrm>
            <a:off x="566928" y="4032504"/>
            <a:ext cx="411480" cy="411480"/>
          </a:xfrm>
          <a:prstGeom prst="ellipse">
            <a:avLst/>
          </a:prstGeom>
          <a:solidFill>
            <a:schemeClr val="accent1"/>
          </a:solidFill>
          <a:ln w="12700">
            <a:solidFill>
              <a:schemeClr val="accent1"/>
            </a:solidFill>
            <a:prstDash val="solid"/>
          </a:ln>
        </p:spPr>
      </p:sp>
      <p:sp>
        <p:nvSpPr>
          <p:cNvPr id="17" name="Text 15"/>
          <p:cNvSpPr txBox="1"/>
          <p:nvPr/>
        </p:nvSpPr>
        <p:spPr>
          <a:xfrm>
            <a:off x="566928" y="4032504"/>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6"/>
          <p:cNvSpPr txBox="1"/>
          <p:nvPr/>
        </p:nvSpPr>
        <p:spPr>
          <a:xfrm>
            <a:off x="1115568" y="3886200"/>
            <a:ext cx="3291840" cy="704088"/>
          </a:xfrm>
          <a:prstGeom prst="rect">
            <a:avLst/>
          </a:prstGeom>
          <a:noFill/>
          <a:ln/>
        </p:spPr>
        <p:txBody>
          <a:bodyPr wrap="square" lIns="0" tIns="0" rIns="0" bIns="0" rtlCol="0" anchor="ctr"/>
          <a:lstStyle/>
          <a:p>
            <a:pPr indent="0" marL="0">
              <a:buNone/>
            </a:pPr>
            <a:r>
              <a:rPr lang="en-US" sz="1500" dirty="0">
                <a:solidFill>
                  <a:schemeClr val="tx1"/>
                </a:solidFill>
              </a:rPr>
              <a:t>Let learners filter courses by category</a:t>
            </a:r>
            <a:endParaRPr lang="en-US" sz="1500" dirty="0"/>
          </a:p>
        </p:txBody>
      </p:sp>
      <p:sp>
        <p:nvSpPr>
          <p:cNvPr id="19" name="objective 5"/>
          <p:cNvSpPr/>
          <p:nvPr/>
        </p:nvSpPr>
        <p:spPr>
          <a:xfrm>
            <a:off x="4663440" y="1188720"/>
            <a:ext cx="4023360" cy="777240"/>
          </a:xfrm>
          <a:prstGeom prst="roundRect">
            <a:avLst>
              <a:gd name="adj" fmla="val 11765"/>
            </a:avLst>
          </a:prstGeom>
          <a:solidFill>
            <a:schemeClr val="bg2"/>
          </a:solidFill>
          <a:ln w="12700">
            <a:solidFill>
              <a:schemeClr val="bg2"/>
            </a:solidFill>
            <a:prstDash val="solid"/>
          </a:ln>
        </p:spPr>
      </p:sp>
      <p:sp>
        <p:nvSpPr>
          <p:cNvPr id="20" name="number 5"/>
          <p:cNvSpPr/>
          <p:nvPr/>
        </p:nvSpPr>
        <p:spPr>
          <a:xfrm>
            <a:off x="4773168" y="1371600"/>
            <a:ext cx="411480" cy="411480"/>
          </a:xfrm>
          <a:prstGeom prst="ellipse">
            <a:avLst/>
          </a:prstGeom>
          <a:solidFill>
            <a:schemeClr val="accent1"/>
          </a:solidFill>
          <a:ln w="12700">
            <a:solidFill>
              <a:schemeClr val="accent1"/>
            </a:solidFill>
            <a:prstDash val="solid"/>
          </a:ln>
        </p:spPr>
      </p:sp>
      <p:sp>
        <p:nvSpPr>
          <p:cNvPr id="21" name="Text 19"/>
          <p:cNvSpPr txBox="1"/>
          <p:nvPr/>
        </p:nvSpPr>
        <p:spPr>
          <a:xfrm>
            <a:off x="4773168" y="137160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2" name="Text 20"/>
          <p:cNvSpPr txBox="1"/>
          <p:nvPr/>
        </p:nvSpPr>
        <p:spPr>
          <a:xfrm>
            <a:off x="5321808" y="1225296"/>
            <a:ext cx="3291840" cy="704088"/>
          </a:xfrm>
          <a:prstGeom prst="rect">
            <a:avLst/>
          </a:prstGeom>
          <a:noFill/>
          <a:ln/>
        </p:spPr>
        <p:txBody>
          <a:bodyPr wrap="square" lIns="0" tIns="0" rIns="0" bIns="0" rtlCol="0" anchor="ctr"/>
          <a:lstStyle/>
          <a:p>
            <a:pPr indent="0" marL="0">
              <a:buNone/>
            </a:pPr>
            <a:r>
              <a:rPr lang="en-US" sz="1500" dirty="0">
                <a:solidFill>
                  <a:schemeClr val="tx1"/>
                </a:solidFill>
              </a:rPr>
              <a:t>Give an online enrollment form with checks</a:t>
            </a:r>
            <a:endParaRPr lang="en-US" sz="1500" dirty="0"/>
          </a:p>
        </p:txBody>
      </p:sp>
      <p:sp>
        <p:nvSpPr>
          <p:cNvPr id="23" name="objective 6"/>
          <p:cNvSpPr/>
          <p:nvPr/>
        </p:nvSpPr>
        <p:spPr>
          <a:xfrm>
            <a:off x="4663440" y="2075688"/>
            <a:ext cx="4023360" cy="777240"/>
          </a:xfrm>
          <a:prstGeom prst="roundRect">
            <a:avLst>
              <a:gd name="adj" fmla="val 11765"/>
            </a:avLst>
          </a:prstGeom>
          <a:solidFill>
            <a:schemeClr val="bg2"/>
          </a:solidFill>
          <a:ln w="12700">
            <a:solidFill>
              <a:schemeClr val="bg2"/>
            </a:solidFill>
            <a:prstDash val="solid"/>
          </a:ln>
        </p:spPr>
      </p:sp>
      <p:sp>
        <p:nvSpPr>
          <p:cNvPr id="24" name="number 6"/>
          <p:cNvSpPr/>
          <p:nvPr/>
        </p:nvSpPr>
        <p:spPr>
          <a:xfrm>
            <a:off x="4773168" y="2258568"/>
            <a:ext cx="411480" cy="411480"/>
          </a:xfrm>
          <a:prstGeom prst="ellipse">
            <a:avLst/>
          </a:prstGeom>
          <a:solidFill>
            <a:schemeClr val="accent1"/>
          </a:solidFill>
          <a:ln w="12700">
            <a:solidFill>
              <a:schemeClr val="accent1"/>
            </a:solidFill>
            <a:prstDash val="solid"/>
          </a:ln>
        </p:spPr>
      </p:sp>
      <p:sp>
        <p:nvSpPr>
          <p:cNvPr id="25" name="Text 23"/>
          <p:cNvSpPr txBox="1"/>
          <p:nvPr/>
        </p:nvSpPr>
        <p:spPr>
          <a:xfrm>
            <a:off x="4773168" y="2258568"/>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6" name="Text 24"/>
          <p:cNvSpPr txBox="1"/>
          <p:nvPr/>
        </p:nvSpPr>
        <p:spPr>
          <a:xfrm>
            <a:off x="5321808" y="2112264"/>
            <a:ext cx="3291840" cy="704088"/>
          </a:xfrm>
          <a:prstGeom prst="rect">
            <a:avLst/>
          </a:prstGeom>
          <a:noFill/>
          <a:ln/>
        </p:spPr>
        <p:txBody>
          <a:bodyPr wrap="square" lIns="0" tIns="0" rIns="0" bIns="0" rtlCol="0" anchor="ctr"/>
          <a:lstStyle/>
          <a:p>
            <a:pPr indent="0" marL="0">
              <a:buNone/>
            </a:pPr>
            <a:r>
              <a:rPr lang="en-US" sz="1500" dirty="0">
                <a:solidFill>
                  <a:schemeClr val="tx1"/>
                </a:solidFill>
              </a:rPr>
              <a:t>Give a login page with basic checks</a:t>
            </a:r>
            <a:endParaRPr lang="en-US" sz="1500" dirty="0"/>
          </a:p>
        </p:txBody>
      </p:sp>
      <p:sp>
        <p:nvSpPr>
          <p:cNvPr id="27" name="objective 7"/>
          <p:cNvSpPr/>
          <p:nvPr/>
        </p:nvSpPr>
        <p:spPr>
          <a:xfrm>
            <a:off x="4663440" y="2962656"/>
            <a:ext cx="4023360" cy="777240"/>
          </a:xfrm>
          <a:prstGeom prst="roundRect">
            <a:avLst>
              <a:gd name="adj" fmla="val 11765"/>
            </a:avLst>
          </a:prstGeom>
          <a:solidFill>
            <a:schemeClr val="bg2"/>
          </a:solidFill>
          <a:ln w="12700">
            <a:solidFill>
              <a:schemeClr val="bg2"/>
            </a:solidFill>
            <a:prstDash val="solid"/>
          </a:ln>
        </p:spPr>
      </p:sp>
      <p:sp>
        <p:nvSpPr>
          <p:cNvPr id="28" name="number 7"/>
          <p:cNvSpPr/>
          <p:nvPr/>
        </p:nvSpPr>
        <p:spPr>
          <a:xfrm>
            <a:off x="4773168" y="3145536"/>
            <a:ext cx="411480" cy="411480"/>
          </a:xfrm>
          <a:prstGeom prst="ellipse">
            <a:avLst/>
          </a:prstGeom>
          <a:solidFill>
            <a:schemeClr val="accent1"/>
          </a:solidFill>
          <a:ln w="12700">
            <a:solidFill>
              <a:schemeClr val="accent1"/>
            </a:solidFill>
            <a:prstDash val="solid"/>
          </a:ln>
        </p:spPr>
      </p:sp>
      <p:sp>
        <p:nvSpPr>
          <p:cNvPr id="29" name="Text 27"/>
          <p:cNvSpPr txBox="1"/>
          <p:nvPr/>
        </p:nvSpPr>
        <p:spPr>
          <a:xfrm>
            <a:off x="4773168" y="3145536"/>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30" name="Text 28"/>
          <p:cNvSpPr txBox="1"/>
          <p:nvPr/>
        </p:nvSpPr>
        <p:spPr>
          <a:xfrm>
            <a:off x="5321808" y="2999232"/>
            <a:ext cx="3291840" cy="704088"/>
          </a:xfrm>
          <a:prstGeom prst="rect">
            <a:avLst/>
          </a:prstGeom>
          <a:noFill/>
          <a:ln/>
        </p:spPr>
        <p:txBody>
          <a:bodyPr wrap="square" lIns="0" tIns="0" rIns="0" bIns="0" rtlCol="0" anchor="ctr"/>
          <a:lstStyle/>
          <a:p>
            <a:pPr indent="0" marL="0">
              <a:buNone/>
            </a:pPr>
            <a:r>
              <a:rPr lang="en-US" sz="1500" dirty="0">
                <a:solidFill>
                  <a:schemeClr val="tx1"/>
                </a:solidFill>
              </a:rPr>
              <a:t>Show a dashboard with figures and latest enrollments</a:t>
            </a:r>
            <a:endParaRPr lang="en-US" sz="1500" dirty="0"/>
          </a:p>
        </p:txBody>
      </p:sp>
      <p:sp>
        <p:nvSpPr>
          <p:cNvPr id="31" name="objective 8"/>
          <p:cNvSpPr/>
          <p:nvPr/>
        </p:nvSpPr>
        <p:spPr>
          <a:xfrm>
            <a:off x="4663440" y="3849624"/>
            <a:ext cx="4023360" cy="777240"/>
          </a:xfrm>
          <a:prstGeom prst="roundRect">
            <a:avLst>
              <a:gd name="adj" fmla="val 11765"/>
            </a:avLst>
          </a:prstGeom>
          <a:solidFill>
            <a:schemeClr val="bg2"/>
          </a:solidFill>
          <a:ln w="12700">
            <a:solidFill>
              <a:schemeClr val="bg2"/>
            </a:solidFill>
            <a:prstDash val="solid"/>
          </a:ln>
        </p:spPr>
      </p:sp>
      <p:sp>
        <p:nvSpPr>
          <p:cNvPr id="32" name="number 8"/>
          <p:cNvSpPr/>
          <p:nvPr/>
        </p:nvSpPr>
        <p:spPr>
          <a:xfrm>
            <a:off x="4773168" y="4032504"/>
            <a:ext cx="411480" cy="411480"/>
          </a:xfrm>
          <a:prstGeom prst="ellipse">
            <a:avLst/>
          </a:prstGeom>
          <a:solidFill>
            <a:schemeClr val="accent1"/>
          </a:solidFill>
          <a:ln w="12700">
            <a:solidFill>
              <a:schemeClr val="accent1"/>
            </a:solidFill>
            <a:prstDash val="solid"/>
          </a:ln>
        </p:spPr>
      </p:sp>
      <p:sp>
        <p:nvSpPr>
          <p:cNvPr id="33" name="Text 31"/>
          <p:cNvSpPr txBox="1"/>
          <p:nvPr/>
        </p:nvSpPr>
        <p:spPr>
          <a:xfrm>
            <a:off x="4773168" y="4032504"/>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34" name="Text 32"/>
          <p:cNvSpPr txBox="1"/>
          <p:nvPr/>
        </p:nvSpPr>
        <p:spPr>
          <a:xfrm>
            <a:off x="5321808" y="3886200"/>
            <a:ext cx="3291840" cy="704088"/>
          </a:xfrm>
          <a:prstGeom prst="rect">
            <a:avLst/>
          </a:prstGeom>
          <a:noFill/>
          <a:ln/>
        </p:spPr>
        <p:txBody>
          <a:bodyPr wrap="square" lIns="0" tIns="0" rIns="0" bIns="0" rtlCol="0" anchor="ctr"/>
          <a:lstStyle/>
          <a:p>
            <a:pPr indent="0" marL="0">
              <a:buNone/>
            </a:pPr>
            <a:r>
              <a:rPr lang="en-US" sz="1500" dirty="0">
                <a:solidFill>
                  <a:schemeClr val="tx1"/>
                </a:solidFill>
              </a:rPr>
              <a:t>Reduce paperwork and typing mistakes</a:t>
            </a:r>
            <a:endParaRPr lang="en-US" sz="15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Proposed System</a:t>
            </a:r>
            <a:endParaRPr lang="en-US" sz="3200" dirty="0"/>
          </a:p>
        </p:txBody>
      </p:sp>
      <p:sp>
        <p:nvSpPr>
          <p:cNvPr id="3" name="feature card 1"/>
          <p:cNvSpPr/>
          <p:nvPr/>
        </p:nvSpPr>
        <p:spPr>
          <a:xfrm>
            <a:off x="457200" y="1143000"/>
            <a:ext cx="2651760" cy="1325880"/>
          </a:xfrm>
          <a:prstGeom prst="roundRect">
            <a:avLst>
              <a:gd name="adj" fmla="val 6897"/>
            </a:avLst>
          </a:prstGeom>
          <a:solidFill>
            <a:schemeClr val="bg2"/>
          </a:solidFill>
          <a:ln w="12700">
            <a:solidFill>
              <a:schemeClr val="bg2"/>
            </a:solidFill>
            <a:prstDash val="solid"/>
          </a:ln>
        </p:spPr>
      </p:sp>
      <p:sp>
        <p:nvSpPr>
          <p:cNvPr id="4" name="icon circle FaDatabase"/>
          <p:cNvSpPr/>
          <p:nvPr/>
        </p:nvSpPr>
        <p:spPr>
          <a:xfrm>
            <a:off x="594360" y="1280160"/>
            <a:ext cx="457200" cy="457200"/>
          </a:xfrm>
          <a:prstGeom prst="ellipse">
            <a:avLst/>
          </a:prstGeom>
          <a:solidFill>
            <a:schemeClr val="accent1"/>
          </a:solidFill>
          <a:ln w="12700">
            <a:solidFill>
              <a:schemeClr val="accent1"/>
            </a:solidFill>
            <a:prstDash val="solid"/>
          </a:ln>
        </p:spPr>
      </p:sp>
      <p:pic>
        <p:nvPicPr>
          <p:cNvPr id="5" name="icon FaDatabase" descr="FaDatabase">    </p:cNvPr>
          <p:cNvPicPr>
            <a:picLocks noChangeAspect="1"/>
          </p:cNvPicPr>
          <p:nvPr/>
        </p:nvPicPr>
        <p:blipFill>
          <a:blip r:embed="rId1"/>
          <a:stretch>
            <a:fillRect/>
          </a:stretch>
        </p:blipFill>
        <p:spPr>
          <a:xfrm>
            <a:off x="713232" y="1399032"/>
            <a:ext cx="219456" cy="219456"/>
          </a:xfrm>
          <a:prstGeom prst="rect">
            <a:avLst/>
          </a:prstGeom>
        </p:spPr>
      </p:pic>
      <p:sp>
        <p:nvSpPr>
          <p:cNvPr id="6" name="Text 3"/>
          <p:cNvSpPr txBox="1"/>
          <p:nvPr/>
        </p:nvSpPr>
        <p:spPr>
          <a:xfrm>
            <a:off x="1170432" y="1280160"/>
            <a:ext cx="1874520" cy="457200"/>
          </a:xfrm>
          <a:prstGeom prst="rect">
            <a:avLst/>
          </a:prstGeom>
          <a:noFill/>
          <a:ln/>
        </p:spPr>
        <p:txBody>
          <a:bodyPr wrap="square" lIns="0" tIns="0" rIns="0" bIns="0" rtlCol="0" anchor="ctr"/>
          <a:lstStyle/>
          <a:p>
            <a:pPr indent="0" marL="0">
              <a:buNone/>
            </a:pPr>
            <a:r>
              <a:rPr lang="en-US" sz="1600" b="1" dirty="0">
                <a:solidFill>
                  <a:schemeClr val="tx1"/>
                </a:solidFill>
              </a:rPr>
              <a:t>One database</a:t>
            </a:r>
            <a:endParaRPr lang="en-US" sz="1600" dirty="0"/>
          </a:p>
        </p:txBody>
      </p:sp>
      <p:sp>
        <p:nvSpPr>
          <p:cNvPr id="7" name="Text 4"/>
          <p:cNvSpPr txBox="1"/>
          <p:nvPr/>
        </p:nvSpPr>
        <p:spPr>
          <a:xfrm>
            <a:off x="594360" y="1856232"/>
            <a:ext cx="2395728" cy="566928"/>
          </a:xfrm>
          <a:prstGeom prst="rect">
            <a:avLst/>
          </a:prstGeom>
          <a:noFill/>
          <a:ln/>
        </p:spPr>
        <p:txBody>
          <a:bodyPr wrap="square" lIns="0" tIns="0" rIns="0" bIns="0" rtlCol="0" anchor="t"/>
          <a:lstStyle/>
          <a:p>
            <a:pPr indent="0" marL="0">
              <a:buNone/>
            </a:pPr>
            <a:r>
              <a:rPr lang="en-US" sz="1400" dirty="0">
                <a:solidFill>
                  <a:schemeClr val="tx2"/>
                </a:solidFill>
              </a:rPr>
              <a:t>All data is kept in one place</a:t>
            </a:r>
            <a:endParaRPr lang="en-US" sz="1400" dirty="0"/>
          </a:p>
        </p:txBody>
      </p:sp>
      <p:sp>
        <p:nvSpPr>
          <p:cNvPr id="8" name="feature card 2"/>
          <p:cNvSpPr/>
          <p:nvPr/>
        </p:nvSpPr>
        <p:spPr>
          <a:xfrm>
            <a:off x="3246120" y="1143000"/>
            <a:ext cx="2651760" cy="1325880"/>
          </a:xfrm>
          <a:prstGeom prst="roundRect">
            <a:avLst>
              <a:gd name="adj" fmla="val 6897"/>
            </a:avLst>
          </a:prstGeom>
          <a:solidFill>
            <a:schemeClr val="bg2"/>
          </a:solidFill>
          <a:ln w="12700">
            <a:solidFill>
              <a:schemeClr val="bg2"/>
            </a:solidFill>
            <a:prstDash val="solid"/>
          </a:ln>
        </p:spPr>
      </p:sp>
      <p:sp>
        <p:nvSpPr>
          <p:cNvPr id="9" name="icon circle FaLayerGroup"/>
          <p:cNvSpPr/>
          <p:nvPr/>
        </p:nvSpPr>
        <p:spPr>
          <a:xfrm>
            <a:off x="3383280" y="1280160"/>
            <a:ext cx="457200" cy="457200"/>
          </a:xfrm>
          <a:prstGeom prst="ellipse">
            <a:avLst/>
          </a:prstGeom>
          <a:solidFill>
            <a:schemeClr val="accent1"/>
          </a:solidFill>
          <a:ln w="12700">
            <a:solidFill>
              <a:schemeClr val="accent1"/>
            </a:solidFill>
            <a:prstDash val="solid"/>
          </a:ln>
        </p:spPr>
      </p:sp>
      <p:pic>
        <p:nvPicPr>
          <p:cNvPr id="10" name="icon FaLayerGroup" descr="FaLayerGroup">    </p:cNvPr>
          <p:cNvPicPr>
            <a:picLocks noChangeAspect="1"/>
          </p:cNvPicPr>
          <p:nvPr/>
        </p:nvPicPr>
        <p:blipFill>
          <a:blip r:embed="rId2"/>
          <a:stretch>
            <a:fillRect/>
          </a:stretch>
        </p:blipFill>
        <p:spPr>
          <a:xfrm>
            <a:off x="3502152" y="1399032"/>
            <a:ext cx="219456" cy="219456"/>
          </a:xfrm>
          <a:prstGeom prst="rect">
            <a:avLst/>
          </a:prstGeom>
        </p:spPr>
      </p:pic>
      <p:sp>
        <p:nvSpPr>
          <p:cNvPr id="11" name="Text 7"/>
          <p:cNvSpPr txBox="1"/>
          <p:nvPr/>
        </p:nvSpPr>
        <p:spPr>
          <a:xfrm>
            <a:off x="3959352" y="1280160"/>
            <a:ext cx="1874520" cy="457200"/>
          </a:xfrm>
          <a:prstGeom prst="rect">
            <a:avLst/>
          </a:prstGeom>
          <a:noFill/>
          <a:ln/>
        </p:spPr>
        <p:txBody>
          <a:bodyPr wrap="square" lIns="0" tIns="0" rIns="0" bIns="0" rtlCol="0" anchor="ctr"/>
          <a:lstStyle/>
          <a:p>
            <a:pPr indent="0" marL="0">
              <a:buNone/>
            </a:pPr>
            <a:r>
              <a:rPr lang="en-US" sz="1600" b="1" dirty="0">
                <a:solidFill>
                  <a:schemeClr val="tx1"/>
                </a:solidFill>
              </a:rPr>
              <a:t>Browse categories</a:t>
            </a:r>
            <a:endParaRPr lang="en-US" sz="1600" dirty="0"/>
          </a:p>
        </p:txBody>
      </p:sp>
      <p:sp>
        <p:nvSpPr>
          <p:cNvPr id="12" name="Text 8"/>
          <p:cNvSpPr txBox="1"/>
          <p:nvPr/>
        </p:nvSpPr>
        <p:spPr>
          <a:xfrm>
            <a:off x="3383280" y="1856232"/>
            <a:ext cx="2395728" cy="566928"/>
          </a:xfrm>
          <a:prstGeom prst="rect">
            <a:avLst/>
          </a:prstGeom>
          <a:noFill/>
          <a:ln/>
        </p:spPr>
        <p:txBody>
          <a:bodyPr wrap="square" lIns="0" tIns="0" rIns="0" bIns="0" rtlCol="0" anchor="t"/>
          <a:lstStyle/>
          <a:p>
            <a:pPr indent="0" marL="0">
              <a:buNone/>
            </a:pPr>
            <a:r>
              <a:rPr lang="en-US" sz="1400" dirty="0">
                <a:solidFill>
                  <a:schemeClr val="tx2"/>
                </a:solidFill>
              </a:rPr>
              <a:t>See each category and open its courses</a:t>
            </a:r>
            <a:endParaRPr lang="en-US" sz="1400" dirty="0"/>
          </a:p>
        </p:txBody>
      </p:sp>
      <p:sp>
        <p:nvSpPr>
          <p:cNvPr id="13" name="feature card 3"/>
          <p:cNvSpPr/>
          <p:nvPr/>
        </p:nvSpPr>
        <p:spPr>
          <a:xfrm>
            <a:off x="6035040" y="1143000"/>
            <a:ext cx="2651760" cy="1325880"/>
          </a:xfrm>
          <a:prstGeom prst="roundRect">
            <a:avLst>
              <a:gd name="adj" fmla="val 6897"/>
            </a:avLst>
          </a:prstGeom>
          <a:solidFill>
            <a:schemeClr val="bg2"/>
          </a:solidFill>
          <a:ln w="12700">
            <a:solidFill>
              <a:schemeClr val="bg2"/>
            </a:solidFill>
            <a:prstDash val="solid"/>
          </a:ln>
        </p:spPr>
      </p:sp>
      <p:sp>
        <p:nvSpPr>
          <p:cNvPr id="14" name="icon circle FaFilter"/>
          <p:cNvSpPr/>
          <p:nvPr/>
        </p:nvSpPr>
        <p:spPr>
          <a:xfrm>
            <a:off x="6172200" y="1280160"/>
            <a:ext cx="457200" cy="457200"/>
          </a:xfrm>
          <a:prstGeom prst="ellipse">
            <a:avLst/>
          </a:prstGeom>
          <a:solidFill>
            <a:schemeClr val="accent1"/>
          </a:solidFill>
          <a:ln w="12700">
            <a:solidFill>
              <a:schemeClr val="accent1"/>
            </a:solidFill>
            <a:prstDash val="solid"/>
          </a:ln>
        </p:spPr>
      </p:sp>
      <p:pic>
        <p:nvPicPr>
          <p:cNvPr id="15" name="icon FaFilter" descr="FaFilter">    </p:cNvPr>
          <p:cNvPicPr>
            <a:picLocks noChangeAspect="1"/>
          </p:cNvPicPr>
          <p:nvPr/>
        </p:nvPicPr>
        <p:blipFill>
          <a:blip r:embed="rId3"/>
          <a:stretch>
            <a:fillRect/>
          </a:stretch>
        </p:blipFill>
        <p:spPr>
          <a:xfrm>
            <a:off x="6291072" y="1399032"/>
            <a:ext cx="219456" cy="219456"/>
          </a:xfrm>
          <a:prstGeom prst="rect">
            <a:avLst/>
          </a:prstGeom>
        </p:spPr>
      </p:pic>
      <p:sp>
        <p:nvSpPr>
          <p:cNvPr id="16" name="Text 11"/>
          <p:cNvSpPr txBox="1"/>
          <p:nvPr/>
        </p:nvSpPr>
        <p:spPr>
          <a:xfrm>
            <a:off x="6748272" y="1280160"/>
            <a:ext cx="1874520" cy="457200"/>
          </a:xfrm>
          <a:prstGeom prst="rect">
            <a:avLst/>
          </a:prstGeom>
          <a:noFill/>
          <a:ln/>
        </p:spPr>
        <p:txBody>
          <a:bodyPr wrap="square" lIns="0" tIns="0" rIns="0" bIns="0" rtlCol="0" anchor="ctr"/>
          <a:lstStyle/>
          <a:p>
            <a:pPr indent="0" marL="0">
              <a:buNone/>
            </a:pPr>
            <a:r>
              <a:rPr lang="en-US" sz="1600" b="1" dirty="0">
                <a:solidFill>
                  <a:schemeClr val="tx1"/>
                </a:solidFill>
              </a:rPr>
              <a:t>Course catalog</a:t>
            </a:r>
            <a:endParaRPr lang="en-US" sz="1600" dirty="0"/>
          </a:p>
        </p:txBody>
      </p:sp>
      <p:sp>
        <p:nvSpPr>
          <p:cNvPr id="17" name="Text 12"/>
          <p:cNvSpPr txBox="1"/>
          <p:nvPr/>
        </p:nvSpPr>
        <p:spPr>
          <a:xfrm>
            <a:off x="6172200" y="1856232"/>
            <a:ext cx="2395728" cy="566928"/>
          </a:xfrm>
          <a:prstGeom prst="rect">
            <a:avLst/>
          </a:prstGeom>
          <a:noFill/>
          <a:ln/>
        </p:spPr>
        <p:txBody>
          <a:bodyPr wrap="square" lIns="0" tIns="0" rIns="0" bIns="0" rtlCol="0" anchor="t"/>
          <a:lstStyle/>
          <a:p>
            <a:pPr indent="0" marL="0">
              <a:buNone/>
            </a:pPr>
            <a:r>
              <a:rPr lang="en-US" sz="1400" dirty="0">
                <a:solidFill>
                  <a:schemeClr val="tx2"/>
                </a:solidFill>
              </a:rPr>
              <a:t>See details and filter by category</a:t>
            </a:r>
            <a:endParaRPr lang="en-US" sz="1400" dirty="0"/>
          </a:p>
        </p:txBody>
      </p:sp>
      <p:sp>
        <p:nvSpPr>
          <p:cNvPr id="18" name="feature card 4"/>
          <p:cNvSpPr/>
          <p:nvPr/>
        </p:nvSpPr>
        <p:spPr>
          <a:xfrm>
            <a:off x="457200" y="2606040"/>
            <a:ext cx="2651760" cy="1325880"/>
          </a:xfrm>
          <a:prstGeom prst="roundRect">
            <a:avLst>
              <a:gd name="adj" fmla="val 6897"/>
            </a:avLst>
          </a:prstGeom>
          <a:solidFill>
            <a:schemeClr val="bg2"/>
          </a:solidFill>
          <a:ln w="12700">
            <a:solidFill>
              <a:schemeClr val="bg2"/>
            </a:solidFill>
            <a:prstDash val="solid"/>
          </a:ln>
        </p:spPr>
      </p:sp>
      <p:sp>
        <p:nvSpPr>
          <p:cNvPr id="19" name="icon circle FaUserPlus"/>
          <p:cNvSpPr/>
          <p:nvPr/>
        </p:nvSpPr>
        <p:spPr>
          <a:xfrm>
            <a:off x="594360" y="2743200"/>
            <a:ext cx="457200" cy="457200"/>
          </a:xfrm>
          <a:prstGeom prst="ellipse">
            <a:avLst/>
          </a:prstGeom>
          <a:solidFill>
            <a:schemeClr val="accent1"/>
          </a:solidFill>
          <a:ln w="12700">
            <a:solidFill>
              <a:schemeClr val="accent1"/>
            </a:solidFill>
            <a:prstDash val="solid"/>
          </a:ln>
        </p:spPr>
      </p:sp>
      <p:pic>
        <p:nvPicPr>
          <p:cNvPr id="20" name="icon FaUserPlus" descr="FaUserPlus">    </p:cNvPr>
          <p:cNvPicPr>
            <a:picLocks noChangeAspect="1"/>
          </p:cNvPicPr>
          <p:nvPr/>
        </p:nvPicPr>
        <p:blipFill>
          <a:blip r:embed="rId4"/>
          <a:stretch>
            <a:fillRect/>
          </a:stretch>
        </p:blipFill>
        <p:spPr>
          <a:xfrm>
            <a:off x="713232" y="2862072"/>
            <a:ext cx="219456" cy="219456"/>
          </a:xfrm>
          <a:prstGeom prst="rect">
            <a:avLst/>
          </a:prstGeom>
        </p:spPr>
      </p:pic>
      <p:sp>
        <p:nvSpPr>
          <p:cNvPr id="21" name="Text 15"/>
          <p:cNvSpPr txBox="1"/>
          <p:nvPr/>
        </p:nvSpPr>
        <p:spPr>
          <a:xfrm>
            <a:off x="1170432" y="2743200"/>
            <a:ext cx="1874520" cy="457200"/>
          </a:xfrm>
          <a:prstGeom prst="rect">
            <a:avLst/>
          </a:prstGeom>
          <a:noFill/>
          <a:ln/>
        </p:spPr>
        <p:txBody>
          <a:bodyPr wrap="square" lIns="0" tIns="0" rIns="0" bIns="0" rtlCol="0" anchor="ctr"/>
          <a:lstStyle/>
          <a:p>
            <a:pPr indent="0" marL="0">
              <a:buNone/>
            </a:pPr>
            <a:r>
              <a:rPr lang="en-US" sz="1600" b="1" dirty="0">
                <a:solidFill>
                  <a:schemeClr val="tx1"/>
                </a:solidFill>
              </a:rPr>
              <a:t>Online enrollment</a:t>
            </a:r>
            <a:endParaRPr lang="en-US" sz="1600" dirty="0"/>
          </a:p>
        </p:txBody>
      </p:sp>
      <p:sp>
        <p:nvSpPr>
          <p:cNvPr id="22" name="Text 16"/>
          <p:cNvSpPr txBox="1"/>
          <p:nvPr/>
        </p:nvSpPr>
        <p:spPr>
          <a:xfrm>
            <a:off x="594360" y="3319272"/>
            <a:ext cx="2395728" cy="566928"/>
          </a:xfrm>
          <a:prstGeom prst="rect">
            <a:avLst/>
          </a:prstGeom>
          <a:noFill/>
          <a:ln/>
        </p:spPr>
        <p:txBody>
          <a:bodyPr wrap="square" lIns="0" tIns="0" rIns="0" bIns="0" rtlCol="0" anchor="t"/>
          <a:lstStyle/>
          <a:p>
            <a:pPr indent="0" marL="0">
              <a:buNone/>
            </a:pPr>
            <a:r>
              <a:rPr lang="en-US" sz="1400" dirty="0">
                <a:solidFill>
                  <a:schemeClr val="tx2"/>
                </a:solidFill>
              </a:rPr>
              <a:t>Fill one simple form to enroll</a:t>
            </a:r>
            <a:endParaRPr lang="en-US" sz="1400" dirty="0"/>
          </a:p>
        </p:txBody>
      </p:sp>
      <p:sp>
        <p:nvSpPr>
          <p:cNvPr id="23" name="feature card 5"/>
          <p:cNvSpPr/>
          <p:nvPr/>
        </p:nvSpPr>
        <p:spPr>
          <a:xfrm>
            <a:off x="3246120" y="2606040"/>
            <a:ext cx="2651760" cy="1325880"/>
          </a:xfrm>
          <a:prstGeom prst="roundRect">
            <a:avLst>
              <a:gd name="adj" fmla="val 6897"/>
            </a:avLst>
          </a:prstGeom>
          <a:solidFill>
            <a:schemeClr val="bg2"/>
          </a:solidFill>
          <a:ln w="12700">
            <a:solidFill>
              <a:schemeClr val="bg2"/>
            </a:solidFill>
            <a:prstDash val="solid"/>
          </a:ln>
        </p:spPr>
      </p:sp>
      <p:sp>
        <p:nvSpPr>
          <p:cNvPr id="24" name="icon circle FaBell"/>
          <p:cNvSpPr/>
          <p:nvPr/>
        </p:nvSpPr>
        <p:spPr>
          <a:xfrm>
            <a:off x="3383280" y="2743200"/>
            <a:ext cx="457200" cy="457200"/>
          </a:xfrm>
          <a:prstGeom prst="ellipse">
            <a:avLst/>
          </a:prstGeom>
          <a:solidFill>
            <a:schemeClr val="accent1"/>
          </a:solidFill>
          <a:ln w="12700">
            <a:solidFill>
              <a:schemeClr val="accent1"/>
            </a:solidFill>
            <a:prstDash val="solid"/>
          </a:ln>
        </p:spPr>
      </p:sp>
      <p:pic>
        <p:nvPicPr>
          <p:cNvPr id="25" name="icon FaBell" descr="FaBell">    </p:cNvPr>
          <p:cNvPicPr>
            <a:picLocks noChangeAspect="1"/>
          </p:cNvPicPr>
          <p:nvPr/>
        </p:nvPicPr>
        <p:blipFill>
          <a:blip r:embed="rId5"/>
          <a:stretch>
            <a:fillRect/>
          </a:stretch>
        </p:blipFill>
        <p:spPr>
          <a:xfrm>
            <a:off x="3502152" y="2862072"/>
            <a:ext cx="219456" cy="219456"/>
          </a:xfrm>
          <a:prstGeom prst="rect">
            <a:avLst/>
          </a:prstGeom>
        </p:spPr>
      </p:pic>
      <p:sp>
        <p:nvSpPr>
          <p:cNvPr id="26" name="Text 19"/>
          <p:cNvSpPr txBox="1"/>
          <p:nvPr/>
        </p:nvSpPr>
        <p:spPr>
          <a:xfrm>
            <a:off x="3959352" y="2743200"/>
            <a:ext cx="1874520" cy="457200"/>
          </a:xfrm>
          <a:prstGeom prst="rect">
            <a:avLst/>
          </a:prstGeom>
          <a:noFill/>
          <a:ln/>
        </p:spPr>
        <p:txBody>
          <a:bodyPr wrap="square" lIns="0" tIns="0" rIns="0" bIns="0" rtlCol="0" anchor="ctr"/>
          <a:lstStyle/>
          <a:p>
            <a:pPr indent="0" marL="0">
              <a:buNone/>
            </a:pPr>
            <a:r>
              <a:rPr lang="en-US" sz="1600" b="1" dirty="0">
                <a:solidFill>
                  <a:schemeClr val="tx1"/>
                </a:solidFill>
              </a:rPr>
              <a:t>Instant message</a:t>
            </a:r>
            <a:endParaRPr lang="en-US" sz="1600" dirty="0"/>
          </a:p>
        </p:txBody>
      </p:sp>
      <p:sp>
        <p:nvSpPr>
          <p:cNvPr id="27" name="Text 20"/>
          <p:cNvSpPr txBox="1"/>
          <p:nvPr/>
        </p:nvSpPr>
        <p:spPr>
          <a:xfrm>
            <a:off x="3383280" y="3319272"/>
            <a:ext cx="2395728" cy="566928"/>
          </a:xfrm>
          <a:prstGeom prst="rect">
            <a:avLst/>
          </a:prstGeom>
          <a:noFill/>
          <a:ln/>
        </p:spPr>
        <p:txBody>
          <a:bodyPr wrap="square" lIns="0" tIns="0" rIns="0" bIns="0" rtlCol="0" anchor="t"/>
          <a:lstStyle/>
          <a:p>
            <a:pPr indent="0" marL="0">
              <a:buNone/>
            </a:pPr>
            <a:r>
              <a:rPr lang="en-US" sz="1400" dirty="0">
                <a:solidFill>
                  <a:schemeClr val="tx2"/>
                </a:solidFill>
              </a:rPr>
              <a:t>Success or error message at once</a:t>
            </a:r>
            <a:endParaRPr lang="en-US" sz="1400" dirty="0"/>
          </a:p>
        </p:txBody>
      </p:sp>
      <p:sp>
        <p:nvSpPr>
          <p:cNvPr id="28" name="feature card 6"/>
          <p:cNvSpPr/>
          <p:nvPr/>
        </p:nvSpPr>
        <p:spPr>
          <a:xfrm>
            <a:off x="6035040" y="2606040"/>
            <a:ext cx="2651760" cy="1325880"/>
          </a:xfrm>
          <a:prstGeom prst="roundRect">
            <a:avLst>
              <a:gd name="adj" fmla="val 6897"/>
            </a:avLst>
          </a:prstGeom>
          <a:solidFill>
            <a:schemeClr val="bg2"/>
          </a:solidFill>
          <a:ln w="12700">
            <a:solidFill>
              <a:schemeClr val="bg2"/>
            </a:solidFill>
            <a:prstDash val="solid"/>
          </a:ln>
        </p:spPr>
      </p:sp>
      <p:sp>
        <p:nvSpPr>
          <p:cNvPr id="29" name="icon circle FaChartBar"/>
          <p:cNvSpPr/>
          <p:nvPr/>
        </p:nvSpPr>
        <p:spPr>
          <a:xfrm>
            <a:off x="6172200" y="2743200"/>
            <a:ext cx="457200" cy="457200"/>
          </a:xfrm>
          <a:prstGeom prst="ellipse">
            <a:avLst/>
          </a:prstGeom>
          <a:solidFill>
            <a:schemeClr val="accent1"/>
          </a:solidFill>
          <a:ln w="12700">
            <a:solidFill>
              <a:schemeClr val="accent1"/>
            </a:solidFill>
            <a:prstDash val="solid"/>
          </a:ln>
        </p:spPr>
      </p:sp>
      <p:pic>
        <p:nvPicPr>
          <p:cNvPr id="30" name="icon FaChartBar" descr="FaChartBar">    </p:cNvPr>
          <p:cNvPicPr>
            <a:picLocks noChangeAspect="1"/>
          </p:cNvPicPr>
          <p:nvPr/>
        </p:nvPicPr>
        <p:blipFill>
          <a:blip r:embed="rId6"/>
          <a:stretch>
            <a:fillRect/>
          </a:stretch>
        </p:blipFill>
        <p:spPr>
          <a:xfrm>
            <a:off x="6291072" y="2862072"/>
            <a:ext cx="219456" cy="219456"/>
          </a:xfrm>
          <a:prstGeom prst="rect">
            <a:avLst/>
          </a:prstGeom>
        </p:spPr>
      </p:pic>
      <p:sp>
        <p:nvSpPr>
          <p:cNvPr id="31" name="Text 23"/>
          <p:cNvSpPr txBox="1"/>
          <p:nvPr/>
        </p:nvSpPr>
        <p:spPr>
          <a:xfrm>
            <a:off x="6748272" y="2743200"/>
            <a:ext cx="1874520" cy="457200"/>
          </a:xfrm>
          <a:prstGeom prst="rect">
            <a:avLst/>
          </a:prstGeom>
          <a:noFill/>
          <a:ln/>
        </p:spPr>
        <p:txBody>
          <a:bodyPr wrap="square" lIns="0" tIns="0" rIns="0" bIns="0" rtlCol="0" anchor="ctr"/>
          <a:lstStyle/>
          <a:p>
            <a:pPr indent="0" marL="0">
              <a:buNone/>
            </a:pPr>
            <a:r>
              <a:rPr lang="en-US" sz="1600" b="1" dirty="0">
                <a:solidFill>
                  <a:schemeClr val="tx1"/>
                </a:solidFill>
              </a:rPr>
              <a:t>Dashboard</a:t>
            </a:r>
            <a:endParaRPr lang="en-US" sz="1600" dirty="0"/>
          </a:p>
        </p:txBody>
      </p:sp>
      <p:sp>
        <p:nvSpPr>
          <p:cNvPr id="32" name="Text 24"/>
          <p:cNvSpPr txBox="1"/>
          <p:nvPr/>
        </p:nvSpPr>
        <p:spPr>
          <a:xfrm>
            <a:off x="6172200" y="3319272"/>
            <a:ext cx="2395728" cy="566928"/>
          </a:xfrm>
          <a:prstGeom prst="rect">
            <a:avLst/>
          </a:prstGeom>
          <a:noFill/>
          <a:ln/>
        </p:spPr>
        <p:txBody>
          <a:bodyPr wrap="square" lIns="0" tIns="0" rIns="0" bIns="0" rtlCol="0" anchor="t"/>
          <a:lstStyle/>
          <a:p>
            <a:pPr indent="0" marL="0">
              <a:buNone/>
            </a:pPr>
            <a:r>
              <a:rPr lang="en-US" sz="1400" dirty="0">
                <a:solidFill>
                  <a:schemeClr val="tx2"/>
                </a:solidFill>
              </a:rPr>
              <a:t>Staff see figures and latest requests</a:t>
            </a:r>
            <a:endParaRPr lang="en-US" sz="1400" dirty="0"/>
          </a:p>
        </p:txBody>
      </p:sp>
      <p:sp>
        <p:nvSpPr>
          <p:cNvPr id="33" name="also strip"/>
          <p:cNvSpPr/>
          <p:nvPr/>
        </p:nvSpPr>
        <p:spPr>
          <a:xfrm>
            <a:off x="457200" y="4114800"/>
            <a:ext cx="8229600" cy="548640"/>
          </a:xfrm>
          <a:prstGeom prst="roundRect">
            <a:avLst>
              <a:gd name="adj" fmla="val 16667"/>
            </a:avLst>
          </a:prstGeom>
          <a:solidFill>
            <a:schemeClr val="accent5"/>
          </a:solidFill>
          <a:ln w="12700">
            <a:solidFill>
              <a:schemeClr val="accent5"/>
            </a:solidFill>
            <a:prstDash val="solid"/>
          </a:ln>
        </p:spPr>
      </p:sp>
      <p:sp>
        <p:nvSpPr>
          <p:cNvPr id="34" name="Text 26"/>
          <p:cNvSpPr txBox="1"/>
          <p:nvPr/>
        </p:nvSpPr>
        <p:spPr>
          <a:xfrm>
            <a:off x="640080" y="4114800"/>
            <a:ext cx="7863840" cy="548640"/>
          </a:xfrm>
          <a:prstGeom prst="rect">
            <a:avLst/>
          </a:prstGeom>
          <a:noFill/>
          <a:ln/>
        </p:spPr>
        <p:txBody>
          <a:bodyPr wrap="square" lIns="0" tIns="0" rIns="0" bIns="0" rtlCol="0" anchor="ctr"/>
          <a:lstStyle/>
          <a:p>
            <a:pPr indent="0" marL="0">
              <a:buNone/>
            </a:pPr>
            <a:r>
              <a:rPr lang="en-US" sz="1600" b="1" dirty="0">
                <a:solidFill>
                  <a:schemeClr val="bg1"/>
                </a:solidFill>
              </a:rPr>
              <a:t>Also: login page  |  automatic database setup  |  works on desktop and mobile</a:t>
            </a:r>
            <a:endParaRPr lang="en-US" sz="16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Technologies Used</a:t>
            </a:r>
            <a:endParaRPr lang="en-US" sz="3200" dirty="0"/>
          </a:p>
        </p:txBody>
      </p:sp>
      <p:graphicFrame>
        <p:nvGraphicFramePr>
          <p:cNvPr id="8" name="technology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834640"/>
                <a:gridCol w="5394960"/>
              </a:tblGrid>
              <a:tr h="393192">
                <a:tc>
                  <a:txBody>
                    <a:bodyPr/>
                    <a:lstStyle/>
                    <a:p>
                      <a:pPr indent="0" marL="0">
                        <a:buNone/>
                      </a:pPr>
                      <a:r>
                        <a:rPr lang="en-US" sz="1500" b="1" dirty="0">
                          <a:solidFill>
                            <a:srgbClr val="FFFFFF"/>
                          </a:solidFill>
                        </a:rPr>
                        <a:t>Technology</a:t>
                      </a:r>
                      <a:endParaRPr lang="en-US" sz="15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338CA"/>
                    </a:solidFill>
                  </a:tcPr>
                </a:tc>
                <a:tc>
                  <a:txBody>
                    <a:bodyPr/>
                    <a:lstStyle/>
                    <a:p>
                      <a:pPr indent="0" marL="0">
                        <a:buNone/>
                      </a:pPr>
                      <a:r>
                        <a:rPr lang="en-US" sz="1500" b="1" dirty="0">
                          <a:solidFill>
                            <a:srgbClr val="FFFFFF"/>
                          </a:solidFill>
                        </a:rPr>
                        <a:t>What it is used for</a:t>
                      </a:r>
                      <a:endParaRPr lang="en-US" sz="15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338CA"/>
                    </a:solidFill>
                  </a:tcPr>
                </a:tc>
              </a:tr>
              <a:tr h="393192">
                <a:tc>
                  <a:txBody>
                    <a:bodyPr/>
                    <a:lstStyle/>
                    <a:p>
                      <a:pPr indent="0" marL="0">
                        <a:buNone/>
                      </a:pPr>
                      <a:r>
                        <a:rPr lang="en-US" sz="1400" b="1" dirty="0">
                          <a:solidFill>
                            <a:srgbClr val="0F172A"/>
                          </a:solidFill>
                        </a:rPr>
                        <a:t>Python</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4FF"/>
                    </a:solidFill>
                  </a:tcPr>
                </a:tc>
                <a:tc>
                  <a:txBody>
                    <a:bodyPr/>
                    <a:lstStyle/>
                    <a:p>
                      <a:pPr indent="0" marL="0">
                        <a:buNone/>
                      </a:pPr>
                      <a:r>
                        <a:rPr lang="en-US" sz="1400" dirty="0">
                          <a:solidFill>
                            <a:srgbClr val="0F172A"/>
                          </a:solidFill>
                        </a:rPr>
                        <a:t>Main programming language</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4FF"/>
                    </a:solidFill>
                  </a:tcPr>
                </a:tc>
              </a:tr>
              <a:tr h="393192">
                <a:tc>
                  <a:txBody>
                    <a:bodyPr/>
                    <a:lstStyle/>
                    <a:p>
                      <a:pPr indent="0" marL="0">
                        <a:buNone/>
                      </a:pPr>
                      <a:r>
                        <a:rPr lang="en-US" sz="1400" b="1" dirty="0">
                          <a:solidFill>
                            <a:srgbClr val="0F172A"/>
                          </a:solidFill>
                        </a:rPr>
                        <a:t>FastAPI and Pydantic</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0F172A"/>
                          </a:solidFill>
                        </a:rPr>
                        <a:t>Backend: handles pages, forms and data model</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93192">
                <a:tc>
                  <a:txBody>
                    <a:bodyPr/>
                    <a:lstStyle/>
                    <a:p>
                      <a:pPr indent="0" marL="0">
                        <a:buNone/>
                      </a:pPr>
                      <a:r>
                        <a:rPr lang="en-US" sz="1400" b="1" dirty="0">
                          <a:solidFill>
                            <a:srgbClr val="0F172A"/>
                          </a:solidFill>
                        </a:rPr>
                        <a:t>Jinja2</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4FF"/>
                    </a:solidFill>
                  </a:tcPr>
                </a:tc>
                <a:tc>
                  <a:txBody>
                    <a:bodyPr/>
                    <a:lstStyle/>
                    <a:p>
                      <a:pPr indent="0" marL="0">
                        <a:buNone/>
                      </a:pPr>
                      <a:r>
                        <a:rPr lang="en-US" sz="1400" dirty="0">
                          <a:solidFill>
                            <a:srgbClr val="0F172A"/>
                          </a:solidFill>
                        </a:rPr>
                        <a:t>Puts database data into HTML pages</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4FF"/>
                    </a:solidFill>
                  </a:tcPr>
                </a:tc>
              </a:tr>
              <a:tr h="393192">
                <a:tc>
                  <a:txBody>
                    <a:bodyPr/>
                    <a:lstStyle/>
                    <a:p>
                      <a:pPr indent="0" marL="0">
                        <a:buNone/>
                      </a:pPr>
                      <a:r>
                        <a:rPr lang="en-US" sz="1400" b="1" dirty="0">
                          <a:solidFill>
                            <a:srgbClr val="0F172A"/>
                          </a:solidFill>
                        </a:rPr>
                        <a:t>Uvicorn</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0F172A"/>
                          </a:solidFill>
                        </a:rPr>
                        <a:t>Server that runs the application</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93192">
                <a:tc>
                  <a:txBody>
                    <a:bodyPr/>
                    <a:lstStyle/>
                    <a:p>
                      <a:pPr indent="0" marL="0">
                        <a:buNone/>
                      </a:pPr>
                      <a:r>
                        <a:rPr lang="en-US" sz="1400" b="1" dirty="0">
                          <a:solidFill>
                            <a:srgbClr val="0F172A"/>
                          </a:solidFill>
                        </a:rPr>
                        <a:t>HTML, CSS, JavaScript</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4FF"/>
                    </a:solidFill>
                  </a:tcPr>
                </a:tc>
                <a:tc>
                  <a:txBody>
                    <a:bodyPr/>
                    <a:lstStyle/>
                    <a:p>
                      <a:pPr indent="0" marL="0">
                        <a:buNone/>
                      </a:pPr>
                      <a:r>
                        <a:rPr lang="en-US" sz="1400" dirty="0">
                          <a:solidFill>
                            <a:srgbClr val="0F172A"/>
                          </a:solidFill>
                        </a:rPr>
                        <a:t>Page structure, design and footer year</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4FF"/>
                    </a:solidFill>
                  </a:tcPr>
                </a:tc>
              </a:tr>
              <a:tr h="393192">
                <a:tc>
                  <a:txBody>
                    <a:bodyPr/>
                    <a:lstStyle/>
                    <a:p>
                      <a:pPr indent="0" marL="0">
                        <a:buNone/>
                      </a:pPr>
                      <a:r>
                        <a:rPr lang="en-US" sz="1400" b="1" dirty="0">
                          <a:solidFill>
                            <a:srgbClr val="0F172A"/>
                          </a:solidFill>
                        </a:rPr>
                        <a:t>MySQL</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0F172A"/>
                          </a:solidFill>
                        </a:rPr>
                        <a:t>Database that stores the data</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93192">
                <a:tc>
                  <a:txBody>
                    <a:bodyPr/>
                    <a:lstStyle/>
                    <a:p>
                      <a:pPr indent="0" marL="0">
                        <a:buNone/>
                      </a:pPr>
                      <a:r>
                        <a:rPr lang="en-US" sz="1400" b="1" dirty="0">
                          <a:solidFill>
                            <a:srgbClr val="0F172A"/>
                          </a:solidFill>
                        </a:rPr>
                        <a:t>mysql-connector-python</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4FF"/>
                    </a:solidFill>
                  </a:tcPr>
                </a:tc>
                <a:tc>
                  <a:txBody>
                    <a:bodyPr/>
                    <a:lstStyle/>
                    <a:p>
                      <a:pPr indent="0" marL="0">
                        <a:buNone/>
                      </a:pPr>
                      <a:r>
                        <a:rPr lang="en-US" sz="1400" dirty="0">
                          <a:solidFill>
                            <a:srgbClr val="0F172A"/>
                          </a:solidFill>
                        </a:rPr>
                        <a:t>Connects Python to MySQL</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4FF"/>
                    </a:solidFill>
                  </a:tcPr>
                </a:tc>
              </a:tr>
              <a:tr h="393192">
                <a:tc>
                  <a:txBody>
                    <a:bodyPr/>
                    <a:lstStyle/>
                    <a:p>
                      <a:pPr indent="0" marL="0">
                        <a:buNone/>
                      </a:pPr>
                      <a:r>
                        <a:rPr lang="en-US" sz="1400" b="1" dirty="0">
                          <a:solidFill>
                            <a:srgbClr val="0F172A"/>
                          </a:solidFill>
                        </a:rPr>
                        <a:t>VS Code, MySQL Workbench</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0F172A"/>
                          </a:solidFill>
                        </a:rPr>
                        <a:t>Tools to write code and check the data</a:t>
                      </a:r>
                      <a:endParaRPr lang="en-US" sz="1400" dirty="0"/>
                    </a:p>
                  </a:txBody>
                  <a:tcPr marL="109728" marR="109728" marT="27432" marB="27432"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Requirements</a:t>
            </a:r>
            <a:endParaRPr lang="en-US" sz="3200" dirty="0"/>
          </a:p>
        </p:txBody>
      </p:sp>
      <p:sp>
        <p:nvSpPr>
          <p:cNvPr id="3" name="users card"/>
          <p:cNvSpPr/>
          <p:nvPr/>
        </p:nvSpPr>
        <p:spPr>
          <a:xfrm>
            <a:off x="457200" y="1143000"/>
            <a:ext cx="4023360" cy="3474720"/>
          </a:xfrm>
          <a:prstGeom prst="roundRect">
            <a:avLst>
              <a:gd name="adj" fmla="val 2632"/>
            </a:avLst>
          </a:prstGeom>
          <a:solidFill>
            <a:schemeClr val="bg2"/>
          </a:solidFill>
          <a:ln w="12700">
            <a:solidFill>
              <a:schemeClr val="bg2"/>
            </a:solidFill>
            <a:prstDash val="solid"/>
          </a:ln>
        </p:spPr>
      </p:sp>
      <p:sp>
        <p:nvSpPr>
          <p:cNvPr id="4" name="Text 2"/>
          <p:cNvSpPr txBox="1"/>
          <p:nvPr/>
        </p:nvSpPr>
        <p:spPr>
          <a:xfrm>
            <a:off x="640080" y="1261872"/>
            <a:ext cx="3657600" cy="365760"/>
          </a:xfrm>
          <a:prstGeom prst="rect">
            <a:avLst/>
          </a:prstGeom>
          <a:noFill/>
          <a:ln/>
        </p:spPr>
        <p:txBody>
          <a:bodyPr wrap="square" lIns="0" tIns="0" rIns="0" bIns="0" rtlCol="0" anchor="t"/>
          <a:lstStyle/>
          <a:p>
            <a:pPr indent="0" marL="0">
              <a:buNone/>
            </a:pPr>
            <a:r>
              <a:rPr lang="en-US" sz="2000" b="1" dirty="0">
                <a:solidFill>
                  <a:schemeClr val="accent5"/>
                </a:solidFill>
              </a:rPr>
              <a:t>Who uses it</a:t>
            </a:r>
            <a:endParaRPr lang="en-US" sz="2000" dirty="0"/>
          </a:p>
        </p:txBody>
      </p:sp>
      <p:sp>
        <p:nvSpPr>
          <p:cNvPr id="5" name="icon circle FaUserGraduate"/>
          <p:cNvSpPr/>
          <p:nvPr/>
        </p:nvSpPr>
        <p:spPr>
          <a:xfrm>
            <a:off x="640080" y="1828800"/>
            <a:ext cx="502920" cy="502920"/>
          </a:xfrm>
          <a:prstGeom prst="ellipse">
            <a:avLst/>
          </a:prstGeom>
          <a:solidFill>
            <a:schemeClr val="accent1"/>
          </a:solidFill>
          <a:ln w="12700">
            <a:solidFill>
              <a:schemeClr val="accent1"/>
            </a:solidFill>
            <a:prstDash val="solid"/>
          </a:ln>
        </p:spPr>
      </p:sp>
      <p:pic>
        <p:nvPicPr>
          <p:cNvPr id="6" name="icon FaUserGraduate" descr="FaUserGraduate">    </p:cNvPr>
          <p:cNvPicPr>
            <a:picLocks noChangeAspect="1"/>
          </p:cNvPicPr>
          <p:nvPr/>
        </p:nvPicPr>
        <p:blipFill>
          <a:blip r:embed="rId1"/>
          <a:stretch>
            <a:fillRect/>
          </a:stretch>
        </p:blipFill>
        <p:spPr>
          <a:xfrm>
            <a:off x="770839" y="1959559"/>
            <a:ext cx="241402" cy="241402"/>
          </a:xfrm>
          <a:prstGeom prst="rect">
            <a:avLst/>
          </a:prstGeom>
        </p:spPr>
      </p:pic>
      <p:sp>
        <p:nvSpPr>
          <p:cNvPr id="7" name="Text 4"/>
          <p:cNvSpPr txBox="1"/>
          <p:nvPr/>
        </p:nvSpPr>
        <p:spPr>
          <a:xfrm>
            <a:off x="1280160" y="1783080"/>
            <a:ext cx="3108960" cy="1005840"/>
          </a:xfrm>
          <a:prstGeom prst="rect">
            <a:avLst/>
          </a:prstGeom>
          <a:noFill/>
          <a:ln/>
        </p:spPr>
        <p:txBody>
          <a:bodyPr wrap="square" lIns="0" tIns="0" rIns="0" bIns="0" rtlCol="0" anchor="t"/>
          <a:lstStyle/>
          <a:p>
            <a:pPr indent="0" marL="0">
              <a:buNone/>
            </a:pPr>
            <a:r>
              <a:rPr lang="en-US" sz="1800" b="1" dirty="0">
                <a:solidFill>
                  <a:schemeClr val="tx1"/>
                </a:solidFill>
              </a:rPr>
              <a:t>Learner</a:t>
            </a:r>
            <a:endParaRPr lang="en-US" sz="1600" dirty="0"/>
          </a:p>
          <a:p>
            <a:pPr indent="0" marL="0">
              <a:buNone/>
            </a:pPr>
            <a:r>
              <a:rPr lang="en-US" sz="1600" dirty="0">
                <a:solidFill>
                  <a:schemeClr val="tx1"/>
                </a:solidFill>
              </a:rPr>
              <a:t>Sees categories and courses, filters them, enrolls online</a:t>
            </a:r>
            <a:endParaRPr lang="en-US" sz="1600" dirty="0"/>
          </a:p>
        </p:txBody>
      </p:sp>
      <p:sp>
        <p:nvSpPr>
          <p:cNvPr id="8" name="icon circle FaUserShield"/>
          <p:cNvSpPr/>
          <p:nvPr/>
        </p:nvSpPr>
        <p:spPr>
          <a:xfrm>
            <a:off x="640080" y="3017520"/>
            <a:ext cx="502920" cy="502920"/>
          </a:xfrm>
          <a:prstGeom prst="ellipse">
            <a:avLst/>
          </a:prstGeom>
          <a:solidFill>
            <a:schemeClr val="accent2"/>
          </a:solidFill>
          <a:ln w="12700">
            <a:solidFill>
              <a:schemeClr val="accent2"/>
            </a:solidFill>
            <a:prstDash val="solid"/>
          </a:ln>
        </p:spPr>
      </p:sp>
      <p:pic>
        <p:nvPicPr>
          <p:cNvPr id="9" name="icon FaUserShield" descr="FaUserShield">    </p:cNvPr>
          <p:cNvPicPr>
            <a:picLocks noChangeAspect="1"/>
          </p:cNvPicPr>
          <p:nvPr/>
        </p:nvPicPr>
        <p:blipFill>
          <a:blip r:embed="rId2"/>
          <a:stretch>
            <a:fillRect/>
          </a:stretch>
        </p:blipFill>
        <p:spPr>
          <a:xfrm>
            <a:off x="770839" y="3148279"/>
            <a:ext cx="241402" cy="241402"/>
          </a:xfrm>
          <a:prstGeom prst="rect">
            <a:avLst/>
          </a:prstGeom>
        </p:spPr>
      </p:pic>
      <p:sp>
        <p:nvSpPr>
          <p:cNvPr id="10" name="Text 6"/>
          <p:cNvSpPr txBox="1"/>
          <p:nvPr/>
        </p:nvSpPr>
        <p:spPr>
          <a:xfrm>
            <a:off x="1280160" y="2971800"/>
            <a:ext cx="3108960" cy="1097280"/>
          </a:xfrm>
          <a:prstGeom prst="rect">
            <a:avLst/>
          </a:prstGeom>
          <a:noFill/>
          <a:ln/>
        </p:spPr>
        <p:txBody>
          <a:bodyPr wrap="square" lIns="0" tIns="0" rIns="0" bIns="0" rtlCol="0" anchor="t"/>
          <a:lstStyle/>
          <a:p>
            <a:pPr indent="0" marL="0">
              <a:buNone/>
            </a:pPr>
            <a:r>
              <a:rPr lang="en-US" sz="1800" b="1" dirty="0">
                <a:solidFill>
                  <a:schemeClr val="tx1"/>
                </a:solidFill>
              </a:rPr>
              <a:t>Staff (Administrator)</a:t>
            </a:r>
            <a:endParaRPr lang="en-US" sz="1600" dirty="0"/>
          </a:p>
          <a:p>
            <a:pPr indent="0" marL="0">
              <a:buNone/>
            </a:pPr>
            <a:r>
              <a:rPr lang="en-US" sz="1600" dirty="0">
                <a:solidFill>
                  <a:schemeClr val="tx1"/>
                </a:solidFill>
              </a:rPr>
              <a:t>Sees figures, courses and the latest enrollment requests</a:t>
            </a:r>
            <a:endParaRPr lang="en-US" sz="1600" dirty="0"/>
          </a:p>
        </p:txBody>
      </p:sp>
      <p:sp>
        <p:nvSpPr>
          <p:cNvPr id="11" name="software card"/>
          <p:cNvSpPr/>
          <p:nvPr/>
        </p:nvSpPr>
        <p:spPr>
          <a:xfrm>
            <a:off x="4663440" y="1143000"/>
            <a:ext cx="4023360" cy="3474720"/>
          </a:xfrm>
          <a:prstGeom prst="roundRect">
            <a:avLst>
              <a:gd name="adj" fmla="val 2632"/>
            </a:avLst>
          </a:prstGeom>
          <a:solidFill>
            <a:schemeClr val="bg2"/>
          </a:solidFill>
          <a:ln w="12700">
            <a:solidFill>
              <a:schemeClr val="bg2"/>
            </a:solidFill>
            <a:prstDash val="solid"/>
          </a:ln>
        </p:spPr>
      </p:sp>
      <p:sp>
        <p:nvSpPr>
          <p:cNvPr id="12" name="Text 8"/>
          <p:cNvSpPr txBox="1"/>
          <p:nvPr/>
        </p:nvSpPr>
        <p:spPr>
          <a:xfrm>
            <a:off x="4846320" y="1261872"/>
            <a:ext cx="3657600" cy="365760"/>
          </a:xfrm>
          <a:prstGeom prst="rect">
            <a:avLst/>
          </a:prstGeom>
          <a:noFill/>
          <a:ln/>
        </p:spPr>
        <p:txBody>
          <a:bodyPr wrap="square" lIns="0" tIns="0" rIns="0" bIns="0" rtlCol="0" anchor="t"/>
          <a:lstStyle/>
          <a:p>
            <a:pPr indent="0" marL="0">
              <a:buNone/>
            </a:pPr>
            <a:r>
              <a:rPr lang="en-US" sz="2000" b="1" dirty="0">
                <a:solidFill>
                  <a:schemeClr val="accent5"/>
                </a:solidFill>
              </a:rPr>
              <a:t>Software needed</a:t>
            </a:r>
            <a:endParaRPr lang="en-US" sz="2000" dirty="0"/>
          </a:p>
        </p:txBody>
      </p:sp>
      <p:sp>
        <p:nvSpPr>
          <p:cNvPr id="13" name="Text 9"/>
          <p:cNvSpPr txBox="1"/>
          <p:nvPr/>
        </p:nvSpPr>
        <p:spPr>
          <a:xfrm>
            <a:off x="4846320" y="1737360"/>
            <a:ext cx="3657600" cy="27889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Python with a virtual environment</a:t>
            </a:r>
            <a:endParaRPr lang="en-US" sz="1700" dirty="0"/>
          </a:p>
          <a:p>
            <a:pPr marL="342900" indent="-342900">
              <a:spcAft>
                <a:spcPts val="800"/>
              </a:spcAft>
              <a:buSzPct val="100000"/>
              <a:buChar char="•"/>
            </a:pPr>
            <a:r>
              <a:rPr lang="en-US" sz="1700" dirty="0">
                <a:solidFill>
                  <a:schemeClr val="tx1"/>
                </a:solidFill>
              </a:rPr>
              <a:t>FastAPI, Uvicorn, Jinja2, Pydantic, mysql-connector-python</a:t>
            </a:r>
            <a:endParaRPr lang="en-US" sz="1700" dirty="0"/>
          </a:p>
          <a:p>
            <a:pPr marL="342900" indent="-342900">
              <a:spcAft>
                <a:spcPts val="800"/>
              </a:spcAft>
              <a:buSzPct val="100000"/>
              <a:buChar char="•"/>
            </a:pPr>
            <a:r>
              <a:rPr lang="en-US" sz="1700" dirty="0">
                <a:solidFill>
                  <a:schemeClr val="tx1"/>
                </a:solidFill>
              </a:rPr>
              <a:t>MySQL Server and MySQL Workbench</a:t>
            </a:r>
            <a:endParaRPr lang="en-US" sz="1700" dirty="0"/>
          </a:p>
          <a:p>
            <a:pPr marL="342900" indent="-342900">
              <a:spcAft>
                <a:spcPts val="800"/>
              </a:spcAft>
              <a:buSzPct val="100000"/>
              <a:buChar char="•"/>
            </a:pPr>
            <a:r>
              <a:rPr lang="en-US" sz="1700" dirty="0">
                <a:solidFill>
                  <a:schemeClr val="tx1"/>
                </a:solidFill>
              </a:rPr>
              <a:t>Visual Studio Code</a:t>
            </a:r>
            <a:endParaRPr lang="en-US" sz="1700" dirty="0"/>
          </a:p>
          <a:p>
            <a:pPr marL="342900" indent="-342900">
              <a:spcAft>
                <a:spcPts val="800"/>
              </a:spcAft>
              <a:buSzPct val="100000"/>
              <a:buChar char="•"/>
            </a:pPr>
            <a:r>
              <a:rPr lang="en-US" sz="1700" dirty="0">
                <a:solidFill>
                  <a:schemeClr val="tx1"/>
                </a:solidFill>
              </a:rPr>
              <a:t>A web browser</a:t>
            </a:r>
            <a:endParaRPr lang="en-US" sz="17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System Architecture</a:t>
            </a:r>
            <a:endParaRPr lang="en-US" sz="3200" dirty="0"/>
          </a:p>
        </p:txBody>
      </p:sp>
      <p:sp>
        <p:nvSpPr>
          <p:cNvPr id="3" name="tier 1"/>
          <p:cNvSpPr/>
          <p:nvPr/>
        </p:nvSpPr>
        <p:spPr>
          <a:xfrm>
            <a:off x="457200" y="1188720"/>
            <a:ext cx="2103120" cy="2468880"/>
          </a:xfrm>
          <a:prstGeom prst="roundRect">
            <a:avLst>
              <a:gd name="adj" fmla="val 4348"/>
            </a:avLst>
          </a:prstGeom>
          <a:solidFill>
            <a:schemeClr val="bg2"/>
          </a:solidFill>
          <a:ln w="12700">
            <a:solidFill>
              <a:schemeClr val="bg2"/>
            </a:solidFill>
            <a:prstDash val="solid"/>
          </a:ln>
        </p:spPr>
      </p:sp>
      <p:sp>
        <p:nvSpPr>
          <p:cNvPr id="4" name="tier header 1"/>
          <p:cNvSpPr/>
          <p:nvPr/>
        </p:nvSpPr>
        <p:spPr>
          <a:xfrm>
            <a:off x="457200" y="1188720"/>
            <a:ext cx="2103120" cy="502920"/>
          </a:xfrm>
          <a:prstGeom prst="roundRect">
            <a:avLst>
              <a:gd name="adj" fmla="val 18182"/>
            </a:avLst>
          </a:prstGeom>
          <a:solidFill>
            <a:schemeClr val="accent1"/>
          </a:solidFill>
          <a:ln w="12700">
            <a:solidFill>
              <a:schemeClr val="accent1"/>
            </a:solidFill>
            <a:prstDash val="solid"/>
          </a:ln>
        </p:spPr>
      </p:sp>
      <p:sp>
        <p:nvSpPr>
          <p:cNvPr id="5" name="Text 3"/>
          <p:cNvSpPr txBox="1"/>
          <p:nvPr/>
        </p:nvSpPr>
        <p:spPr>
          <a:xfrm>
            <a:off x="502920" y="1188720"/>
            <a:ext cx="2011680" cy="502920"/>
          </a:xfrm>
          <a:prstGeom prst="rect">
            <a:avLst/>
          </a:prstGeom>
          <a:noFill/>
          <a:ln/>
        </p:spPr>
        <p:txBody>
          <a:bodyPr wrap="square" lIns="0" tIns="0" rIns="0" bIns="0" rtlCol="0" anchor="ctr"/>
          <a:lstStyle/>
          <a:p>
            <a:pPr algn="ctr" indent="0" marL="0">
              <a:buNone/>
            </a:pPr>
            <a:r>
              <a:rPr lang="en-US" sz="1600" b="1" dirty="0">
                <a:solidFill>
                  <a:schemeClr val="bg1"/>
                </a:solidFill>
              </a:rPr>
              <a:t>Presentation Layer</a:t>
            </a:r>
            <a:endParaRPr lang="en-US" sz="1600" dirty="0"/>
          </a:p>
        </p:txBody>
      </p:sp>
      <p:sp>
        <p:nvSpPr>
          <p:cNvPr id="6" name="Text 4"/>
          <p:cNvSpPr txBox="1"/>
          <p:nvPr/>
        </p:nvSpPr>
        <p:spPr>
          <a:xfrm>
            <a:off x="594360" y="1828800"/>
            <a:ext cx="1874520" cy="1783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HTML pages</a:t>
            </a:r>
            <a:endParaRPr lang="en-US" sz="1500" dirty="0"/>
          </a:p>
          <a:p>
            <a:pPr marL="342900" indent="-342900">
              <a:spcAft>
                <a:spcPts val="800"/>
              </a:spcAft>
              <a:buSzPct val="100000"/>
              <a:buChar char="•"/>
            </a:pPr>
            <a:r>
              <a:rPr lang="en-US" sz="1500" dirty="0">
                <a:solidFill>
                  <a:schemeClr val="tx1"/>
                </a:solidFill>
              </a:rPr>
              <a:t>CSS design</a:t>
            </a:r>
            <a:endParaRPr lang="en-US" sz="1500" dirty="0"/>
          </a:p>
          <a:p>
            <a:pPr marL="342900" indent="-342900">
              <a:spcAft>
                <a:spcPts val="800"/>
              </a:spcAft>
              <a:buSzPct val="100000"/>
              <a:buChar char="•"/>
            </a:pPr>
            <a:r>
              <a:rPr lang="en-US" sz="1500" dirty="0">
                <a:solidFill>
                  <a:schemeClr val="tx1"/>
                </a:solidFill>
              </a:rPr>
              <a:t>JavaScript</a:t>
            </a:r>
            <a:endParaRPr lang="en-US" sz="1500" dirty="0"/>
          </a:p>
          <a:p>
            <a:pPr marL="342900" indent="-342900">
              <a:spcAft>
                <a:spcPts val="800"/>
              </a:spcAft>
              <a:buSzPct val="100000"/>
              <a:buChar char="•"/>
            </a:pPr>
            <a:r>
              <a:rPr lang="en-US" sz="1500" dirty="0">
                <a:solidFill>
                  <a:schemeClr val="tx1"/>
                </a:solidFill>
              </a:rPr>
              <a:t>Seen in the browser</a:t>
            </a:r>
            <a:endParaRPr lang="en-US" sz="1500" dirty="0"/>
          </a:p>
        </p:txBody>
      </p:sp>
      <p:sp>
        <p:nvSpPr>
          <p:cNvPr id="7" name="tier 2"/>
          <p:cNvSpPr/>
          <p:nvPr/>
        </p:nvSpPr>
        <p:spPr>
          <a:xfrm>
            <a:off x="3520440" y="1188720"/>
            <a:ext cx="2103120" cy="2468880"/>
          </a:xfrm>
          <a:prstGeom prst="roundRect">
            <a:avLst>
              <a:gd name="adj" fmla="val 4348"/>
            </a:avLst>
          </a:prstGeom>
          <a:solidFill>
            <a:schemeClr val="bg2"/>
          </a:solidFill>
          <a:ln w="12700">
            <a:solidFill>
              <a:schemeClr val="bg2"/>
            </a:solidFill>
            <a:prstDash val="solid"/>
          </a:ln>
        </p:spPr>
      </p:sp>
      <p:sp>
        <p:nvSpPr>
          <p:cNvPr id="8" name="tier header 2"/>
          <p:cNvSpPr/>
          <p:nvPr/>
        </p:nvSpPr>
        <p:spPr>
          <a:xfrm>
            <a:off x="3520440" y="1188720"/>
            <a:ext cx="2103120" cy="502920"/>
          </a:xfrm>
          <a:prstGeom prst="roundRect">
            <a:avLst>
              <a:gd name="adj" fmla="val 18182"/>
            </a:avLst>
          </a:prstGeom>
          <a:solidFill>
            <a:schemeClr val="accent2"/>
          </a:solidFill>
          <a:ln w="12700">
            <a:solidFill>
              <a:schemeClr val="accent2"/>
            </a:solidFill>
            <a:prstDash val="solid"/>
          </a:ln>
        </p:spPr>
      </p:sp>
      <p:sp>
        <p:nvSpPr>
          <p:cNvPr id="9" name="Text 7"/>
          <p:cNvSpPr txBox="1"/>
          <p:nvPr/>
        </p:nvSpPr>
        <p:spPr>
          <a:xfrm>
            <a:off x="3566160" y="1188720"/>
            <a:ext cx="2011680" cy="502920"/>
          </a:xfrm>
          <a:prstGeom prst="rect">
            <a:avLst/>
          </a:prstGeom>
          <a:noFill/>
          <a:ln/>
        </p:spPr>
        <p:txBody>
          <a:bodyPr wrap="square" lIns="0" tIns="0" rIns="0" bIns="0" rtlCol="0" anchor="ctr"/>
          <a:lstStyle/>
          <a:p>
            <a:pPr algn="ctr" indent="0" marL="0">
              <a:buNone/>
            </a:pPr>
            <a:r>
              <a:rPr lang="en-US" sz="1600" b="1" dirty="0">
                <a:solidFill>
                  <a:schemeClr val="bg1"/>
                </a:solidFill>
              </a:rPr>
              <a:t>Logic Layer</a:t>
            </a:r>
            <a:endParaRPr lang="en-US" sz="1600" dirty="0"/>
          </a:p>
        </p:txBody>
      </p:sp>
      <p:sp>
        <p:nvSpPr>
          <p:cNvPr id="10" name="Text 8"/>
          <p:cNvSpPr txBox="1"/>
          <p:nvPr/>
        </p:nvSpPr>
        <p:spPr>
          <a:xfrm>
            <a:off x="3657600" y="1828800"/>
            <a:ext cx="1874520" cy="1783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FastAPI routes</a:t>
            </a:r>
            <a:endParaRPr lang="en-US" sz="1500" dirty="0"/>
          </a:p>
          <a:p>
            <a:pPr marL="342900" indent="-342900">
              <a:spcAft>
                <a:spcPts val="800"/>
              </a:spcAft>
              <a:buSzPct val="100000"/>
              <a:buChar char="•"/>
            </a:pPr>
            <a:r>
              <a:rPr lang="en-US" sz="1500" dirty="0">
                <a:solidFill>
                  <a:schemeClr val="tx1"/>
                </a:solidFill>
              </a:rPr>
              <a:t>Checks the input</a:t>
            </a:r>
            <a:endParaRPr lang="en-US" sz="1500" dirty="0"/>
          </a:p>
          <a:p>
            <a:pPr marL="342900" indent="-342900">
              <a:spcAft>
                <a:spcPts val="800"/>
              </a:spcAft>
              <a:buSzPct val="100000"/>
              <a:buChar char="•"/>
            </a:pPr>
            <a:r>
              <a:rPr lang="en-US" sz="1500" dirty="0">
                <a:solidFill>
                  <a:schemeClr val="tx1"/>
                </a:solidFill>
              </a:rPr>
              <a:t>Jinja2 builds the page</a:t>
            </a:r>
            <a:endParaRPr lang="en-US" sz="1500" dirty="0"/>
          </a:p>
          <a:p>
            <a:pPr marL="342900" indent="-342900">
              <a:spcAft>
                <a:spcPts val="800"/>
              </a:spcAft>
              <a:buSzPct val="100000"/>
              <a:buChar char="•"/>
            </a:pPr>
            <a:r>
              <a:rPr lang="en-US" sz="1500" dirty="0">
                <a:solidFill>
                  <a:schemeClr val="tx1"/>
                </a:solidFill>
              </a:rPr>
              <a:t>Runs on Uvicorn</a:t>
            </a:r>
            <a:endParaRPr lang="en-US" sz="1500" dirty="0"/>
          </a:p>
        </p:txBody>
      </p:sp>
      <p:sp>
        <p:nvSpPr>
          <p:cNvPr id="11" name="tier 3"/>
          <p:cNvSpPr/>
          <p:nvPr/>
        </p:nvSpPr>
        <p:spPr>
          <a:xfrm>
            <a:off x="6583680" y="1188720"/>
            <a:ext cx="2103120" cy="2468880"/>
          </a:xfrm>
          <a:prstGeom prst="roundRect">
            <a:avLst>
              <a:gd name="adj" fmla="val 4348"/>
            </a:avLst>
          </a:prstGeom>
          <a:solidFill>
            <a:schemeClr val="bg2"/>
          </a:solidFill>
          <a:ln w="12700">
            <a:solidFill>
              <a:schemeClr val="bg2"/>
            </a:solidFill>
            <a:prstDash val="solid"/>
          </a:ln>
        </p:spPr>
      </p:sp>
      <p:sp>
        <p:nvSpPr>
          <p:cNvPr id="12" name="tier header 3"/>
          <p:cNvSpPr/>
          <p:nvPr/>
        </p:nvSpPr>
        <p:spPr>
          <a:xfrm>
            <a:off x="6583680" y="1188720"/>
            <a:ext cx="2103120" cy="502920"/>
          </a:xfrm>
          <a:prstGeom prst="roundRect">
            <a:avLst>
              <a:gd name="adj" fmla="val 18182"/>
            </a:avLst>
          </a:prstGeom>
          <a:solidFill>
            <a:schemeClr val="accent6"/>
          </a:solidFill>
          <a:ln w="12700">
            <a:solidFill>
              <a:schemeClr val="accent6"/>
            </a:solidFill>
            <a:prstDash val="solid"/>
          </a:ln>
        </p:spPr>
      </p:sp>
      <p:sp>
        <p:nvSpPr>
          <p:cNvPr id="13" name="Text 11"/>
          <p:cNvSpPr txBox="1"/>
          <p:nvPr/>
        </p:nvSpPr>
        <p:spPr>
          <a:xfrm>
            <a:off x="6629400" y="1188720"/>
            <a:ext cx="2011680" cy="502920"/>
          </a:xfrm>
          <a:prstGeom prst="rect">
            <a:avLst/>
          </a:prstGeom>
          <a:noFill/>
          <a:ln/>
        </p:spPr>
        <p:txBody>
          <a:bodyPr wrap="square" lIns="0" tIns="0" rIns="0" bIns="0" rtlCol="0" anchor="ctr"/>
          <a:lstStyle/>
          <a:p>
            <a:pPr algn="ctr" indent="0" marL="0">
              <a:buNone/>
            </a:pPr>
            <a:r>
              <a:rPr lang="en-US" sz="1600" b="1" dirty="0">
                <a:solidFill>
                  <a:schemeClr val="bg1"/>
                </a:solidFill>
              </a:rPr>
              <a:t>Database Layer</a:t>
            </a:r>
            <a:endParaRPr lang="en-US" sz="1600" dirty="0"/>
          </a:p>
        </p:txBody>
      </p:sp>
      <p:sp>
        <p:nvSpPr>
          <p:cNvPr id="14" name="Text 12"/>
          <p:cNvSpPr txBox="1"/>
          <p:nvPr/>
        </p:nvSpPr>
        <p:spPr>
          <a:xfrm>
            <a:off x="6720840" y="1828800"/>
            <a:ext cx="1874520" cy="1783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MySQL</a:t>
            </a:r>
            <a:endParaRPr lang="en-US" sz="1500" dirty="0"/>
          </a:p>
          <a:p>
            <a:pPr marL="342900" indent="-342900">
              <a:spcAft>
                <a:spcPts val="800"/>
              </a:spcAft>
              <a:buSzPct val="100000"/>
              <a:buChar char="•"/>
            </a:pPr>
            <a:r>
              <a:rPr lang="en-US" sz="1500" dirty="0">
                <a:solidFill>
                  <a:schemeClr val="tx1"/>
                </a:solidFill>
              </a:rPr>
              <a:t>3 tables</a:t>
            </a:r>
            <a:endParaRPr lang="en-US" sz="1500" dirty="0"/>
          </a:p>
          <a:p>
            <a:pPr marL="342900" indent="-342900">
              <a:spcAft>
                <a:spcPts val="800"/>
              </a:spcAft>
              <a:buSzPct val="100000"/>
              <a:buChar char="•"/>
            </a:pPr>
            <a:r>
              <a:rPr lang="en-US" sz="1500" dirty="0">
                <a:solidFill>
                  <a:schemeClr val="tx1"/>
                </a:solidFill>
              </a:rPr>
              <a:t>Made by init_db()</a:t>
            </a:r>
            <a:endParaRPr lang="en-US" sz="1500" dirty="0"/>
          </a:p>
          <a:p>
            <a:pPr marL="342900" indent="-342900">
              <a:spcAft>
                <a:spcPts val="800"/>
              </a:spcAft>
              <a:buSzPct val="100000"/>
              <a:buChar char="•"/>
            </a:pPr>
            <a:r>
              <a:rPr lang="en-US" sz="1500" dirty="0">
                <a:solidFill>
                  <a:schemeClr val="tx1"/>
                </a:solidFill>
              </a:rPr>
              <a:t>Sample data added</a:t>
            </a:r>
            <a:endParaRPr lang="en-US" sz="1500" dirty="0"/>
          </a:p>
        </p:txBody>
      </p:sp>
      <p:sp>
        <p:nvSpPr>
          <p:cNvPr id="15" name="arrow 1"/>
          <p:cNvSpPr/>
          <p:nvPr/>
        </p:nvSpPr>
        <p:spPr>
          <a:xfrm>
            <a:off x="2606040" y="2651760"/>
            <a:ext cx="868680" cy="0"/>
          </a:xfrm>
          <a:prstGeom prst="line">
            <a:avLst/>
          </a:prstGeom>
          <a:noFill/>
          <a:ln w="31750">
            <a:solidFill>
              <a:schemeClr val="tx1"/>
            </a:solidFill>
            <a:prstDash val="solid"/>
            <a:headEnd type="triangle"/>
            <a:tailEnd type="triangle"/>
          </a:ln>
        </p:spPr>
      </p:sp>
      <p:sp>
        <p:nvSpPr>
          <p:cNvPr id="16" name="Text 14"/>
          <p:cNvSpPr txBox="1"/>
          <p:nvPr/>
        </p:nvSpPr>
        <p:spPr>
          <a:xfrm>
            <a:off x="2560320" y="2194560"/>
            <a:ext cx="960120" cy="365760"/>
          </a:xfrm>
          <a:prstGeom prst="rect">
            <a:avLst/>
          </a:prstGeom>
          <a:noFill/>
          <a:ln/>
        </p:spPr>
        <p:txBody>
          <a:bodyPr wrap="square" lIns="0" tIns="0" rIns="0" bIns="0" rtlCol="0" anchor="b"/>
          <a:lstStyle/>
          <a:p>
            <a:pPr algn="ctr" indent="0" marL="0">
              <a:buNone/>
            </a:pPr>
            <a:r>
              <a:rPr lang="en-US" sz="1400" dirty="0">
                <a:solidFill>
                  <a:schemeClr val="tx2"/>
                </a:solidFill>
              </a:rPr>
              <a:t>request</a:t>
            </a:r>
            <a:endParaRPr lang="en-US" sz="1400" dirty="0"/>
          </a:p>
        </p:txBody>
      </p:sp>
      <p:sp>
        <p:nvSpPr>
          <p:cNvPr id="17" name="arrow 2"/>
          <p:cNvSpPr/>
          <p:nvPr/>
        </p:nvSpPr>
        <p:spPr>
          <a:xfrm>
            <a:off x="5669280" y="2651760"/>
            <a:ext cx="868680" cy="0"/>
          </a:xfrm>
          <a:prstGeom prst="line">
            <a:avLst/>
          </a:prstGeom>
          <a:noFill/>
          <a:ln w="31750">
            <a:solidFill>
              <a:schemeClr val="tx1"/>
            </a:solidFill>
            <a:prstDash val="solid"/>
            <a:headEnd type="triangle"/>
            <a:tailEnd type="triangle"/>
          </a:ln>
        </p:spPr>
      </p:sp>
      <p:sp>
        <p:nvSpPr>
          <p:cNvPr id="18" name="Text 16"/>
          <p:cNvSpPr txBox="1"/>
          <p:nvPr/>
        </p:nvSpPr>
        <p:spPr>
          <a:xfrm>
            <a:off x="5623560" y="2194560"/>
            <a:ext cx="960120" cy="365760"/>
          </a:xfrm>
          <a:prstGeom prst="rect">
            <a:avLst/>
          </a:prstGeom>
          <a:noFill/>
          <a:ln/>
        </p:spPr>
        <p:txBody>
          <a:bodyPr wrap="square" lIns="0" tIns="0" rIns="0" bIns="0" rtlCol="0" anchor="b"/>
          <a:lstStyle/>
          <a:p>
            <a:pPr algn="ctr" indent="0" marL="0">
              <a:buNone/>
            </a:pPr>
            <a:r>
              <a:rPr lang="en-US" sz="1400" dirty="0">
                <a:solidFill>
                  <a:schemeClr val="tx2"/>
                </a:solidFill>
              </a:rPr>
              <a:t>query</a:t>
            </a:r>
            <a:endParaRPr lang="en-US" sz="1400" dirty="0"/>
          </a:p>
        </p:txBody>
      </p:sp>
      <p:sp>
        <p:nvSpPr>
          <p:cNvPr id="19" name="architecture strip"/>
          <p:cNvSpPr/>
          <p:nvPr/>
        </p:nvSpPr>
        <p:spPr>
          <a:xfrm>
            <a:off x="457200" y="3886200"/>
            <a:ext cx="8229600" cy="731520"/>
          </a:xfrm>
          <a:prstGeom prst="roundRect">
            <a:avLst>
              <a:gd name="adj" fmla="val 12500"/>
            </a:avLst>
          </a:prstGeom>
          <a:solidFill>
            <a:schemeClr val="accent5"/>
          </a:solidFill>
          <a:ln w="12700">
            <a:solidFill>
              <a:schemeClr val="accent5"/>
            </a:solidFill>
            <a:prstDash val="solid"/>
          </a:ln>
        </p:spPr>
      </p:sp>
      <p:sp>
        <p:nvSpPr>
          <p:cNvPr id="20" name="Text 18"/>
          <p:cNvSpPr txBox="1"/>
          <p:nvPr/>
        </p:nvSpPr>
        <p:spPr>
          <a:xfrm>
            <a:off x="640080" y="3886200"/>
            <a:ext cx="7863840" cy="731520"/>
          </a:xfrm>
          <a:prstGeom prst="rect">
            <a:avLst/>
          </a:prstGeom>
          <a:noFill/>
          <a:ln/>
        </p:spPr>
        <p:txBody>
          <a:bodyPr wrap="square" lIns="0" tIns="0" rIns="0" bIns="0" rtlCol="0" anchor="ctr"/>
          <a:lstStyle/>
          <a:p>
            <a:pPr indent="0" marL="0">
              <a:buNone/>
            </a:pPr>
            <a:r>
              <a:rPr lang="en-US" sz="1600" b="1" dirty="0">
                <a:solidFill>
                  <a:schemeClr val="bg1"/>
                </a:solidFill>
              </a:rPr>
              <a:t>The browser sends a request. FastAPI reads or saves data in MySQL. A web page is sent back.</a:t>
            </a:r>
            <a:endParaRPr lang="en-US" sz="16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Workflow</a:t>
            </a:r>
            <a:endParaRPr lang="en-US" sz="3200" dirty="0"/>
          </a:p>
        </p:txBody>
      </p:sp>
      <p:sp>
        <p:nvSpPr>
          <p:cNvPr id="3" name="figure frame"/>
          <p:cNvSpPr/>
          <p:nvPr/>
        </p:nvSpPr>
        <p:spPr>
          <a:xfrm>
            <a:off x="411480" y="1005840"/>
            <a:ext cx="3456432" cy="3794760"/>
          </a:xfrm>
          <a:prstGeom prst="roundRect">
            <a:avLst>
              <a:gd name="adj" fmla="val 2646"/>
            </a:avLst>
          </a:prstGeom>
          <a:solidFill>
            <a:schemeClr val="bg2"/>
          </a:solidFill>
          <a:ln w="12700">
            <a:solidFill>
              <a:schemeClr val="bg2"/>
            </a:solidFill>
            <a:prstDash val="solid"/>
          </a:ln>
        </p:spPr>
      </p:sp>
      <p:pic>
        <p:nvPicPr>
          <p:cNvPr id="4" name="Block diagram" descr="Block diagram: user, system and database">    </p:cNvPr>
          <p:cNvPicPr>
            <a:picLocks noChangeAspect="1"/>
          </p:cNvPicPr>
          <p:nvPr/>
        </p:nvPicPr>
        <p:blipFill>
          <a:blip r:embed="rId1"/>
          <a:stretch>
            <a:fillRect/>
          </a:stretch>
        </p:blipFill>
        <p:spPr>
          <a:xfrm>
            <a:off x="589788" y="1051560"/>
            <a:ext cx="3099816" cy="3429000"/>
          </a:xfrm>
          <a:prstGeom prst="rect">
            <a:avLst/>
          </a:prstGeom>
        </p:spPr>
      </p:pic>
      <p:sp>
        <p:nvSpPr>
          <p:cNvPr id="5" name="Text 2"/>
          <p:cNvSpPr txBox="1"/>
          <p:nvPr/>
        </p:nvSpPr>
        <p:spPr>
          <a:xfrm>
            <a:off x="457200" y="4526280"/>
            <a:ext cx="3383280" cy="228600"/>
          </a:xfrm>
          <a:prstGeom prst="rect">
            <a:avLst/>
          </a:prstGeom>
          <a:noFill/>
          <a:ln/>
        </p:spPr>
        <p:txBody>
          <a:bodyPr wrap="square" lIns="0" tIns="0" rIns="0" bIns="0" rtlCol="0" anchor="t"/>
          <a:lstStyle/>
          <a:p>
            <a:pPr algn="ctr" indent="0" marL="0">
              <a:buNone/>
            </a:pPr>
            <a:r>
              <a:rPr lang="en-US" sz="1100" i="1" dirty="0">
                <a:solidFill>
                  <a:schemeClr val="tx2"/>
                </a:solidFill>
              </a:rPr>
              <a:t>Figure 4.1 - Block diagram (from the report)</a:t>
            </a:r>
            <a:endParaRPr lang="en-US" sz="1100" dirty="0"/>
          </a:p>
        </p:txBody>
      </p:sp>
      <p:sp>
        <p:nvSpPr>
          <p:cNvPr id="6" name="step circle 1"/>
          <p:cNvSpPr/>
          <p:nvPr/>
        </p:nvSpPr>
        <p:spPr>
          <a:xfrm>
            <a:off x="4114800" y="1179576"/>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4114800" y="11795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4754880" y="1143000"/>
            <a:ext cx="3931920" cy="530352"/>
          </a:xfrm>
          <a:prstGeom prst="rect">
            <a:avLst/>
          </a:prstGeom>
          <a:noFill/>
          <a:ln/>
        </p:spPr>
        <p:txBody>
          <a:bodyPr wrap="square" lIns="0" tIns="0" rIns="0" bIns="0" rtlCol="0" anchor="ctr"/>
          <a:lstStyle/>
          <a:p>
            <a:pPr indent="0" marL="0">
              <a:buNone/>
            </a:pPr>
            <a:r>
              <a:rPr lang="en-US" sz="1600" dirty="0">
                <a:solidFill>
                  <a:schemeClr val="tx1"/>
                </a:solidFill>
              </a:rPr>
              <a:t>Learner opens a page or sends the form</a:t>
            </a:r>
            <a:endParaRPr lang="en-US" sz="1600" dirty="0"/>
          </a:p>
        </p:txBody>
      </p:sp>
      <p:sp>
        <p:nvSpPr>
          <p:cNvPr id="9" name="step circle 2"/>
          <p:cNvSpPr/>
          <p:nvPr/>
        </p:nvSpPr>
        <p:spPr>
          <a:xfrm>
            <a:off x="4114800" y="1783080"/>
            <a:ext cx="457200" cy="457200"/>
          </a:xfrm>
          <a:prstGeom prst="ellipse">
            <a:avLst/>
          </a:prstGeom>
          <a:solidFill>
            <a:schemeClr val="accent1"/>
          </a:solidFill>
          <a:ln w="12700">
            <a:solidFill>
              <a:schemeClr val="accent1"/>
            </a:solidFill>
            <a:prstDash val="solid"/>
          </a:ln>
        </p:spPr>
      </p:sp>
      <p:sp>
        <p:nvSpPr>
          <p:cNvPr id="10" name="Text 7"/>
          <p:cNvSpPr txBox="1"/>
          <p:nvPr/>
        </p:nvSpPr>
        <p:spPr>
          <a:xfrm>
            <a:off x="411480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4754880" y="1746504"/>
            <a:ext cx="3931920" cy="530352"/>
          </a:xfrm>
          <a:prstGeom prst="rect">
            <a:avLst/>
          </a:prstGeom>
          <a:noFill/>
          <a:ln/>
        </p:spPr>
        <p:txBody>
          <a:bodyPr wrap="square" lIns="0" tIns="0" rIns="0" bIns="0" rtlCol="0" anchor="ctr"/>
          <a:lstStyle/>
          <a:p>
            <a:pPr indent="0" marL="0">
              <a:buNone/>
            </a:pPr>
            <a:r>
              <a:rPr lang="en-US" sz="1600" dirty="0">
                <a:solidFill>
                  <a:schemeClr val="tx1"/>
                </a:solidFill>
              </a:rPr>
              <a:t>FastAPI receives the request</a:t>
            </a:r>
            <a:endParaRPr lang="en-US" sz="1600" dirty="0"/>
          </a:p>
        </p:txBody>
      </p:sp>
      <p:sp>
        <p:nvSpPr>
          <p:cNvPr id="12" name="step circle 3"/>
          <p:cNvSpPr/>
          <p:nvPr/>
        </p:nvSpPr>
        <p:spPr>
          <a:xfrm>
            <a:off x="4114800" y="2386584"/>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4114800" y="23865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4754880" y="2350008"/>
            <a:ext cx="3931920" cy="530352"/>
          </a:xfrm>
          <a:prstGeom prst="rect">
            <a:avLst/>
          </a:prstGeom>
          <a:noFill/>
          <a:ln/>
        </p:spPr>
        <p:txBody>
          <a:bodyPr wrap="square" lIns="0" tIns="0" rIns="0" bIns="0" rtlCol="0" anchor="ctr"/>
          <a:lstStyle/>
          <a:p>
            <a:pPr indent="0" marL="0">
              <a:buNone/>
            </a:pPr>
            <a:r>
              <a:rPr lang="en-US" sz="1600" dirty="0">
                <a:solidFill>
                  <a:schemeClr val="tx1"/>
                </a:solidFill>
              </a:rPr>
              <a:t>It checks the input</a:t>
            </a:r>
            <a:endParaRPr lang="en-US" sz="1600" dirty="0"/>
          </a:p>
        </p:txBody>
      </p:sp>
      <p:sp>
        <p:nvSpPr>
          <p:cNvPr id="15" name="step circle 4"/>
          <p:cNvSpPr/>
          <p:nvPr/>
        </p:nvSpPr>
        <p:spPr>
          <a:xfrm>
            <a:off x="4114800" y="2990088"/>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4114800" y="29900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4"/>
          <p:cNvSpPr txBox="1"/>
          <p:nvPr/>
        </p:nvSpPr>
        <p:spPr>
          <a:xfrm>
            <a:off x="4754880" y="2953512"/>
            <a:ext cx="3931920" cy="530352"/>
          </a:xfrm>
          <a:prstGeom prst="rect">
            <a:avLst/>
          </a:prstGeom>
          <a:noFill/>
          <a:ln/>
        </p:spPr>
        <p:txBody>
          <a:bodyPr wrap="square" lIns="0" tIns="0" rIns="0" bIns="0" rtlCol="0" anchor="ctr"/>
          <a:lstStyle/>
          <a:p>
            <a:pPr indent="0" marL="0">
              <a:buNone/>
            </a:pPr>
            <a:r>
              <a:rPr lang="en-US" sz="1600" dirty="0">
                <a:solidFill>
                  <a:schemeClr val="tx1"/>
                </a:solidFill>
              </a:rPr>
              <a:t>It reads or saves data in MySQL</a:t>
            </a:r>
            <a:endParaRPr lang="en-US" sz="1600" dirty="0"/>
          </a:p>
        </p:txBody>
      </p:sp>
      <p:sp>
        <p:nvSpPr>
          <p:cNvPr id="18" name="step circle 5"/>
          <p:cNvSpPr/>
          <p:nvPr/>
        </p:nvSpPr>
        <p:spPr>
          <a:xfrm>
            <a:off x="4114800" y="3593592"/>
            <a:ext cx="457200" cy="457200"/>
          </a:xfrm>
          <a:prstGeom prst="ellipse">
            <a:avLst/>
          </a:prstGeom>
          <a:solidFill>
            <a:schemeClr val="accent1"/>
          </a:solidFill>
          <a:ln w="12700">
            <a:solidFill>
              <a:schemeClr val="accent1"/>
            </a:solidFill>
            <a:prstDash val="solid"/>
          </a:ln>
        </p:spPr>
      </p:sp>
      <p:sp>
        <p:nvSpPr>
          <p:cNvPr id="19" name="Text 16"/>
          <p:cNvSpPr txBox="1"/>
          <p:nvPr/>
        </p:nvSpPr>
        <p:spPr>
          <a:xfrm>
            <a:off x="4114800" y="35935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0" name="Text 17"/>
          <p:cNvSpPr txBox="1"/>
          <p:nvPr/>
        </p:nvSpPr>
        <p:spPr>
          <a:xfrm>
            <a:off x="4754880" y="3557016"/>
            <a:ext cx="3931920" cy="530352"/>
          </a:xfrm>
          <a:prstGeom prst="rect">
            <a:avLst/>
          </a:prstGeom>
          <a:noFill/>
          <a:ln/>
        </p:spPr>
        <p:txBody>
          <a:bodyPr wrap="square" lIns="0" tIns="0" rIns="0" bIns="0" rtlCol="0" anchor="ctr"/>
          <a:lstStyle/>
          <a:p>
            <a:pPr indent="0" marL="0">
              <a:buNone/>
            </a:pPr>
            <a:r>
              <a:rPr lang="en-US" sz="1600" dirty="0">
                <a:solidFill>
                  <a:schemeClr val="tx1"/>
                </a:solidFill>
              </a:rPr>
              <a:t>Jinja2 builds the HTML page</a:t>
            </a:r>
            <a:endParaRPr lang="en-US" sz="1600" dirty="0"/>
          </a:p>
        </p:txBody>
      </p:sp>
      <p:sp>
        <p:nvSpPr>
          <p:cNvPr id="21" name="step circle 6"/>
          <p:cNvSpPr/>
          <p:nvPr/>
        </p:nvSpPr>
        <p:spPr>
          <a:xfrm>
            <a:off x="4114800" y="4197096"/>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4114800" y="41970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3" name="Text 20"/>
          <p:cNvSpPr txBox="1"/>
          <p:nvPr/>
        </p:nvSpPr>
        <p:spPr>
          <a:xfrm>
            <a:off x="4754880" y="4160520"/>
            <a:ext cx="3931920" cy="530352"/>
          </a:xfrm>
          <a:prstGeom prst="rect">
            <a:avLst/>
          </a:prstGeom>
          <a:noFill/>
          <a:ln/>
        </p:spPr>
        <p:txBody>
          <a:bodyPr wrap="square" lIns="0" tIns="0" rIns="0" bIns="0" rtlCol="0" anchor="ctr"/>
          <a:lstStyle/>
          <a:p>
            <a:pPr indent="0" marL="0">
              <a:buNone/>
            </a:pPr>
            <a:r>
              <a:rPr lang="en-US" sz="1600" dirty="0">
                <a:solidFill>
                  <a:schemeClr val="tx1"/>
                </a:solidFill>
              </a:rPr>
              <a:t>The page is shown in the browser</a:t>
            </a:r>
            <a:endParaRPr lang="en-US" sz="16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Modules</a:t>
            </a:r>
            <a:endParaRPr lang="en-US" sz="3200" dirty="0"/>
          </a:p>
        </p:txBody>
      </p:sp>
      <p:sp>
        <p:nvSpPr>
          <p:cNvPr id="3" name="module row 1"/>
          <p:cNvSpPr/>
          <p:nvPr/>
        </p:nvSpPr>
        <p:spPr>
          <a:xfrm>
            <a:off x="457200" y="1143000"/>
            <a:ext cx="4023360" cy="777240"/>
          </a:xfrm>
          <a:prstGeom prst="roundRect">
            <a:avLst>
              <a:gd name="adj" fmla="val 11765"/>
            </a:avLst>
          </a:prstGeom>
          <a:solidFill>
            <a:schemeClr val="bg2"/>
          </a:solidFill>
          <a:ln w="12700">
            <a:solidFill>
              <a:schemeClr val="bg2"/>
            </a:solidFill>
            <a:prstDash val="solid"/>
          </a:ln>
        </p:spPr>
      </p:sp>
      <p:sp>
        <p:nvSpPr>
          <p:cNvPr id="4" name="icon circle FaHome"/>
          <p:cNvSpPr/>
          <p:nvPr/>
        </p:nvSpPr>
        <p:spPr>
          <a:xfrm>
            <a:off x="566928" y="1298448"/>
            <a:ext cx="457200" cy="457200"/>
          </a:xfrm>
          <a:prstGeom prst="ellipse">
            <a:avLst/>
          </a:prstGeom>
          <a:solidFill>
            <a:schemeClr val="accent1"/>
          </a:solidFill>
          <a:ln w="12700">
            <a:solidFill>
              <a:schemeClr val="accent1"/>
            </a:solidFill>
            <a:prstDash val="solid"/>
          </a:ln>
        </p:spPr>
      </p:sp>
      <p:pic>
        <p:nvPicPr>
          <p:cNvPr id="5" name="icon FaHome" descr="FaHome">    </p:cNvPr>
          <p:cNvPicPr>
            <a:picLocks noChangeAspect="1"/>
          </p:cNvPicPr>
          <p:nvPr/>
        </p:nvPicPr>
        <p:blipFill>
          <a:blip r:embed="rId1"/>
          <a:stretch>
            <a:fillRect/>
          </a:stretch>
        </p:blipFill>
        <p:spPr>
          <a:xfrm>
            <a:off x="685800" y="1417320"/>
            <a:ext cx="219456" cy="219456"/>
          </a:xfrm>
          <a:prstGeom prst="rect">
            <a:avLst/>
          </a:prstGeom>
        </p:spPr>
      </p:pic>
      <p:sp>
        <p:nvSpPr>
          <p:cNvPr id="6" name="Text 3"/>
          <p:cNvSpPr txBox="1"/>
          <p:nvPr/>
        </p:nvSpPr>
        <p:spPr>
          <a:xfrm>
            <a:off x="1170432" y="1216152"/>
            <a:ext cx="3246120" cy="274320"/>
          </a:xfrm>
          <a:prstGeom prst="rect">
            <a:avLst/>
          </a:prstGeom>
          <a:noFill/>
          <a:ln/>
        </p:spPr>
        <p:txBody>
          <a:bodyPr wrap="square" lIns="0" tIns="0" rIns="0" bIns="0" rtlCol="0" anchor="t"/>
          <a:lstStyle/>
          <a:p>
            <a:pPr indent="0" marL="0">
              <a:buNone/>
            </a:pPr>
            <a:r>
              <a:rPr lang="en-US" sz="1600" b="1" dirty="0">
                <a:solidFill>
                  <a:schemeClr val="tx1"/>
                </a:solidFill>
              </a:rPr>
              <a:t>Home and Categories</a:t>
            </a:r>
            <a:endParaRPr lang="en-US" sz="1600" dirty="0"/>
          </a:p>
        </p:txBody>
      </p:sp>
      <p:sp>
        <p:nvSpPr>
          <p:cNvPr id="7" name="Text 4"/>
          <p:cNvSpPr txBox="1"/>
          <p:nvPr/>
        </p:nvSpPr>
        <p:spPr>
          <a:xfrm>
            <a:off x="1170432" y="1508760"/>
            <a:ext cx="3246120" cy="365760"/>
          </a:xfrm>
          <a:prstGeom prst="rect">
            <a:avLst/>
          </a:prstGeom>
          <a:noFill/>
          <a:ln/>
        </p:spPr>
        <p:txBody>
          <a:bodyPr wrap="square" lIns="0" tIns="0" rIns="0" bIns="0" rtlCol="0" anchor="t"/>
          <a:lstStyle/>
          <a:p>
            <a:pPr indent="0" marL="0">
              <a:buNone/>
            </a:pPr>
            <a:r>
              <a:rPr lang="en-US" sz="1400" dirty="0">
                <a:solidFill>
                  <a:schemeClr val="tx2"/>
                </a:solidFill>
              </a:rPr>
              <a:t>Category cards with Open category link</a:t>
            </a:r>
            <a:endParaRPr lang="en-US" sz="1400" dirty="0"/>
          </a:p>
        </p:txBody>
      </p:sp>
      <p:sp>
        <p:nvSpPr>
          <p:cNvPr id="8" name="module row 2"/>
          <p:cNvSpPr/>
          <p:nvPr/>
        </p:nvSpPr>
        <p:spPr>
          <a:xfrm>
            <a:off x="457200" y="2029968"/>
            <a:ext cx="4023360" cy="777240"/>
          </a:xfrm>
          <a:prstGeom prst="roundRect">
            <a:avLst>
              <a:gd name="adj" fmla="val 11765"/>
            </a:avLst>
          </a:prstGeom>
          <a:solidFill>
            <a:schemeClr val="bg2"/>
          </a:solidFill>
          <a:ln w="12700">
            <a:solidFill>
              <a:schemeClr val="bg2"/>
            </a:solidFill>
            <a:prstDash val="solid"/>
          </a:ln>
        </p:spPr>
      </p:sp>
      <p:sp>
        <p:nvSpPr>
          <p:cNvPr id="9" name="icon circle FaClipboardList"/>
          <p:cNvSpPr/>
          <p:nvPr/>
        </p:nvSpPr>
        <p:spPr>
          <a:xfrm>
            <a:off x="566928" y="2185416"/>
            <a:ext cx="457200" cy="457200"/>
          </a:xfrm>
          <a:prstGeom prst="ellipse">
            <a:avLst/>
          </a:prstGeom>
          <a:solidFill>
            <a:schemeClr val="accent2"/>
          </a:solidFill>
          <a:ln w="12700">
            <a:solidFill>
              <a:schemeClr val="accent2"/>
            </a:solidFill>
            <a:prstDash val="solid"/>
          </a:ln>
        </p:spPr>
      </p:sp>
      <p:pic>
        <p:nvPicPr>
          <p:cNvPr id="10" name="icon FaClipboardList" descr="FaClipboardList">    </p:cNvPr>
          <p:cNvPicPr>
            <a:picLocks noChangeAspect="1"/>
          </p:cNvPicPr>
          <p:nvPr/>
        </p:nvPicPr>
        <p:blipFill>
          <a:blip r:embed="rId2"/>
          <a:stretch>
            <a:fillRect/>
          </a:stretch>
        </p:blipFill>
        <p:spPr>
          <a:xfrm>
            <a:off x="685800" y="2304288"/>
            <a:ext cx="219456" cy="219456"/>
          </a:xfrm>
          <a:prstGeom prst="rect">
            <a:avLst/>
          </a:prstGeom>
        </p:spPr>
      </p:pic>
      <p:sp>
        <p:nvSpPr>
          <p:cNvPr id="11" name="Text 7"/>
          <p:cNvSpPr txBox="1"/>
          <p:nvPr/>
        </p:nvSpPr>
        <p:spPr>
          <a:xfrm>
            <a:off x="1170432" y="2103120"/>
            <a:ext cx="3246120" cy="274320"/>
          </a:xfrm>
          <a:prstGeom prst="rect">
            <a:avLst/>
          </a:prstGeom>
          <a:noFill/>
          <a:ln/>
        </p:spPr>
        <p:txBody>
          <a:bodyPr wrap="square" lIns="0" tIns="0" rIns="0" bIns="0" rtlCol="0" anchor="t"/>
          <a:lstStyle/>
          <a:p>
            <a:pPr indent="0" marL="0">
              <a:buNone/>
            </a:pPr>
            <a:r>
              <a:rPr lang="en-US" sz="1600" b="1" dirty="0">
                <a:solidFill>
                  <a:schemeClr val="tx1"/>
                </a:solidFill>
              </a:rPr>
              <a:t>Course Catalog</a:t>
            </a:r>
            <a:endParaRPr lang="en-US" sz="1600" dirty="0"/>
          </a:p>
        </p:txBody>
      </p:sp>
      <p:sp>
        <p:nvSpPr>
          <p:cNvPr id="12" name="Text 8"/>
          <p:cNvSpPr txBox="1"/>
          <p:nvPr/>
        </p:nvSpPr>
        <p:spPr>
          <a:xfrm>
            <a:off x="1170432" y="2395728"/>
            <a:ext cx="3246120" cy="365760"/>
          </a:xfrm>
          <a:prstGeom prst="rect">
            <a:avLst/>
          </a:prstGeom>
          <a:noFill/>
          <a:ln/>
        </p:spPr>
        <p:txBody>
          <a:bodyPr wrap="square" lIns="0" tIns="0" rIns="0" bIns="0" rtlCol="0" anchor="t"/>
          <a:lstStyle/>
          <a:p>
            <a:pPr indent="0" marL="0">
              <a:buNone/>
            </a:pPr>
            <a:r>
              <a:rPr lang="en-US" sz="1400" dirty="0">
                <a:solidFill>
                  <a:schemeClr val="tx2"/>
                </a:solidFill>
              </a:rPr>
              <a:t>Course details and category filter</a:t>
            </a:r>
            <a:endParaRPr lang="en-US" sz="1400" dirty="0"/>
          </a:p>
        </p:txBody>
      </p:sp>
      <p:sp>
        <p:nvSpPr>
          <p:cNvPr id="13" name="module row 3"/>
          <p:cNvSpPr/>
          <p:nvPr/>
        </p:nvSpPr>
        <p:spPr>
          <a:xfrm>
            <a:off x="457200" y="2916936"/>
            <a:ext cx="4023360" cy="777240"/>
          </a:xfrm>
          <a:prstGeom prst="roundRect">
            <a:avLst>
              <a:gd name="adj" fmla="val 11765"/>
            </a:avLst>
          </a:prstGeom>
          <a:solidFill>
            <a:schemeClr val="bg2"/>
          </a:solidFill>
          <a:ln w="12700">
            <a:solidFill>
              <a:schemeClr val="bg2"/>
            </a:solidFill>
            <a:prstDash val="solid"/>
          </a:ln>
        </p:spPr>
      </p:sp>
      <p:sp>
        <p:nvSpPr>
          <p:cNvPr id="14" name="icon circle FaUserPlus"/>
          <p:cNvSpPr/>
          <p:nvPr/>
        </p:nvSpPr>
        <p:spPr>
          <a:xfrm>
            <a:off x="566928" y="3072384"/>
            <a:ext cx="457200" cy="457200"/>
          </a:xfrm>
          <a:prstGeom prst="ellipse">
            <a:avLst/>
          </a:prstGeom>
          <a:solidFill>
            <a:schemeClr val="accent1"/>
          </a:solidFill>
          <a:ln w="12700">
            <a:solidFill>
              <a:schemeClr val="accent1"/>
            </a:solidFill>
            <a:prstDash val="solid"/>
          </a:ln>
        </p:spPr>
      </p:sp>
      <p:pic>
        <p:nvPicPr>
          <p:cNvPr id="15" name="icon FaUserPlus" descr="FaUserPlus">    </p:cNvPr>
          <p:cNvPicPr>
            <a:picLocks noChangeAspect="1"/>
          </p:cNvPicPr>
          <p:nvPr/>
        </p:nvPicPr>
        <p:blipFill>
          <a:blip r:embed="rId3"/>
          <a:stretch>
            <a:fillRect/>
          </a:stretch>
        </p:blipFill>
        <p:spPr>
          <a:xfrm>
            <a:off x="685800" y="3191256"/>
            <a:ext cx="219456" cy="219456"/>
          </a:xfrm>
          <a:prstGeom prst="rect">
            <a:avLst/>
          </a:prstGeom>
        </p:spPr>
      </p:pic>
      <p:sp>
        <p:nvSpPr>
          <p:cNvPr id="16" name="Text 11"/>
          <p:cNvSpPr txBox="1"/>
          <p:nvPr/>
        </p:nvSpPr>
        <p:spPr>
          <a:xfrm>
            <a:off x="1170432" y="2990088"/>
            <a:ext cx="3246120" cy="274320"/>
          </a:xfrm>
          <a:prstGeom prst="rect">
            <a:avLst/>
          </a:prstGeom>
          <a:noFill/>
          <a:ln/>
        </p:spPr>
        <p:txBody>
          <a:bodyPr wrap="square" lIns="0" tIns="0" rIns="0" bIns="0" rtlCol="0" anchor="t"/>
          <a:lstStyle/>
          <a:p>
            <a:pPr indent="0" marL="0">
              <a:buNone/>
            </a:pPr>
            <a:r>
              <a:rPr lang="en-US" sz="1600" b="1" dirty="0">
                <a:solidFill>
                  <a:schemeClr val="tx1"/>
                </a:solidFill>
              </a:rPr>
              <a:t>Enrollment</a:t>
            </a:r>
            <a:endParaRPr lang="en-US" sz="1600" dirty="0"/>
          </a:p>
        </p:txBody>
      </p:sp>
      <p:sp>
        <p:nvSpPr>
          <p:cNvPr id="17" name="Text 12"/>
          <p:cNvSpPr txBox="1"/>
          <p:nvPr/>
        </p:nvSpPr>
        <p:spPr>
          <a:xfrm>
            <a:off x="1170432" y="3282696"/>
            <a:ext cx="3246120" cy="365760"/>
          </a:xfrm>
          <a:prstGeom prst="rect">
            <a:avLst/>
          </a:prstGeom>
          <a:noFill/>
          <a:ln/>
        </p:spPr>
        <p:txBody>
          <a:bodyPr wrap="square" lIns="0" tIns="0" rIns="0" bIns="0" rtlCol="0" anchor="t"/>
          <a:lstStyle/>
          <a:p>
            <a:pPr indent="0" marL="0">
              <a:buNone/>
            </a:pPr>
            <a:r>
              <a:rPr lang="en-US" sz="1400" dirty="0">
                <a:solidFill>
                  <a:schemeClr val="tx2"/>
                </a:solidFill>
              </a:rPr>
              <a:t>Form saves a request as Pending</a:t>
            </a:r>
            <a:endParaRPr lang="en-US" sz="1400" dirty="0"/>
          </a:p>
        </p:txBody>
      </p:sp>
      <p:sp>
        <p:nvSpPr>
          <p:cNvPr id="18" name="module row 4"/>
          <p:cNvSpPr/>
          <p:nvPr/>
        </p:nvSpPr>
        <p:spPr>
          <a:xfrm>
            <a:off x="457200" y="3803904"/>
            <a:ext cx="4023360" cy="777240"/>
          </a:xfrm>
          <a:prstGeom prst="roundRect">
            <a:avLst>
              <a:gd name="adj" fmla="val 11765"/>
            </a:avLst>
          </a:prstGeom>
          <a:solidFill>
            <a:schemeClr val="bg2"/>
          </a:solidFill>
          <a:ln w="12700">
            <a:solidFill>
              <a:schemeClr val="bg2"/>
            </a:solidFill>
            <a:prstDash val="solid"/>
          </a:ln>
        </p:spPr>
      </p:sp>
      <p:sp>
        <p:nvSpPr>
          <p:cNvPr id="19" name="icon circle FaSignInAlt"/>
          <p:cNvSpPr/>
          <p:nvPr/>
        </p:nvSpPr>
        <p:spPr>
          <a:xfrm>
            <a:off x="566928" y="3959352"/>
            <a:ext cx="457200" cy="457200"/>
          </a:xfrm>
          <a:prstGeom prst="ellipse">
            <a:avLst/>
          </a:prstGeom>
          <a:solidFill>
            <a:schemeClr val="accent2"/>
          </a:solidFill>
          <a:ln w="12700">
            <a:solidFill>
              <a:schemeClr val="accent2"/>
            </a:solidFill>
            <a:prstDash val="solid"/>
          </a:ln>
        </p:spPr>
      </p:sp>
      <p:pic>
        <p:nvPicPr>
          <p:cNvPr id="20" name="icon FaSignInAlt" descr="FaSignInAlt">    </p:cNvPr>
          <p:cNvPicPr>
            <a:picLocks noChangeAspect="1"/>
          </p:cNvPicPr>
          <p:nvPr/>
        </p:nvPicPr>
        <p:blipFill>
          <a:blip r:embed="rId4"/>
          <a:stretch>
            <a:fillRect/>
          </a:stretch>
        </p:blipFill>
        <p:spPr>
          <a:xfrm>
            <a:off x="685800" y="4078224"/>
            <a:ext cx="219456" cy="219456"/>
          </a:xfrm>
          <a:prstGeom prst="rect">
            <a:avLst/>
          </a:prstGeom>
        </p:spPr>
      </p:pic>
      <p:sp>
        <p:nvSpPr>
          <p:cNvPr id="21" name="Text 15"/>
          <p:cNvSpPr txBox="1"/>
          <p:nvPr/>
        </p:nvSpPr>
        <p:spPr>
          <a:xfrm>
            <a:off x="1170432" y="3877056"/>
            <a:ext cx="3246120" cy="274320"/>
          </a:xfrm>
          <a:prstGeom prst="rect">
            <a:avLst/>
          </a:prstGeom>
          <a:noFill/>
          <a:ln/>
        </p:spPr>
        <p:txBody>
          <a:bodyPr wrap="square" lIns="0" tIns="0" rIns="0" bIns="0" rtlCol="0" anchor="t"/>
          <a:lstStyle/>
          <a:p>
            <a:pPr indent="0" marL="0">
              <a:buNone/>
            </a:pPr>
            <a:r>
              <a:rPr lang="en-US" sz="1600" b="1" dirty="0">
                <a:solidFill>
                  <a:schemeClr val="tx1"/>
                </a:solidFill>
              </a:rPr>
              <a:t>Login</a:t>
            </a:r>
            <a:endParaRPr lang="en-US" sz="1600" dirty="0"/>
          </a:p>
        </p:txBody>
      </p:sp>
      <p:sp>
        <p:nvSpPr>
          <p:cNvPr id="22" name="Text 16"/>
          <p:cNvSpPr txBox="1"/>
          <p:nvPr/>
        </p:nvSpPr>
        <p:spPr>
          <a:xfrm>
            <a:off x="1170432" y="4169664"/>
            <a:ext cx="3246120" cy="365760"/>
          </a:xfrm>
          <a:prstGeom prst="rect">
            <a:avLst/>
          </a:prstGeom>
          <a:noFill/>
          <a:ln/>
        </p:spPr>
        <p:txBody>
          <a:bodyPr wrap="square" lIns="0" tIns="0" rIns="0" bIns="0" rtlCol="0" anchor="t"/>
          <a:lstStyle/>
          <a:p>
            <a:pPr indent="0" marL="0">
              <a:buNone/>
            </a:pPr>
            <a:r>
              <a:rPr lang="en-US" sz="1400" dirty="0">
                <a:solidFill>
                  <a:schemeClr val="tx2"/>
                </a:solidFill>
              </a:rPr>
              <a:t>Checks both fields and password length</a:t>
            </a:r>
            <a:endParaRPr lang="en-US" sz="1400" dirty="0"/>
          </a:p>
        </p:txBody>
      </p:sp>
      <p:sp>
        <p:nvSpPr>
          <p:cNvPr id="23" name="module row 5"/>
          <p:cNvSpPr/>
          <p:nvPr/>
        </p:nvSpPr>
        <p:spPr>
          <a:xfrm>
            <a:off x="4663440" y="1143000"/>
            <a:ext cx="4023360" cy="777240"/>
          </a:xfrm>
          <a:prstGeom prst="roundRect">
            <a:avLst>
              <a:gd name="adj" fmla="val 11765"/>
            </a:avLst>
          </a:prstGeom>
          <a:solidFill>
            <a:schemeClr val="bg2"/>
          </a:solidFill>
          <a:ln w="12700">
            <a:solidFill>
              <a:schemeClr val="bg2"/>
            </a:solidFill>
            <a:prstDash val="solid"/>
          </a:ln>
        </p:spPr>
      </p:sp>
      <p:sp>
        <p:nvSpPr>
          <p:cNvPr id="24" name="icon circle FaChartBar"/>
          <p:cNvSpPr/>
          <p:nvPr/>
        </p:nvSpPr>
        <p:spPr>
          <a:xfrm>
            <a:off x="4773168" y="1298448"/>
            <a:ext cx="457200" cy="457200"/>
          </a:xfrm>
          <a:prstGeom prst="ellipse">
            <a:avLst/>
          </a:prstGeom>
          <a:solidFill>
            <a:schemeClr val="accent1"/>
          </a:solidFill>
          <a:ln w="12700">
            <a:solidFill>
              <a:schemeClr val="accent1"/>
            </a:solidFill>
            <a:prstDash val="solid"/>
          </a:ln>
        </p:spPr>
      </p:sp>
      <p:pic>
        <p:nvPicPr>
          <p:cNvPr id="25" name="icon FaChartBar" descr="FaChartBar">    </p:cNvPr>
          <p:cNvPicPr>
            <a:picLocks noChangeAspect="1"/>
          </p:cNvPicPr>
          <p:nvPr/>
        </p:nvPicPr>
        <p:blipFill>
          <a:blip r:embed="rId5"/>
          <a:stretch>
            <a:fillRect/>
          </a:stretch>
        </p:blipFill>
        <p:spPr>
          <a:xfrm>
            <a:off x="4892040" y="1417320"/>
            <a:ext cx="219456" cy="219456"/>
          </a:xfrm>
          <a:prstGeom prst="rect">
            <a:avLst/>
          </a:prstGeom>
        </p:spPr>
      </p:pic>
      <p:sp>
        <p:nvSpPr>
          <p:cNvPr id="26" name="Text 19"/>
          <p:cNvSpPr txBox="1"/>
          <p:nvPr/>
        </p:nvSpPr>
        <p:spPr>
          <a:xfrm>
            <a:off x="5376672" y="1216152"/>
            <a:ext cx="3246120" cy="274320"/>
          </a:xfrm>
          <a:prstGeom prst="rect">
            <a:avLst/>
          </a:prstGeom>
          <a:noFill/>
          <a:ln/>
        </p:spPr>
        <p:txBody>
          <a:bodyPr wrap="square" lIns="0" tIns="0" rIns="0" bIns="0" rtlCol="0" anchor="t"/>
          <a:lstStyle/>
          <a:p>
            <a:pPr indent="0" marL="0">
              <a:buNone/>
            </a:pPr>
            <a:r>
              <a:rPr lang="en-US" sz="1600" b="1" dirty="0">
                <a:solidFill>
                  <a:schemeClr val="tx1"/>
                </a:solidFill>
              </a:rPr>
              <a:t>Dashboard</a:t>
            </a:r>
            <a:endParaRPr lang="en-US" sz="1600" dirty="0"/>
          </a:p>
        </p:txBody>
      </p:sp>
      <p:sp>
        <p:nvSpPr>
          <p:cNvPr id="27" name="Text 20"/>
          <p:cNvSpPr txBox="1"/>
          <p:nvPr/>
        </p:nvSpPr>
        <p:spPr>
          <a:xfrm>
            <a:off x="5376672" y="1508760"/>
            <a:ext cx="3246120" cy="365760"/>
          </a:xfrm>
          <a:prstGeom prst="rect">
            <a:avLst/>
          </a:prstGeom>
          <a:noFill/>
          <a:ln/>
        </p:spPr>
        <p:txBody>
          <a:bodyPr wrap="square" lIns="0" tIns="0" rIns="0" bIns="0" rtlCol="0" anchor="t"/>
          <a:lstStyle/>
          <a:p>
            <a:pPr indent="0" marL="0">
              <a:buNone/>
            </a:pPr>
            <a:r>
              <a:rPr lang="en-US" sz="1400" dirty="0">
                <a:solidFill>
                  <a:schemeClr val="tx2"/>
                </a:solidFill>
              </a:rPr>
              <a:t>Figures, courses, latest enrollments</a:t>
            </a:r>
            <a:endParaRPr lang="en-US" sz="1400" dirty="0"/>
          </a:p>
        </p:txBody>
      </p:sp>
      <p:sp>
        <p:nvSpPr>
          <p:cNvPr id="28" name="module row 6"/>
          <p:cNvSpPr/>
          <p:nvPr/>
        </p:nvSpPr>
        <p:spPr>
          <a:xfrm>
            <a:off x="4663440" y="2029968"/>
            <a:ext cx="4023360" cy="777240"/>
          </a:xfrm>
          <a:prstGeom prst="roundRect">
            <a:avLst>
              <a:gd name="adj" fmla="val 11765"/>
            </a:avLst>
          </a:prstGeom>
          <a:solidFill>
            <a:schemeClr val="bg2"/>
          </a:solidFill>
          <a:ln w="12700">
            <a:solidFill>
              <a:schemeClr val="bg2"/>
            </a:solidFill>
            <a:prstDash val="solid"/>
          </a:ln>
        </p:spPr>
      </p:sp>
      <p:sp>
        <p:nvSpPr>
          <p:cNvPr id="29" name="icon circle FaPhoneAlt"/>
          <p:cNvSpPr/>
          <p:nvPr/>
        </p:nvSpPr>
        <p:spPr>
          <a:xfrm>
            <a:off x="4773168" y="2185416"/>
            <a:ext cx="457200" cy="457200"/>
          </a:xfrm>
          <a:prstGeom prst="ellipse">
            <a:avLst/>
          </a:prstGeom>
          <a:solidFill>
            <a:schemeClr val="accent2"/>
          </a:solidFill>
          <a:ln w="12700">
            <a:solidFill>
              <a:schemeClr val="accent2"/>
            </a:solidFill>
            <a:prstDash val="solid"/>
          </a:ln>
        </p:spPr>
      </p:sp>
      <p:pic>
        <p:nvPicPr>
          <p:cNvPr id="30" name="icon FaPhoneAlt" descr="FaPhoneAlt">    </p:cNvPr>
          <p:cNvPicPr>
            <a:picLocks noChangeAspect="1"/>
          </p:cNvPicPr>
          <p:nvPr/>
        </p:nvPicPr>
        <p:blipFill>
          <a:blip r:embed="rId6"/>
          <a:stretch>
            <a:fillRect/>
          </a:stretch>
        </p:blipFill>
        <p:spPr>
          <a:xfrm>
            <a:off x="4892040" y="2304288"/>
            <a:ext cx="219456" cy="219456"/>
          </a:xfrm>
          <a:prstGeom prst="rect">
            <a:avLst/>
          </a:prstGeom>
        </p:spPr>
      </p:pic>
      <p:sp>
        <p:nvSpPr>
          <p:cNvPr id="31" name="Text 23"/>
          <p:cNvSpPr txBox="1"/>
          <p:nvPr/>
        </p:nvSpPr>
        <p:spPr>
          <a:xfrm>
            <a:off x="5376672" y="2103120"/>
            <a:ext cx="3246120" cy="274320"/>
          </a:xfrm>
          <a:prstGeom prst="rect">
            <a:avLst/>
          </a:prstGeom>
          <a:noFill/>
          <a:ln/>
        </p:spPr>
        <p:txBody>
          <a:bodyPr wrap="square" lIns="0" tIns="0" rIns="0" bIns="0" rtlCol="0" anchor="t"/>
          <a:lstStyle/>
          <a:p>
            <a:pPr indent="0" marL="0">
              <a:buNone/>
            </a:pPr>
            <a:r>
              <a:rPr lang="en-US" sz="1600" b="1" dirty="0">
                <a:solidFill>
                  <a:schemeClr val="tx1"/>
                </a:solidFill>
              </a:rPr>
              <a:t>Contact</a:t>
            </a:r>
            <a:endParaRPr lang="en-US" sz="1600" dirty="0"/>
          </a:p>
        </p:txBody>
      </p:sp>
      <p:sp>
        <p:nvSpPr>
          <p:cNvPr id="32" name="Text 24"/>
          <p:cNvSpPr txBox="1"/>
          <p:nvPr/>
        </p:nvSpPr>
        <p:spPr>
          <a:xfrm>
            <a:off x="5376672" y="2395728"/>
            <a:ext cx="3246120" cy="365760"/>
          </a:xfrm>
          <a:prstGeom prst="rect">
            <a:avLst/>
          </a:prstGeom>
          <a:noFill/>
          <a:ln/>
        </p:spPr>
        <p:txBody>
          <a:bodyPr wrap="square" lIns="0" tIns="0" rIns="0" bIns="0" rtlCol="0" anchor="t"/>
          <a:lstStyle/>
          <a:p>
            <a:pPr indent="0" marL="0">
              <a:buNone/>
            </a:pPr>
            <a:r>
              <a:rPr lang="en-US" sz="1400" dirty="0">
                <a:solidFill>
                  <a:schemeClr val="tx2"/>
                </a:solidFill>
              </a:rPr>
              <a:t>Support email, phone, working hours</a:t>
            </a:r>
            <a:endParaRPr lang="en-US" sz="1400" dirty="0"/>
          </a:p>
        </p:txBody>
      </p:sp>
      <p:sp>
        <p:nvSpPr>
          <p:cNvPr id="33" name="module row 7"/>
          <p:cNvSpPr/>
          <p:nvPr/>
        </p:nvSpPr>
        <p:spPr>
          <a:xfrm>
            <a:off x="4663440" y="2916936"/>
            <a:ext cx="4023360" cy="777240"/>
          </a:xfrm>
          <a:prstGeom prst="roundRect">
            <a:avLst>
              <a:gd name="adj" fmla="val 11765"/>
            </a:avLst>
          </a:prstGeom>
          <a:solidFill>
            <a:schemeClr val="bg2"/>
          </a:solidFill>
          <a:ln w="12700">
            <a:solidFill>
              <a:schemeClr val="bg2"/>
            </a:solidFill>
            <a:prstDash val="solid"/>
          </a:ln>
        </p:spPr>
      </p:sp>
      <p:sp>
        <p:nvSpPr>
          <p:cNvPr id="34" name="icon circle FaDatabase"/>
          <p:cNvSpPr/>
          <p:nvPr/>
        </p:nvSpPr>
        <p:spPr>
          <a:xfrm>
            <a:off x="4773168" y="3072384"/>
            <a:ext cx="457200" cy="457200"/>
          </a:xfrm>
          <a:prstGeom prst="ellipse">
            <a:avLst/>
          </a:prstGeom>
          <a:solidFill>
            <a:schemeClr val="accent1"/>
          </a:solidFill>
          <a:ln w="12700">
            <a:solidFill>
              <a:schemeClr val="accent1"/>
            </a:solidFill>
            <a:prstDash val="solid"/>
          </a:ln>
        </p:spPr>
      </p:sp>
      <p:pic>
        <p:nvPicPr>
          <p:cNvPr id="35" name="icon FaDatabase" descr="FaDatabase">    </p:cNvPr>
          <p:cNvPicPr>
            <a:picLocks noChangeAspect="1"/>
          </p:cNvPicPr>
          <p:nvPr/>
        </p:nvPicPr>
        <p:blipFill>
          <a:blip r:embed="rId7"/>
          <a:stretch>
            <a:fillRect/>
          </a:stretch>
        </p:blipFill>
        <p:spPr>
          <a:xfrm>
            <a:off x="4892040" y="3191256"/>
            <a:ext cx="219456" cy="219456"/>
          </a:xfrm>
          <a:prstGeom prst="rect">
            <a:avLst/>
          </a:prstGeom>
        </p:spPr>
      </p:pic>
      <p:sp>
        <p:nvSpPr>
          <p:cNvPr id="36" name="Text 27"/>
          <p:cNvSpPr txBox="1"/>
          <p:nvPr/>
        </p:nvSpPr>
        <p:spPr>
          <a:xfrm>
            <a:off x="5376672" y="2990088"/>
            <a:ext cx="3246120" cy="274320"/>
          </a:xfrm>
          <a:prstGeom prst="rect">
            <a:avLst/>
          </a:prstGeom>
          <a:noFill/>
          <a:ln/>
        </p:spPr>
        <p:txBody>
          <a:bodyPr wrap="square" lIns="0" tIns="0" rIns="0" bIns="0" rtlCol="0" anchor="t"/>
          <a:lstStyle/>
          <a:p>
            <a:pPr indent="0" marL="0">
              <a:buNone/>
            </a:pPr>
            <a:r>
              <a:rPr lang="en-US" sz="1600" b="1" dirty="0">
                <a:solidFill>
                  <a:schemeClr val="tx1"/>
                </a:solidFill>
              </a:rPr>
              <a:t>Database</a:t>
            </a:r>
            <a:endParaRPr lang="en-US" sz="1600" dirty="0"/>
          </a:p>
        </p:txBody>
      </p:sp>
      <p:sp>
        <p:nvSpPr>
          <p:cNvPr id="37" name="Text 28"/>
          <p:cNvSpPr txBox="1"/>
          <p:nvPr/>
        </p:nvSpPr>
        <p:spPr>
          <a:xfrm>
            <a:off x="5376672" y="3282696"/>
            <a:ext cx="3246120" cy="365760"/>
          </a:xfrm>
          <a:prstGeom prst="rect">
            <a:avLst/>
          </a:prstGeom>
          <a:noFill/>
          <a:ln/>
        </p:spPr>
        <p:txBody>
          <a:bodyPr wrap="square" lIns="0" tIns="0" rIns="0" bIns="0" rtlCol="0" anchor="t"/>
          <a:lstStyle/>
          <a:p>
            <a:pPr indent="0" marL="0">
              <a:buNone/>
            </a:pPr>
            <a:r>
              <a:rPr lang="en-US" sz="1400" dirty="0">
                <a:solidFill>
                  <a:schemeClr val="tx2"/>
                </a:solidFill>
              </a:rPr>
              <a:t>Tables are made automatically</a:t>
            </a:r>
            <a:endParaRPr lang="en-US" sz="1400" dirty="0"/>
          </a:p>
        </p:txBody>
      </p:sp>
      <p:sp>
        <p:nvSpPr>
          <p:cNvPr id="38" name="module row 8"/>
          <p:cNvSpPr/>
          <p:nvPr/>
        </p:nvSpPr>
        <p:spPr>
          <a:xfrm>
            <a:off x="4663440" y="3803904"/>
            <a:ext cx="4023360" cy="777240"/>
          </a:xfrm>
          <a:prstGeom prst="roundRect">
            <a:avLst>
              <a:gd name="adj" fmla="val 11765"/>
            </a:avLst>
          </a:prstGeom>
          <a:solidFill>
            <a:schemeClr val="bg2"/>
          </a:solidFill>
          <a:ln w="12700">
            <a:solidFill>
              <a:schemeClr val="bg2"/>
            </a:solidFill>
            <a:prstDash val="solid"/>
          </a:ln>
        </p:spPr>
      </p:sp>
      <p:sp>
        <p:nvSpPr>
          <p:cNvPr id="39" name="icon circle FaBell"/>
          <p:cNvSpPr/>
          <p:nvPr/>
        </p:nvSpPr>
        <p:spPr>
          <a:xfrm>
            <a:off x="4773168" y="3959352"/>
            <a:ext cx="457200" cy="457200"/>
          </a:xfrm>
          <a:prstGeom prst="ellipse">
            <a:avLst/>
          </a:prstGeom>
          <a:solidFill>
            <a:schemeClr val="accent2"/>
          </a:solidFill>
          <a:ln w="12700">
            <a:solidFill>
              <a:schemeClr val="accent2"/>
            </a:solidFill>
            <a:prstDash val="solid"/>
          </a:ln>
        </p:spPr>
      </p:sp>
      <p:pic>
        <p:nvPicPr>
          <p:cNvPr id="40" name="icon FaBell" descr="FaBell">    </p:cNvPr>
          <p:cNvPicPr>
            <a:picLocks noChangeAspect="1"/>
          </p:cNvPicPr>
          <p:nvPr/>
        </p:nvPicPr>
        <p:blipFill>
          <a:blip r:embed="rId8"/>
          <a:stretch>
            <a:fillRect/>
          </a:stretch>
        </p:blipFill>
        <p:spPr>
          <a:xfrm>
            <a:off x="4892040" y="4078224"/>
            <a:ext cx="219456" cy="219456"/>
          </a:xfrm>
          <a:prstGeom prst="rect">
            <a:avLst/>
          </a:prstGeom>
        </p:spPr>
      </p:pic>
      <p:sp>
        <p:nvSpPr>
          <p:cNvPr id="41" name="Text 31"/>
          <p:cNvSpPr txBox="1"/>
          <p:nvPr/>
        </p:nvSpPr>
        <p:spPr>
          <a:xfrm>
            <a:off x="5376672" y="3877056"/>
            <a:ext cx="3246120" cy="274320"/>
          </a:xfrm>
          <a:prstGeom prst="rect">
            <a:avLst/>
          </a:prstGeom>
          <a:noFill/>
          <a:ln/>
        </p:spPr>
        <p:txBody>
          <a:bodyPr wrap="square" lIns="0" tIns="0" rIns="0" bIns="0" rtlCol="0" anchor="t"/>
          <a:lstStyle/>
          <a:p>
            <a:pPr indent="0" marL="0">
              <a:buNone/>
            </a:pPr>
            <a:r>
              <a:rPr lang="en-US" sz="1600" b="1" dirty="0">
                <a:solidFill>
                  <a:schemeClr val="tx1"/>
                </a:solidFill>
              </a:rPr>
              <a:t>Messages and Status</a:t>
            </a:r>
            <a:endParaRPr lang="en-US" sz="1600" dirty="0"/>
          </a:p>
        </p:txBody>
      </p:sp>
      <p:sp>
        <p:nvSpPr>
          <p:cNvPr id="42" name="Text 32"/>
          <p:cNvSpPr txBox="1"/>
          <p:nvPr/>
        </p:nvSpPr>
        <p:spPr>
          <a:xfrm>
            <a:off x="5376672" y="4169664"/>
            <a:ext cx="3246120" cy="365760"/>
          </a:xfrm>
          <a:prstGeom prst="rect">
            <a:avLst/>
          </a:prstGeom>
          <a:noFill/>
          <a:ln/>
        </p:spPr>
        <p:txBody>
          <a:bodyPr wrap="square" lIns="0" tIns="0" rIns="0" bIns="0" rtlCol="0" anchor="t"/>
          <a:lstStyle/>
          <a:p>
            <a:pPr indent="0" marL="0">
              <a:buNone/>
            </a:pPr>
            <a:r>
              <a:rPr lang="en-US" sz="1400" dirty="0">
                <a:solidFill>
                  <a:schemeClr val="tx2"/>
                </a:solidFill>
              </a:rPr>
              <a:t>Success and error messages</a:t>
            </a:r>
            <a:endParaRPr lang="en-US" sz="14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Database Design</a:t>
            </a:r>
            <a:endParaRPr lang="en-US" sz="3200" dirty="0"/>
          </a:p>
        </p:txBody>
      </p:sp>
      <p:sp>
        <p:nvSpPr>
          <p:cNvPr id="3" name="table card categories"/>
          <p:cNvSpPr/>
          <p:nvPr/>
        </p:nvSpPr>
        <p:spPr>
          <a:xfrm>
            <a:off x="457200" y="1097280"/>
            <a:ext cx="2651760" cy="2971800"/>
          </a:xfrm>
          <a:prstGeom prst="roundRect">
            <a:avLst>
              <a:gd name="adj" fmla="val 3448"/>
            </a:avLst>
          </a:prstGeom>
          <a:solidFill>
            <a:schemeClr val="bg2"/>
          </a:solidFill>
          <a:ln w="12700">
            <a:solidFill>
              <a:schemeClr val="bg2"/>
            </a:solidFill>
            <a:prstDash val="solid"/>
          </a:ln>
        </p:spPr>
      </p:sp>
      <p:sp>
        <p:nvSpPr>
          <p:cNvPr id="4" name="table header categories"/>
          <p:cNvSpPr/>
          <p:nvPr/>
        </p:nvSpPr>
        <p:spPr>
          <a:xfrm>
            <a:off x="457200" y="1097280"/>
            <a:ext cx="2651760" cy="411480"/>
          </a:xfrm>
          <a:prstGeom prst="roundRect">
            <a:avLst>
              <a:gd name="adj" fmla="val 22222"/>
            </a:avLst>
          </a:prstGeom>
          <a:solidFill>
            <a:schemeClr val="accent1"/>
          </a:solidFill>
          <a:ln w="12700">
            <a:solidFill>
              <a:schemeClr val="accent1"/>
            </a:solidFill>
            <a:prstDash val="solid"/>
          </a:ln>
        </p:spPr>
      </p:sp>
      <p:sp>
        <p:nvSpPr>
          <p:cNvPr id="5" name="Text 3"/>
          <p:cNvSpPr txBox="1"/>
          <p:nvPr/>
        </p:nvSpPr>
        <p:spPr>
          <a:xfrm>
            <a:off x="566928" y="1097280"/>
            <a:ext cx="2432304" cy="411480"/>
          </a:xfrm>
          <a:prstGeom prst="rect">
            <a:avLst/>
          </a:prstGeom>
          <a:noFill/>
          <a:ln/>
        </p:spPr>
        <p:txBody>
          <a:bodyPr wrap="square" lIns="0" tIns="0" rIns="0" bIns="0" rtlCol="0" anchor="ctr"/>
          <a:lstStyle/>
          <a:p>
            <a:pPr indent="0" marL="0">
              <a:buNone/>
            </a:pPr>
            <a:r>
              <a:rPr lang="en-US" sz="1600" b="1" dirty="0">
                <a:solidFill>
                  <a:schemeClr val="bg1"/>
                </a:solidFill>
                <a:latin typeface="Courier New" pitchFamily="34" charset="0"/>
                <a:ea typeface="Courier New" pitchFamily="34" charset="-122"/>
                <a:cs typeface="Courier New" pitchFamily="34" charset="-120"/>
              </a:rPr>
              <a:t>categories</a:t>
            </a:r>
            <a:endParaRPr lang="en-US" sz="1600" dirty="0"/>
          </a:p>
        </p:txBody>
      </p:sp>
      <p:sp>
        <p:nvSpPr>
          <p:cNvPr id="6" name="Text 4"/>
          <p:cNvSpPr txBox="1"/>
          <p:nvPr/>
        </p:nvSpPr>
        <p:spPr>
          <a:xfrm>
            <a:off x="621792" y="1600200"/>
            <a:ext cx="2377440" cy="2423160"/>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id</a:t>
            </a:r>
            <a:pPr indent="0" marL="0">
              <a:spcAft>
                <a:spcPts val="200"/>
              </a:spcAft>
              <a:buNone/>
            </a:pPr>
            <a:r>
              <a:rPr lang="en-US" sz="1300" b="1" dirty="0">
                <a:solidFill>
                  <a:schemeClr val="accent5"/>
                </a:solidFill>
              </a:rPr>
              <a:t>   (PK)</a:t>
            </a:r>
            <a:endParaRPr lang="en-US" sz="1300" dirty="0"/>
          </a:p>
          <a:p>
            <a:pPr indent="0" marL="0">
              <a:spcAft>
                <a:spcPts val="200"/>
              </a:spcAft>
              <a:buNone/>
            </a:pPr>
            <a:r>
              <a:rPr lang="en-US" sz="1300" b="1" dirty="0">
                <a:solidFill>
                  <a:schemeClr val="tx1"/>
                </a:solidFill>
              </a:rPr>
              <a:t>name</a:t>
            </a:r>
            <a:pPr indent="0" marL="0">
              <a:spcAft>
                <a:spcPts val="200"/>
              </a:spcAft>
              <a:buNone/>
            </a:pPr>
            <a:endParaRPr lang="en-US" sz="1300" dirty="0"/>
          </a:p>
          <a:p>
            <a:pPr indent="0" marL="0">
              <a:spcAft>
                <a:spcPts val="200"/>
              </a:spcAft>
              <a:buNone/>
            </a:pPr>
            <a:r>
              <a:rPr lang="en-US" sz="1300" b="1" dirty="0">
                <a:solidFill>
                  <a:schemeClr val="tx1"/>
                </a:solidFill>
              </a:rPr>
              <a:t>description</a:t>
            </a:r>
            <a:pPr indent="0" marL="0">
              <a:spcAft>
                <a:spcPts val="200"/>
              </a:spcAft>
              <a:buNone/>
            </a:pPr>
            <a:endParaRPr lang="en-US" sz="1300" dirty="0"/>
          </a:p>
          <a:p>
            <a:pPr indent="0" marL="0">
              <a:spcAft>
                <a:spcPts val="200"/>
              </a:spcAft>
              <a:buNone/>
            </a:pPr>
            <a:r>
              <a:rPr lang="en-US" sz="1300" b="1" dirty="0">
                <a:solidFill>
                  <a:schemeClr val="tx1"/>
                </a:solidFill>
              </a:rPr>
              <a:t>image</a:t>
            </a:r>
            <a:pPr indent="0" marL="0">
              <a:spcAft>
                <a:spcPts val="200"/>
              </a:spcAft>
              <a:buNone/>
            </a:pPr>
            <a:endParaRPr lang="en-US" sz="1300" dirty="0"/>
          </a:p>
          <a:p>
            <a:pPr indent="0" marL="0">
              <a:spcAft>
                <a:spcPts val="200"/>
              </a:spcAft>
              <a:buNone/>
            </a:pPr>
            <a:r>
              <a:rPr lang="en-US" sz="1300" b="1" dirty="0">
                <a:solidFill>
                  <a:schemeClr val="tx1"/>
                </a:solidFill>
              </a:rPr>
              <a:t>color</a:t>
            </a:r>
            <a:pPr indent="0" marL="0">
              <a:spcAft>
                <a:spcPts val="200"/>
              </a:spcAft>
              <a:buNone/>
            </a:pPr>
            <a:endParaRPr lang="en-US" sz="1300" dirty="0"/>
          </a:p>
          <a:p>
            <a:pPr indent="0" marL="0">
              <a:spcAft>
                <a:spcPts val="200"/>
              </a:spcAft>
              <a:buNone/>
            </a:pPr>
            <a:r>
              <a:rPr lang="en-US" sz="1300" b="1" dirty="0">
                <a:solidFill>
                  <a:schemeClr val="tx1"/>
                </a:solidFill>
              </a:rPr>
              <a:t>created_at</a:t>
            </a:r>
            <a:pPr indent="0" marL="0">
              <a:spcAft>
                <a:spcPts val="200"/>
              </a:spcAft>
              <a:buNone/>
            </a:pPr>
            <a:endParaRPr lang="en-US" sz="1300" dirty="0"/>
          </a:p>
        </p:txBody>
      </p:sp>
      <p:sp>
        <p:nvSpPr>
          <p:cNvPr id="7" name="table card courses"/>
          <p:cNvSpPr/>
          <p:nvPr/>
        </p:nvSpPr>
        <p:spPr>
          <a:xfrm>
            <a:off x="3246120" y="1097280"/>
            <a:ext cx="2651760" cy="2971800"/>
          </a:xfrm>
          <a:prstGeom prst="roundRect">
            <a:avLst>
              <a:gd name="adj" fmla="val 3448"/>
            </a:avLst>
          </a:prstGeom>
          <a:solidFill>
            <a:schemeClr val="bg2"/>
          </a:solidFill>
          <a:ln w="12700">
            <a:solidFill>
              <a:schemeClr val="bg2"/>
            </a:solidFill>
            <a:prstDash val="solid"/>
          </a:ln>
        </p:spPr>
      </p:sp>
      <p:sp>
        <p:nvSpPr>
          <p:cNvPr id="8" name="table header courses"/>
          <p:cNvSpPr/>
          <p:nvPr/>
        </p:nvSpPr>
        <p:spPr>
          <a:xfrm>
            <a:off x="3246120" y="1097280"/>
            <a:ext cx="2651760" cy="411480"/>
          </a:xfrm>
          <a:prstGeom prst="roundRect">
            <a:avLst>
              <a:gd name="adj" fmla="val 22222"/>
            </a:avLst>
          </a:prstGeom>
          <a:solidFill>
            <a:schemeClr val="accent2"/>
          </a:solidFill>
          <a:ln w="12700">
            <a:solidFill>
              <a:schemeClr val="accent2"/>
            </a:solidFill>
            <a:prstDash val="solid"/>
          </a:ln>
        </p:spPr>
      </p:sp>
      <p:sp>
        <p:nvSpPr>
          <p:cNvPr id="9" name="Text 7"/>
          <p:cNvSpPr txBox="1"/>
          <p:nvPr/>
        </p:nvSpPr>
        <p:spPr>
          <a:xfrm>
            <a:off x="3355848" y="1097280"/>
            <a:ext cx="2432304" cy="411480"/>
          </a:xfrm>
          <a:prstGeom prst="rect">
            <a:avLst/>
          </a:prstGeom>
          <a:noFill/>
          <a:ln/>
        </p:spPr>
        <p:txBody>
          <a:bodyPr wrap="square" lIns="0" tIns="0" rIns="0" bIns="0" rtlCol="0" anchor="ctr"/>
          <a:lstStyle/>
          <a:p>
            <a:pPr indent="0" marL="0">
              <a:buNone/>
            </a:pPr>
            <a:r>
              <a:rPr lang="en-US" sz="1600" b="1" dirty="0">
                <a:solidFill>
                  <a:schemeClr val="bg1"/>
                </a:solidFill>
                <a:latin typeface="Courier New" pitchFamily="34" charset="0"/>
                <a:ea typeface="Courier New" pitchFamily="34" charset="-122"/>
                <a:cs typeface="Courier New" pitchFamily="34" charset="-120"/>
              </a:rPr>
              <a:t>courses</a:t>
            </a:r>
            <a:endParaRPr lang="en-US" sz="1600" dirty="0"/>
          </a:p>
        </p:txBody>
      </p:sp>
      <p:sp>
        <p:nvSpPr>
          <p:cNvPr id="10" name="Text 8"/>
          <p:cNvSpPr txBox="1"/>
          <p:nvPr/>
        </p:nvSpPr>
        <p:spPr>
          <a:xfrm>
            <a:off x="3410712" y="1600200"/>
            <a:ext cx="2377440" cy="2423160"/>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id</a:t>
            </a:r>
            <a:pPr indent="0" marL="0">
              <a:spcAft>
                <a:spcPts val="200"/>
              </a:spcAft>
              <a:buNone/>
            </a:pPr>
            <a:r>
              <a:rPr lang="en-US" sz="1300" b="1" dirty="0">
                <a:solidFill>
                  <a:schemeClr val="accent5"/>
                </a:solidFill>
              </a:rPr>
              <a:t>   (PK)</a:t>
            </a:r>
            <a:endParaRPr lang="en-US" sz="1300" dirty="0"/>
          </a:p>
          <a:p>
            <a:pPr indent="0" marL="0">
              <a:spcAft>
                <a:spcPts val="200"/>
              </a:spcAft>
              <a:buNone/>
            </a:pPr>
            <a:r>
              <a:rPr lang="en-US" sz="1300" b="1" dirty="0">
                <a:solidFill>
                  <a:schemeClr val="tx1"/>
                </a:solidFill>
              </a:rPr>
              <a:t>title</a:t>
            </a:r>
            <a:pPr indent="0" marL="0">
              <a:spcAft>
                <a:spcPts val="200"/>
              </a:spcAft>
              <a:buNone/>
            </a:pPr>
            <a:endParaRPr lang="en-US" sz="1300" dirty="0"/>
          </a:p>
          <a:p>
            <a:pPr indent="0" marL="0">
              <a:spcAft>
                <a:spcPts val="200"/>
              </a:spcAft>
              <a:buNone/>
            </a:pPr>
            <a:r>
              <a:rPr lang="en-US" sz="1300" b="1" dirty="0">
                <a:solidFill>
                  <a:schemeClr val="tx1"/>
                </a:solidFill>
              </a:rPr>
              <a:t>category_id</a:t>
            </a:r>
            <a:pPr indent="0" marL="0">
              <a:spcAft>
                <a:spcPts val="200"/>
              </a:spcAft>
              <a:buNone/>
            </a:pPr>
            <a:r>
              <a:rPr lang="en-US" sz="1300" b="1" dirty="0">
                <a:solidFill>
                  <a:schemeClr val="accent5"/>
                </a:solidFill>
              </a:rPr>
              <a:t>   (FK)</a:t>
            </a:r>
            <a:endParaRPr lang="en-US" sz="1300" dirty="0"/>
          </a:p>
          <a:p>
            <a:pPr indent="0" marL="0">
              <a:spcAft>
                <a:spcPts val="200"/>
              </a:spcAft>
              <a:buNone/>
            </a:pPr>
            <a:r>
              <a:rPr lang="en-US" sz="1300" b="1" dirty="0">
                <a:solidFill>
                  <a:schemeClr val="tx1"/>
                </a:solidFill>
              </a:rPr>
              <a:t>instructor</a:t>
            </a:r>
            <a:pPr indent="0" marL="0">
              <a:spcAft>
                <a:spcPts val="200"/>
              </a:spcAft>
              <a:buNone/>
            </a:pPr>
            <a:endParaRPr lang="en-US" sz="1300" dirty="0"/>
          </a:p>
          <a:p>
            <a:pPr indent="0" marL="0">
              <a:spcAft>
                <a:spcPts val="200"/>
              </a:spcAft>
              <a:buNone/>
            </a:pPr>
            <a:r>
              <a:rPr lang="en-US" sz="1300" b="1" dirty="0">
                <a:solidFill>
                  <a:schemeClr val="tx1"/>
                </a:solidFill>
              </a:rPr>
              <a:t>duration</a:t>
            </a:r>
            <a:pPr indent="0" marL="0">
              <a:spcAft>
                <a:spcPts val="200"/>
              </a:spcAft>
              <a:buNone/>
            </a:pPr>
            <a:endParaRPr lang="en-US" sz="1300" dirty="0"/>
          </a:p>
          <a:p>
            <a:pPr indent="0" marL="0">
              <a:spcAft>
                <a:spcPts val="200"/>
              </a:spcAft>
              <a:buNone/>
            </a:pPr>
            <a:r>
              <a:rPr lang="en-US" sz="1300" b="1" dirty="0">
                <a:solidFill>
                  <a:schemeClr val="tx1"/>
                </a:solidFill>
              </a:rPr>
              <a:t>level</a:t>
            </a:r>
            <a:pPr indent="0" marL="0">
              <a:spcAft>
                <a:spcPts val="200"/>
              </a:spcAft>
              <a:buNone/>
            </a:pPr>
            <a:endParaRPr lang="en-US" sz="1300" dirty="0"/>
          </a:p>
          <a:p>
            <a:pPr indent="0" marL="0">
              <a:spcAft>
                <a:spcPts val="200"/>
              </a:spcAft>
              <a:buNone/>
            </a:pPr>
            <a:r>
              <a:rPr lang="en-US" sz="1300" b="1" dirty="0">
                <a:solidFill>
                  <a:schemeClr val="tx1"/>
                </a:solidFill>
              </a:rPr>
              <a:t>description</a:t>
            </a:r>
            <a:pPr indent="0" marL="0">
              <a:spcAft>
                <a:spcPts val="200"/>
              </a:spcAft>
              <a:buNone/>
            </a:pPr>
            <a:endParaRPr lang="en-US" sz="1300" dirty="0"/>
          </a:p>
          <a:p>
            <a:pPr indent="0" marL="0">
              <a:spcAft>
                <a:spcPts val="200"/>
              </a:spcAft>
              <a:buNone/>
            </a:pPr>
            <a:r>
              <a:rPr lang="en-US" sz="1300" b="1" dirty="0">
                <a:solidFill>
                  <a:schemeClr val="tx1"/>
                </a:solidFill>
              </a:rPr>
              <a:t>seats</a:t>
            </a:r>
            <a:pPr indent="0" marL="0">
              <a:spcAft>
                <a:spcPts val="200"/>
              </a:spcAft>
              <a:buNone/>
            </a:pPr>
            <a:endParaRPr lang="en-US" sz="1300" dirty="0"/>
          </a:p>
          <a:p>
            <a:pPr indent="0" marL="0">
              <a:spcAft>
                <a:spcPts val="200"/>
              </a:spcAft>
              <a:buNone/>
            </a:pPr>
            <a:r>
              <a:rPr lang="en-US" sz="1300" b="1" dirty="0">
                <a:solidFill>
                  <a:schemeClr val="tx1"/>
                </a:solidFill>
              </a:rPr>
              <a:t>created_at</a:t>
            </a:r>
            <a:pPr indent="0" marL="0">
              <a:spcAft>
                <a:spcPts val="200"/>
              </a:spcAft>
              <a:buNone/>
            </a:pPr>
            <a:endParaRPr lang="en-US" sz="1300" dirty="0"/>
          </a:p>
        </p:txBody>
      </p:sp>
      <p:sp>
        <p:nvSpPr>
          <p:cNvPr id="11" name="table card enrollments"/>
          <p:cNvSpPr/>
          <p:nvPr/>
        </p:nvSpPr>
        <p:spPr>
          <a:xfrm>
            <a:off x="6035040" y="1097280"/>
            <a:ext cx="2651760" cy="2971800"/>
          </a:xfrm>
          <a:prstGeom prst="roundRect">
            <a:avLst>
              <a:gd name="adj" fmla="val 3448"/>
            </a:avLst>
          </a:prstGeom>
          <a:solidFill>
            <a:schemeClr val="bg2"/>
          </a:solidFill>
          <a:ln w="12700">
            <a:solidFill>
              <a:schemeClr val="bg2"/>
            </a:solidFill>
            <a:prstDash val="solid"/>
          </a:ln>
        </p:spPr>
      </p:sp>
      <p:sp>
        <p:nvSpPr>
          <p:cNvPr id="12" name="table header enrollments"/>
          <p:cNvSpPr/>
          <p:nvPr/>
        </p:nvSpPr>
        <p:spPr>
          <a:xfrm>
            <a:off x="6035040" y="1097280"/>
            <a:ext cx="2651760" cy="411480"/>
          </a:xfrm>
          <a:prstGeom prst="roundRect">
            <a:avLst>
              <a:gd name="adj" fmla="val 22222"/>
            </a:avLst>
          </a:prstGeom>
          <a:solidFill>
            <a:schemeClr val="accent6"/>
          </a:solidFill>
          <a:ln w="12700">
            <a:solidFill>
              <a:schemeClr val="accent6"/>
            </a:solidFill>
            <a:prstDash val="solid"/>
          </a:ln>
        </p:spPr>
      </p:sp>
      <p:sp>
        <p:nvSpPr>
          <p:cNvPr id="13" name="Text 11"/>
          <p:cNvSpPr txBox="1"/>
          <p:nvPr/>
        </p:nvSpPr>
        <p:spPr>
          <a:xfrm>
            <a:off x="6144768" y="1097280"/>
            <a:ext cx="2432304" cy="411480"/>
          </a:xfrm>
          <a:prstGeom prst="rect">
            <a:avLst/>
          </a:prstGeom>
          <a:noFill/>
          <a:ln/>
        </p:spPr>
        <p:txBody>
          <a:bodyPr wrap="square" lIns="0" tIns="0" rIns="0" bIns="0" rtlCol="0" anchor="ctr"/>
          <a:lstStyle/>
          <a:p>
            <a:pPr indent="0" marL="0">
              <a:buNone/>
            </a:pPr>
            <a:r>
              <a:rPr lang="en-US" sz="1600" b="1" dirty="0">
                <a:solidFill>
                  <a:schemeClr val="bg1"/>
                </a:solidFill>
                <a:latin typeface="Courier New" pitchFamily="34" charset="0"/>
                <a:ea typeface="Courier New" pitchFamily="34" charset="-122"/>
                <a:cs typeface="Courier New" pitchFamily="34" charset="-120"/>
              </a:rPr>
              <a:t>enrollments</a:t>
            </a:r>
            <a:endParaRPr lang="en-US" sz="1600" dirty="0"/>
          </a:p>
        </p:txBody>
      </p:sp>
      <p:sp>
        <p:nvSpPr>
          <p:cNvPr id="14" name="Text 12"/>
          <p:cNvSpPr txBox="1"/>
          <p:nvPr/>
        </p:nvSpPr>
        <p:spPr>
          <a:xfrm>
            <a:off x="6199632" y="1600200"/>
            <a:ext cx="2377440" cy="2423160"/>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id</a:t>
            </a:r>
            <a:pPr indent="0" marL="0">
              <a:spcAft>
                <a:spcPts val="200"/>
              </a:spcAft>
              <a:buNone/>
            </a:pPr>
            <a:r>
              <a:rPr lang="en-US" sz="1300" b="1" dirty="0">
                <a:solidFill>
                  <a:schemeClr val="accent5"/>
                </a:solidFill>
              </a:rPr>
              <a:t>   (PK)</a:t>
            </a:r>
            <a:endParaRPr lang="en-US" sz="1300" dirty="0"/>
          </a:p>
          <a:p>
            <a:pPr indent="0" marL="0">
              <a:spcAft>
                <a:spcPts val="200"/>
              </a:spcAft>
              <a:buNone/>
            </a:pPr>
            <a:r>
              <a:rPr lang="en-US" sz="1300" b="1" dirty="0">
                <a:solidFill>
                  <a:schemeClr val="tx1"/>
                </a:solidFill>
              </a:rPr>
              <a:t>student_name</a:t>
            </a:r>
            <a:pPr indent="0" marL="0">
              <a:spcAft>
                <a:spcPts val="200"/>
              </a:spcAft>
              <a:buNone/>
            </a:pPr>
            <a:endParaRPr lang="en-US" sz="1300" dirty="0"/>
          </a:p>
          <a:p>
            <a:pPr indent="0" marL="0">
              <a:spcAft>
                <a:spcPts val="200"/>
              </a:spcAft>
              <a:buNone/>
            </a:pPr>
            <a:r>
              <a:rPr lang="en-US" sz="1300" b="1" dirty="0">
                <a:solidFill>
                  <a:schemeClr val="tx1"/>
                </a:solidFill>
              </a:rPr>
              <a:t>student_email</a:t>
            </a:r>
            <a:pPr indent="0" marL="0">
              <a:spcAft>
                <a:spcPts val="200"/>
              </a:spcAft>
              <a:buNone/>
            </a:pPr>
            <a:endParaRPr lang="en-US" sz="1300" dirty="0"/>
          </a:p>
          <a:p>
            <a:pPr indent="0" marL="0">
              <a:spcAft>
                <a:spcPts val="200"/>
              </a:spcAft>
              <a:buNone/>
            </a:pPr>
            <a:r>
              <a:rPr lang="en-US" sz="1300" b="1" dirty="0">
                <a:solidFill>
                  <a:schemeClr val="tx1"/>
                </a:solidFill>
              </a:rPr>
              <a:t>course_name</a:t>
            </a:r>
            <a:pPr indent="0" marL="0">
              <a:spcAft>
                <a:spcPts val="200"/>
              </a:spcAft>
              <a:buNone/>
            </a:pPr>
            <a:endParaRPr lang="en-US" sz="1300" dirty="0"/>
          </a:p>
          <a:p>
            <a:pPr indent="0" marL="0">
              <a:spcAft>
                <a:spcPts val="200"/>
              </a:spcAft>
              <a:buNone/>
            </a:pPr>
            <a:r>
              <a:rPr lang="en-US" sz="1300" b="1" dirty="0">
                <a:solidFill>
                  <a:schemeClr val="tx1"/>
                </a:solidFill>
              </a:rPr>
              <a:t>category_name</a:t>
            </a:r>
            <a:pPr indent="0" marL="0">
              <a:spcAft>
                <a:spcPts val="200"/>
              </a:spcAft>
              <a:buNone/>
            </a:pPr>
            <a:endParaRPr lang="en-US" sz="1300" dirty="0"/>
          </a:p>
          <a:p>
            <a:pPr indent="0" marL="0">
              <a:spcAft>
                <a:spcPts val="200"/>
              </a:spcAft>
              <a:buNone/>
            </a:pPr>
            <a:r>
              <a:rPr lang="en-US" sz="1300" b="1" dirty="0">
                <a:solidFill>
                  <a:schemeClr val="tx1"/>
                </a:solidFill>
              </a:rPr>
              <a:t>phone</a:t>
            </a:r>
            <a:pPr indent="0" marL="0">
              <a:spcAft>
                <a:spcPts val="200"/>
              </a:spcAft>
              <a:buNone/>
            </a:pPr>
            <a:endParaRPr lang="en-US" sz="1300" dirty="0"/>
          </a:p>
          <a:p>
            <a:pPr indent="0" marL="0">
              <a:spcAft>
                <a:spcPts val="200"/>
              </a:spcAft>
              <a:buNone/>
            </a:pPr>
            <a:r>
              <a:rPr lang="en-US" sz="1300" b="1" dirty="0">
                <a:solidFill>
                  <a:schemeClr val="tx1"/>
                </a:solidFill>
              </a:rPr>
              <a:t>status</a:t>
            </a:r>
            <a:pPr indent="0" marL="0">
              <a:spcAft>
                <a:spcPts val="200"/>
              </a:spcAft>
              <a:buNone/>
            </a:pPr>
            <a:endParaRPr lang="en-US" sz="1300" dirty="0"/>
          </a:p>
          <a:p>
            <a:pPr indent="0" marL="0">
              <a:spcAft>
                <a:spcPts val="200"/>
              </a:spcAft>
              <a:buNone/>
            </a:pPr>
            <a:r>
              <a:rPr lang="en-US" sz="1300" b="1" dirty="0">
                <a:solidFill>
                  <a:schemeClr val="tx1"/>
                </a:solidFill>
              </a:rPr>
              <a:t>created_at</a:t>
            </a:r>
            <a:pPr indent="0" marL="0">
              <a:spcAft>
                <a:spcPts val="200"/>
              </a:spcAft>
              <a:buNone/>
            </a:pPr>
            <a:endParaRPr lang="en-US" sz="1300" dirty="0"/>
          </a:p>
        </p:txBody>
      </p:sp>
      <p:sp>
        <p:nvSpPr>
          <p:cNvPr id="15" name="relationship chip"/>
          <p:cNvSpPr/>
          <p:nvPr/>
        </p:nvSpPr>
        <p:spPr>
          <a:xfrm>
            <a:off x="457200" y="4160520"/>
            <a:ext cx="4023360" cy="548640"/>
          </a:xfrm>
          <a:prstGeom prst="roundRect">
            <a:avLst>
              <a:gd name="adj" fmla="val 16667"/>
            </a:avLst>
          </a:prstGeom>
          <a:solidFill>
            <a:schemeClr val="accent5"/>
          </a:solidFill>
          <a:ln w="12700">
            <a:solidFill>
              <a:schemeClr val="accent5"/>
            </a:solidFill>
            <a:prstDash val="solid"/>
          </a:ln>
        </p:spPr>
      </p:sp>
      <p:sp>
        <p:nvSpPr>
          <p:cNvPr id="16" name="Text 14"/>
          <p:cNvSpPr txBox="1"/>
          <p:nvPr/>
        </p:nvSpPr>
        <p:spPr>
          <a:xfrm>
            <a:off x="594360" y="4160520"/>
            <a:ext cx="3749040" cy="548640"/>
          </a:xfrm>
          <a:prstGeom prst="rect">
            <a:avLst/>
          </a:prstGeom>
          <a:noFill/>
          <a:ln/>
        </p:spPr>
        <p:txBody>
          <a:bodyPr wrap="square" lIns="0" tIns="0" rIns="0" bIns="0" rtlCol="0" anchor="ctr"/>
          <a:lstStyle/>
          <a:p>
            <a:pPr indent="0" marL="0">
              <a:buNone/>
            </a:pPr>
            <a:r>
              <a:rPr lang="en-US" sz="1400" b="1" dirty="0">
                <a:solidFill>
                  <a:schemeClr val="bg1"/>
                </a:solidFill>
              </a:rPr>
              <a:t>One category has many courses (category_id)</a:t>
            </a:r>
            <a:endParaRPr lang="en-US" sz="1400" dirty="0"/>
          </a:p>
        </p:txBody>
      </p:sp>
      <p:sp>
        <p:nvSpPr>
          <p:cNvPr id="17" name="status chip"/>
          <p:cNvSpPr/>
          <p:nvPr/>
        </p:nvSpPr>
        <p:spPr>
          <a:xfrm>
            <a:off x="4663440" y="4160520"/>
            <a:ext cx="4023360" cy="548640"/>
          </a:xfrm>
          <a:prstGeom prst="roundRect">
            <a:avLst>
              <a:gd name="adj" fmla="val 16667"/>
            </a:avLst>
          </a:prstGeom>
          <a:solidFill>
            <a:schemeClr val="accent6"/>
          </a:solidFill>
          <a:ln w="12700">
            <a:solidFill>
              <a:schemeClr val="accent6"/>
            </a:solidFill>
            <a:prstDash val="solid"/>
          </a:ln>
        </p:spPr>
      </p:sp>
      <p:sp>
        <p:nvSpPr>
          <p:cNvPr id="18" name="Text 16"/>
          <p:cNvSpPr txBox="1"/>
          <p:nvPr/>
        </p:nvSpPr>
        <p:spPr>
          <a:xfrm>
            <a:off x="4800600" y="4160520"/>
            <a:ext cx="3749040" cy="548640"/>
          </a:xfrm>
          <a:prstGeom prst="rect">
            <a:avLst/>
          </a:prstGeom>
          <a:noFill/>
          <a:ln/>
        </p:spPr>
        <p:txBody>
          <a:bodyPr wrap="square" lIns="0" tIns="0" rIns="0" bIns="0" rtlCol="0" anchor="ctr"/>
          <a:lstStyle/>
          <a:p>
            <a:pPr indent="0" marL="0">
              <a:buNone/>
            </a:pPr>
            <a:r>
              <a:rPr lang="en-US" sz="1400" b="1" dirty="0">
                <a:solidFill>
                  <a:schemeClr val="bg1"/>
                </a:solidFill>
              </a:rPr>
              <a:t>New enrollment status is Pending</a:t>
            </a:r>
            <a:endParaRPr lang="en-US" sz="14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Implementation</a:t>
            </a:r>
            <a:endParaRPr lang="en-US" sz="3200" dirty="0"/>
          </a:p>
        </p:txBody>
      </p:sp>
      <p:sp>
        <p:nvSpPr>
          <p:cNvPr id="3" name="code card"/>
          <p:cNvSpPr/>
          <p:nvPr/>
        </p:nvSpPr>
        <p:spPr>
          <a:xfrm>
            <a:off x="457200" y="1097280"/>
            <a:ext cx="4800600" cy="2834640"/>
          </a:xfrm>
          <a:prstGeom prst="roundRect">
            <a:avLst>
              <a:gd name="adj" fmla="val 3226"/>
            </a:avLst>
          </a:prstGeom>
          <a:solidFill>
            <a:schemeClr val="accent4"/>
          </a:solidFill>
          <a:ln w="12700">
            <a:solidFill>
              <a:schemeClr val="accent4"/>
            </a:solidFill>
            <a:prstDash val="solid"/>
          </a:ln>
        </p:spPr>
      </p:sp>
      <p:sp>
        <p:nvSpPr>
          <p:cNvPr id="4" name="Text 2"/>
          <p:cNvSpPr txBox="1"/>
          <p:nvPr/>
        </p:nvSpPr>
        <p:spPr>
          <a:xfrm>
            <a:off x="640080" y="1188720"/>
            <a:ext cx="4480560" cy="274320"/>
          </a:xfrm>
          <a:prstGeom prst="rect">
            <a:avLst/>
          </a:prstGeom>
          <a:noFill/>
          <a:ln/>
        </p:spPr>
        <p:txBody>
          <a:bodyPr wrap="square" lIns="0" tIns="0" rIns="0" bIns="0" rtlCol="0" anchor="t"/>
          <a:lstStyle/>
          <a:p>
            <a:pPr indent="0" marL="0">
              <a:buNone/>
            </a:pPr>
            <a:r>
              <a:rPr lang="en-US" sz="1300" b="1" dirty="0">
                <a:solidFill>
                  <a:schemeClr val="accent3"/>
                </a:solidFill>
              </a:rPr>
              <a:t>courses_page() - filter by category</a:t>
            </a:r>
            <a:endParaRPr lang="en-US" sz="1300" dirty="0"/>
          </a:p>
        </p:txBody>
      </p:sp>
      <p:sp>
        <p:nvSpPr>
          <p:cNvPr id="5" name="Text 3"/>
          <p:cNvSpPr txBox="1"/>
          <p:nvPr/>
        </p:nvSpPr>
        <p:spPr>
          <a:xfrm>
            <a:off x="640080" y="1554480"/>
            <a:ext cx="4480560" cy="1691640"/>
          </a:xfrm>
          <a:prstGeom prst="rect">
            <a:avLst/>
          </a:prstGeom>
          <a:noFill/>
          <a:ln/>
        </p:spPr>
        <p:txBody>
          <a:bodyPr wrap="square" lIns="0" tIns="0" rIns="0" bIns="0" rtlCol="0" anchor="t"/>
          <a:lstStyle/>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query = """SELECT c.*, cat.name</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AS category_name FROM courses c</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JOIN categories cat</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ON c.category_id = cat.id"""</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if selected_category:</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query += " WHERE cat.name = %s"</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params = (selected_category,)</a:t>
            </a:r>
            <a:endParaRPr lang="en-US" sz="1200" dirty="0"/>
          </a:p>
        </p:txBody>
      </p:sp>
      <p:sp>
        <p:nvSpPr>
          <p:cNvPr id="6" name="Text 4"/>
          <p:cNvSpPr txBox="1"/>
          <p:nvPr/>
        </p:nvSpPr>
        <p:spPr>
          <a:xfrm>
            <a:off x="640080" y="3337560"/>
            <a:ext cx="4480560" cy="502920"/>
          </a:xfrm>
          <a:prstGeom prst="rect">
            <a:avLst/>
          </a:prstGeom>
          <a:noFill/>
          <a:ln/>
        </p:spPr>
        <p:txBody>
          <a:bodyPr wrap="square" lIns="0" tIns="0" rIns="0" bIns="0" rtlCol="0" anchor="t"/>
          <a:lstStyle/>
          <a:p>
            <a:pPr indent="0" marL="0">
              <a:buNone/>
            </a:pPr>
            <a:r>
              <a:rPr lang="en-US" sz="1300" i="1" dirty="0">
                <a:solidFill>
                  <a:schemeClr val="bg2"/>
                </a:solidFill>
              </a:rPr>
              <a:t>Shown in short form. %s passes the value safely (no SQL injection).</a:t>
            </a:r>
            <a:endParaRPr lang="en-US" sz="1300" dirty="0"/>
          </a:p>
        </p:txBody>
      </p:sp>
      <p:sp>
        <p:nvSpPr>
          <p:cNvPr id="7" name="Text 5"/>
          <p:cNvSpPr txBox="1"/>
          <p:nvPr/>
        </p:nvSpPr>
        <p:spPr>
          <a:xfrm>
            <a:off x="5486400" y="1097280"/>
            <a:ext cx="320040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init_db() makes the tables and adds sample data</a:t>
            </a:r>
            <a:endParaRPr lang="en-US" sz="1500" dirty="0"/>
          </a:p>
          <a:p>
            <a:pPr marL="342900" indent="-342900">
              <a:spcAft>
                <a:spcPts val="800"/>
              </a:spcAft>
              <a:buSzPct val="100000"/>
              <a:buChar char="•"/>
            </a:pPr>
            <a:r>
              <a:rPr lang="en-US" sz="1500" dirty="0">
                <a:solidFill>
                  <a:schemeClr val="tx1"/>
                </a:solidFill>
              </a:rPr>
              <a:t>fetch_all() runs a query and gives back the rows</a:t>
            </a:r>
            <a:endParaRPr lang="en-US" sz="1500" dirty="0"/>
          </a:p>
          <a:p>
            <a:pPr marL="342900" indent="-342900">
              <a:spcAft>
                <a:spcPts val="800"/>
              </a:spcAft>
              <a:buSzPct val="100000"/>
              <a:buChar char="•"/>
            </a:pPr>
            <a:r>
              <a:rPr lang="en-US" sz="1500" dirty="0">
                <a:solidFill>
                  <a:schemeClr val="tx1"/>
                </a:solidFill>
              </a:rPr>
              <a:t>Login: empty field or short password shows an error, else go to /dashboard</a:t>
            </a:r>
            <a:endParaRPr lang="en-US" sz="1500" dirty="0"/>
          </a:p>
        </p:txBody>
      </p:sp>
      <p:sp>
        <p:nvSpPr>
          <p:cNvPr id="8" name="routes strip"/>
          <p:cNvSpPr/>
          <p:nvPr/>
        </p:nvSpPr>
        <p:spPr>
          <a:xfrm>
            <a:off x="457200" y="4114800"/>
            <a:ext cx="8229600" cy="548640"/>
          </a:xfrm>
          <a:prstGeom prst="roundRect">
            <a:avLst>
              <a:gd name="adj" fmla="val 16667"/>
            </a:avLst>
          </a:prstGeom>
          <a:solidFill>
            <a:schemeClr val="bg2"/>
          </a:solidFill>
          <a:ln w="12700">
            <a:solidFill>
              <a:schemeClr val="bg2"/>
            </a:solidFill>
            <a:prstDash val="solid"/>
          </a:ln>
        </p:spPr>
      </p:sp>
      <p:sp>
        <p:nvSpPr>
          <p:cNvPr id="9" name="Text 7"/>
          <p:cNvSpPr txBox="1"/>
          <p:nvPr/>
        </p:nvSpPr>
        <p:spPr>
          <a:xfrm>
            <a:off x="640080" y="4114800"/>
            <a:ext cx="7863840" cy="548640"/>
          </a:xfrm>
          <a:prstGeom prst="rect">
            <a:avLst/>
          </a:prstGeom>
          <a:noFill/>
          <a:ln/>
        </p:spPr>
        <p:txBody>
          <a:bodyPr wrap="square" lIns="0" tIns="0" rIns="0" bIns="0" rtlCol="0" anchor="ctr"/>
          <a:lstStyle/>
          <a:p>
            <a:pPr indent="0" marL="0">
              <a:buNone/>
            </a:pPr>
            <a:r>
              <a:rPr lang="en-US" sz="1500" b="1" dirty="0">
                <a:solidFill>
                  <a:schemeClr val="accent5"/>
                </a:solidFill>
              </a:rPr>
              <a:t>Pages (routes)  </a:t>
            </a:r>
            <a:pPr indent="0" marL="0">
              <a:buNone/>
            </a:pPr>
            <a:r>
              <a:rPr lang="en-US" sz="1500" dirty="0">
                <a:solidFill>
                  <a:schemeClr val="tx1"/>
                </a:solidFill>
              </a:rPr>
              <a:t>/   /categories   /courses   /enroll   /login   /dashboard   /contact</a:t>
            </a:r>
            <a:endParaRPr lang="en-US" sz="15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Output 1: Home and Login</a:t>
            </a:r>
            <a:endParaRPr lang="en-US" sz="3200" dirty="0"/>
          </a:p>
        </p:txBody>
      </p:sp>
      <p:sp>
        <p:nvSpPr>
          <p:cNvPr id="3" name="frame Figure 9.1 Home page"/>
          <p:cNvSpPr/>
          <p:nvPr/>
        </p:nvSpPr>
        <p:spPr>
          <a:xfrm>
            <a:off x="411480" y="1332438"/>
            <a:ext cx="4114800" cy="2227165"/>
          </a:xfrm>
          <a:prstGeom prst="roundRect">
            <a:avLst>
              <a:gd name="adj" fmla="val 4106"/>
            </a:avLst>
          </a:prstGeom>
          <a:solidFill>
            <a:schemeClr val="bg2"/>
          </a:solidFill>
          <a:ln w="12700">
            <a:solidFill>
              <a:schemeClr val="bg2"/>
            </a:solidFill>
            <a:prstDash val="solid"/>
          </a:ln>
        </p:spPr>
      </p:sp>
      <p:pic>
        <p:nvPicPr>
          <p:cNvPr id="4" name="Figure 9.1 Home page" descr="Figure 9.1 Home page screenshot from the report">    </p:cNvPr>
          <p:cNvPicPr>
            <a:picLocks noChangeAspect="1"/>
          </p:cNvPicPr>
          <p:nvPr/>
        </p:nvPicPr>
        <p:blipFill>
          <a:blip r:embed="rId1"/>
          <a:stretch>
            <a:fillRect/>
          </a:stretch>
        </p:blipFill>
        <p:spPr>
          <a:xfrm>
            <a:off x="457200" y="1378158"/>
            <a:ext cx="4023360" cy="2135725"/>
          </a:xfrm>
          <a:prstGeom prst="rect">
            <a:avLst/>
          </a:prstGeom>
        </p:spPr>
      </p:pic>
      <p:sp>
        <p:nvSpPr>
          <p:cNvPr id="5" name="Text 2"/>
          <p:cNvSpPr txBox="1"/>
          <p:nvPr/>
        </p:nvSpPr>
        <p:spPr>
          <a:xfrm>
            <a:off x="457200" y="3858768"/>
            <a:ext cx="4023360" cy="228600"/>
          </a:xfrm>
          <a:prstGeom prst="rect">
            <a:avLst/>
          </a:prstGeom>
          <a:noFill/>
          <a:ln/>
        </p:spPr>
        <p:txBody>
          <a:bodyPr wrap="square" lIns="0" tIns="0" rIns="0" bIns="0" rtlCol="0" anchor="t"/>
          <a:lstStyle/>
          <a:p>
            <a:pPr algn="ctr" indent="0" marL="0">
              <a:buNone/>
            </a:pPr>
            <a:r>
              <a:rPr lang="en-US" sz="1200" i="1" dirty="0">
                <a:solidFill>
                  <a:schemeClr val="tx2"/>
                </a:solidFill>
              </a:rPr>
              <a:t>Figure 9.1 Home page (screenshot from the report)</a:t>
            </a:r>
            <a:endParaRPr lang="en-US" sz="1200" dirty="0"/>
          </a:p>
        </p:txBody>
      </p:sp>
      <p:sp>
        <p:nvSpPr>
          <p:cNvPr id="6" name="Text 3"/>
          <p:cNvSpPr txBox="1"/>
          <p:nvPr/>
        </p:nvSpPr>
        <p:spPr>
          <a:xfrm>
            <a:off x="457200" y="4133088"/>
            <a:ext cx="4023360" cy="640080"/>
          </a:xfrm>
          <a:prstGeom prst="rect">
            <a:avLst/>
          </a:prstGeom>
          <a:noFill/>
          <a:ln/>
        </p:spPr>
        <p:txBody>
          <a:bodyPr wrap="square" lIns="0" tIns="0" rIns="0" bIns="0" rtlCol="0" anchor="t"/>
          <a:lstStyle/>
          <a:p>
            <a:pPr algn="ctr" indent="0" marL="0">
              <a:buNone/>
            </a:pPr>
            <a:r>
              <a:rPr lang="en-US" sz="1600" dirty="0">
                <a:solidFill>
                  <a:schemeClr val="tx1"/>
                </a:solidFill>
              </a:rPr>
              <a:t>The first page. It has Start Learning and Explore Courses buttons.</a:t>
            </a:r>
            <a:endParaRPr lang="en-US" sz="1600" dirty="0"/>
          </a:p>
        </p:txBody>
      </p:sp>
      <p:sp>
        <p:nvSpPr>
          <p:cNvPr id="7" name="frame Figure 9.2 Login page"/>
          <p:cNvSpPr/>
          <p:nvPr/>
        </p:nvSpPr>
        <p:spPr>
          <a:xfrm>
            <a:off x="5315611" y="1097280"/>
            <a:ext cx="2719018" cy="2697480"/>
          </a:xfrm>
          <a:prstGeom prst="roundRect">
            <a:avLst>
              <a:gd name="adj" fmla="val 3390"/>
            </a:avLst>
          </a:prstGeom>
          <a:solidFill>
            <a:schemeClr val="bg2"/>
          </a:solidFill>
          <a:ln w="12700">
            <a:solidFill>
              <a:schemeClr val="bg2"/>
            </a:solidFill>
            <a:prstDash val="solid"/>
          </a:ln>
        </p:spPr>
      </p:sp>
      <p:pic>
        <p:nvPicPr>
          <p:cNvPr id="8" name="Figure 9.2 Login page" descr="Figure 9.2 Login page screenshot from the report">    </p:cNvPr>
          <p:cNvPicPr>
            <a:picLocks noChangeAspect="1"/>
          </p:cNvPicPr>
          <p:nvPr/>
        </p:nvPicPr>
        <p:blipFill>
          <a:blip r:embed="rId2"/>
          <a:stretch>
            <a:fillRect/>
          </a:stretch>
        </p:blipFill>
        <p:spPr>
          <a:xfrm>
            <a:off x="5361331" y="1143000"/>
            <a:ext cx="2627578" cy="2606040"/>
          </a:xfrm>
          <a:prstGeom prst="rect">
            <a:avLst/>
          </a:prstGeom>
        </p:spPr>
      </p:pic>
      <p:sp>
        <p:nvSpPr>
          <p:cNvPr id="9" name="Text 5"/>
          <p:cNvSpPr txBox="1"/>
          <p:nvPr/>
        </p:nvSpPr>
        <p:spPr>
          <a:xfrm>
            <a:off x="4663440" y="3858768"/>
            <a:ext cx="4023360" cy="228600"/>
          </a:xfrm>
          <a:prstGeom prst="rect">
            <a:avLst/>
          </a:prstGeom>
          <a:noFill/>
          <a:ln/>
        </p:spPr>
        <p:txBody>
          <a:bodyPr wrap="square" lIns="0" tIns="0" rIns="0" bIns="0" rtlCol="0" anchor="t"/>
          <a:lstStyle/>
          <a:p>
            <a:pPr algn="ctr" indent="0" marL="0">
              <a:buNone/>
            </a:pPr>
            <a:r>
              <a:rPr lang="en-US" sz="1200" i="1" dirty="0">
                <a:solidFill>
                  <a:schemeClr val="tx2"/>
                </a:solidFill>
              </a:rPr>
              <a:t>Figure 9.2 Login page (screenshot from the report)</a:t>
            </a:r>
            <a:endParaRPr lang="en-US" sz="1200" dirty="0"/>
          </a:p>
        </p:txBody>
      </p:sp>
      <p:sp>
        <p:nvSpPr>
          <p:cNvPr id="10" name="Text 6"/>
          <p:cNvSpPr txBox="1"/>
          <p:nvPr/>
        </p:nvSpPr>
        <p:spPr>
          <a:xfrm>
            <a:off x="4663440" y="4133088"/>
            <a:ext cx="4023360" cy="640080"/>
          </a:xfrm>
          <a:prstGeom prst="rect">
            <a:avLst/>
          </a:prstGeom>
          <a:noFill/>
          <a:ln/>
        </p:spPr>
        <p:txBody>
          <a:bodyPr wrap="square" lIns="0" tIns="0" rIns="0" bIns="0" rtlCol="0" anchor="t"/>
          <a:lstStyle/>
          <a:p>
            <a:pPr algn="ctr" indent="0" marL="0">
              <a:buNone/>
            </a:pPr>
            <a:r>
              <a:rPr lang="en-US" sz="1600" dirty="0">
                <a:solidFill>
                  <a:schemeClr val="tx1"/>
                </a:solidFill>
              </a:rPr>
              <a:t>Learner types email or username and password. Wrong input shows an error.</a:t>
            </a:r>
            <a:endParaRPr lang="en-US" sz="16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Output 2: Categories and Courses</a:t>
            </a:r>
            <a:endParaRPr lang="en-US" sz="3200" dirty="0"/>
          </a:p>
        </p:txBody>
      </p:sp>
      <p:sp>
        <p:nvSpPr>
          <p:cNvPr id="3" name="frame Figure 9.3 Categories"/>
          <p:cNvSpPr/>
          <p:nvPr/>
        </p:nvSpPr>
        <p:spPr>
          <a:xfrm>
            <a:off x="411480" y="1107654"/>
            <a:ext cx="4114800" cy="2676732"/>
          </a:xfrm>
          <a:prstGeom prst="roundRect">
            <a:avLst>
              <a:gd name="adj" fmla="val 3416"/>
            </a:avLst>
          </a:prstGeom>
          <a:solidFill>
            <a:schemeClr val="bg2"/>
          </a:solidFill>
          <a:ln w="12700">
            <a:solidFill>
              <a:schemeClr val="bg2"/>
            </a:solidFill>
            <a:prstDash val="solid"/>
          </a:ln>
        </p:spPr>
      </p:sp>
      <p:pic>
        <p:nvPicPr>
          <p:cNvPr id="4" name="Figure 9.3 Categories" descr="Figure 9.3 Categories screenshot from the report">    </p:cNvPr>
          <p:cNvPicPr>
            <a:picLocks noChangeAspect="1"/>
          </p:cNvPicPr>
          <p:nvPr/>
        </p:nvPicPr>
        <p:blipFill>
          <a:blip r:embed="rId1"/>
          <a:stretch>
            <a:fillRect/>
          </a:stretch>
        </p:blipFill>
        <p:spPr>
          <a:xfrm>
            <a:off x="457200" y="1153374"/>
            <a:ext cx="4023360" cy="2585292"/>
          </a:xfrm>
          <a:prstGeom prst="rect">
            <a:avLst/>
          </a:prstGeom>
        </p:spPr>
      </p:pic>
      <p:sp>
        <p:nvSpPr>
          <p:cNvPr id="5" name="Text 2"/>
          <p:cNvSpPr txBox="1"/>
          <p:nvPr/>
        </p:nvSpPr>
        <p:spPr>
          <a:xfrm>
            <a:off x="457200" y="3858768"/>
            <a:ext cx="4023360" cy="228600"/>
          </a:xfrm>
          <a:prstGeom prst="rect">
            <a:avLst/>
          </a:prstGeom>
          <a:noFill/>
          <a:ln/>
        </p:spPr>
        <p:txBody>
          <a:bodyPr wrap="square" lIns="0" tIns="0" rIns="0" bIns="0" rtlCol="0" anchor="t"/>
          <a:lstStyle/>
          <a:p>
            <a:pPr algn="ctr" indent="0" marL="0">
              <a:buNone/>
            </a:pPr>
            <a:r>
              <a:rPr lang="en-US" sz="1200" i="1" dirty="0">
                <a:solidFill>
                  <a:schemeClr val="tx2"/>
                </a:solidFill>
              </a:rPr>
              <a:t>Figure 9.3 Categories (screenshot from the report)</a:t>
            </a:r>
            <a:endParaRPr lang="en-US" sz="1200" dirty="0"/>
          </a:p>
        </p:txBody>
      </p:sp>
      <p:sp>
        <p:nvSpPr>
          <p:cNvPr id="6" name="Text 3"/>
          <p:cNvSpPr txBox="1"/>
          <p:nvPr/>
        </p:nvSpPr>
        <p:spPr>
          <a:xfrm>
            <a:off x="457200" y="4133088"/>
            <a:ext cx="4023360" cy="640080"/>
          </a:xfrm>
          <a:prstGeom prst="rect">
            <a:avLst/>
          </a:prstGeom>
          <a:noFill/>
          <a:ln/>
        </p:spPr>
        <p:txBody>
          <a:bodyPr wrap="square" lIns="0" tIns="0" rIns="0" bIns="0" rtlCol="0" anchor="t"/>
          <a:lstStyle/>
          <a:p>
            <a:pPr algn="ctr" indent="0" marL="0">
              <a:buNone/>
            </a:pPr>
            <a:r>
              <a:rPr lang="en-US" sz="1600" dirty="0">
                <a:solidFill>
                  <a:schemeClr val="tx1"/>
                </a:solidFill>
              </a:rPr>
              <a:t>Five category cards. Each has an Open category link.</a:t>
            </a:r>
            <a:endParaRPr lang="en-US" sz="1600" dirty="0"/>
          </a:p>
        </p:txBody>
      </p:sp>
      <p:sp>
        <p:nvSpPr>
          <p:cNvPr id="7" name="frame Figure 9.4 Course catalog"/>
          <p:cNvSpPr/>
          <p:nvPr/>
        </p:nvSpPr>
        <p:spPr>
          <a:xfrm>
            <a:off x="5073875" y="1097280"/>
            <a:ext cx="3202490" cy="2697480"/>
          </a:xfrm>
          <a:prstGeom prst="roundRect">
            <a:avLst>
              <a:gd name="adj" fmla="val 3390"/>
            </a:avLst>
          </a:prstGeom>
          <a:solidFill>
            <a:schemeClr val="bg2"/>
          </a:solidFill>
          <a:ln w="12700">
            <a:solidFill>
              <a:schemeClr val="bg2"/>
            </a:solidFill>
            <a:prstDash val="solid"/>
          </a:ln>
        </p:spPr>
      </p:sp>
      <p:pic>
        <p:nvPicPr>
          <p:cNvPr id="8" name="Figure 9.4 Course catalog" descr="Figure 9.4 Course catalog screenshot from the report">    </p:cNvPr>
          <p:cNvPicPr>
            <a:picLocks noChangeAspect="1"/>
          </p:cNvPicPr>
          <p:nvPr/>
        </p:nvPicPr>
        <p:blipFill>
          <a:blip r:embed="rId2"/>
          <a:stretch>
            <a:fillRect/>
          </a:stretch>
        </p:blipFill>
        <p:spPr>
          <a:xfrm>
            <a:off x="5119595" y="1143000"/>
            <a:ext cx="3111050" cy="2606040"/>
          </a:xfrm>
          <a:prstGeom prst="rect">
            <a:avLst/>
          </a:prstGeom>
        </p:spPr>
      </p:pic>
      <p:sp>
        <p:nvSpPr>
          <p:cNvPr id="9" name="Text 5"/>
          <p:cNvSpPr txBox="1"/>
          <p:nvPr/>
        </p:nvSpPr>
        <p:spPr>
          <a:xfrm>
            <a:off x="4663440" y="3858768"/>
            <a:ext cx="4023360" cy="228600"/>
          </a:xfrm>
          <a:prstGeom prst="rect">
            <a:avLst/>
          </a:prstGeom>
          <a:noFill/>
          <a:ln/>
        </p:spPr>
        <p:txBody>
          <a:bodyPr wrap="square" lIns="0" tIns="0" rIns="0" bIns="0" rtlCol="0" anchor="t"/>
          <a:lstStyle/>
          <a:p>
            <a:pPr algn="ctr" indent="0" marL="0">
              <a:buNone/>
            </a:pPr>
            <a:r>
              <a:rPr lang="en-US" sz="1200" i="1" dirty="0">
                <a:solidFill>
                  <a:schemeClr val="tx2"/>
                </a:solidFill>
              </a:rPr>
              <a:t>Figure 9.4 Course catalog (screenshot from the report)</a:t>
            </a:r>
            <a:endParaRPr lang="en-US" sz="1200" dirty="0"/>
          </a:p>
        </p:txBody>
      </p:sp>
      <p:sp>
        <p:nvSpPr>
          <p:cNvPr id="10" name="Text 6"/>
          <p:cNvSpPr txBox="1"/>
          <p:nvPr/>
        </p:nvSpPr>
        <p:spPr>
          <a:xfrm>
            <a:off x="4663440" y="4133088"/>
            <a:ext cx="4023360" cy="640080"/>
          </a:xfrm>
          <a:prstGeom prst="rect">
            <a:avLst/>
          </a:prstGeom>
          <a:noFill/>
          <a:ln/>
        </p:spPr>
        <p:txBody>
          <a:bodyPr wrap="square" lIns="0" tIns="0" rIns="0" bIns="0" rtlCol="0" anchor="t"/>
          <a:lstStyle/>
          <a:p>
            <a:pPr algn="ctr" indent="0" marL="0">
              <a:buNone/>
            </a:pPr>
            <a:r>
              <a:rPr lang="en-US" sz="1600" dirty="0">
                <a:solidFill>
                  <a:schemeClr val="tx1"/>
                </a:solidFill>
              </a:rPr>
              <a:t>Filter: Computer Science. Courses show twice because sample data loaded twice.</a:t>
            </a:r>
            <a:endParaRPr lang="en-US" sz="16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Output 3: Enrollment</a:t>
            </a:r>
            <a:endParaRPr lang="en-US" sz="3200" dirty="0"/>
          </a:p>
        </p:txBody>
      </p:sp>
      <p:sp>
        <p:nvSpPr>
          <p:cNvPr id="3" name="frame Figure 9.5 Enrollment form"/>
          <p:cNvSpPr/>
          <p:nvPr/>
        </p:nvSpPr>
        <p:spPr>
          <a:xfrm>
            <a:off x="570616" y="1097280"/>
            <a:ext cx="3796528" cy="2697480"/>
          </a:xfrm>
          <a:prstGeom prst="roundRect">
            <a:avLst>
              <a:gd name="adj" fmla="val 3390"/>
            </a:avLst>
          </a:prstGeom>
          <a:solidFill>
            <a:schemeClr val="bg2"/>
          </a:solidFill>
          <a:ln w="12700">
            <a:solidFill>
              <a:schemeClr val="bg2"/>
            </a:solidFill>
            <a:prstDash val="solid"/>
          </a:ln>
        </p:spPr>
      </p:sp>
      <p:pic>
        <p:nvPicPr>
          <p:cNvPr id="4" name="Figure 9.5 Enrollment form" descr="Figure 9.5 Enrollment form screenshot from the report">    </p:cNvPr>
          <p:cNvPicPr>
            <a:picLocks noChangeAspect="1"/>
          </p:cNvPicPr>
          <p:nvPr/>
        </p:nvPicPr>
        <p:blipFill>
          <a:blip r:embed="rId1"/>
          <a:stretch>
            <a:fillRect/>
          </a:stretch>
        </p:blipFill>
        <p:spPr>
          <a:xfrm>
            <a:off x="616336" y="1143000"/>
            <a:ext cx="3705088" cy="2606040"/>
          </a:xfrm>
          <a:prstGeom prst="rect">
            <a:avLst/>
          </a:prstGeom>
        </p:spPr>
      </p:pic>
      <p:sp>
        <p:nvSpPr>
          <p:cNvPr id="5" name="Text 2"/>
          <p:cNvSpPr txBox="1"/>
          <p:nvPr/>
        </p:nvSpPr>
        <p:spPr>
          <a:xfrm>
            <a:off x="457200" y="3858768"/>
            <a:ext cx="4023360" cy="228600"/>
          </a:xfrm>
          <a:prstGeom prst="rect">
            <a:avLst/>
          </a:prstGeom>
          <a:noFill/>
          <a:ln/>
        </p:spPr>
        <p:txBody>
          <a:bodyPr wrap="square" lIns="0" tIns="0" rIns="0" bIns="0" rtlCol="0" anchor="t"/>
          <a:lstStyle/>
          <a:p>
            <a:pPr algn="ctr" indent="0" marL="0">
              <a:buNone/>
            </a:pPr>
            <a:r>
              <a:rPr lang="en-US" sz="1200" i="1" dirty="0">
                <a:solidFill>
                  <a:schemeClr val="tx2"/>
                </a:solidFill>
              </a:rPr>
              <a:t>Figure 9.5 Enrollment form (screenshot from the report)</a:t>
            </a:r>
            <a:endParaRPr lang="en-US" sz="1200" dirty="0"/>
          </a:p>
        </p:txBody>
      </p:sp>
      <p:sp>
        <p:nvSpPr>
          <p:cNvPr id="6" name="Text 3"/>
          <p:cNvSpPr txBox="1"/>
          <p:nvPr/>
        </p:nvSpPr>
        <p:spPr>
          <a:xfrm>
            <a:off x="457200" y="4133088"/>
            <a:ext cx="4023360" cy="640080"/>
          </a:xfrm>
          <a:prstGeom prst="rect">
            <a:avLst/>
          </a:prstGeom>
          <a:noFill/>
          <a:ln/>
        </p:spPr>
        <p:txBody>
          <a:bodyPr wrap="square" lIns="0" tIns="0" rIns="0" bIns="0" rtlCol="0" anchor="t"/>
          <a:lstStyle/>
          <a:p>
            <a:pPr algn="ctr" indent="0" marL="0">
              <a:buNone/>
            </a:pPr>
            <a:r>
              <a:rPr lang="en-US" sz="1600" dirty="0">
                <a:solidFill>
                  <a:schemeClr val="tx1"/>
                </a:solidFill>
              </a:rPr>
              <a:t>Learner fills name, email, phone, category and course, then submits.</a:t>
            </a:r>
            <a:endParaRPr lang="en-US" sz="1600" dirty="0"/>
          </a:p>
        </p:txBody>
      </p:sp>
      <p:sp>
        <p:nvSpPr>
          <p:cNvPr id="7" name="frame Figure 9.6 Success message"/>
          <p:cNvSpPr/>
          <p:nvPr/>
        </p:nvSpPr>
        <p:spPr>
          <a:xfrm>
            <a:off x="4862922" y="1097280"/>
            <a:ext cx="3624396" cy="2697480"/>
          </a:xfrm>
          <a:prstGeom prst="roundRect">
            <a:avLst>
              <a:gd name="adj" fmla="val 3390"/>
            </a:avLst>
          </a:prstGeom>
          <a:solidFill>
            <a:schemeClr val="bg2"/>
          </a:solidFill>
          <a:ln w="12700">
            <a:solidFill>
              <a:schemeClr val="bg2"/>
            </a:solidFill>
            <a:prstDash val="solid"/>
          </a:ln>
        </p:spPr>
      </p:sp>
      <p:pic>
        <p:nvPicPr>
          <p:cNvPr id="8" name="Figure 9.6 Success message" descr="Figure 9.6 Success message screenshot from the report">    </p:cNvPr>
          <p:cNvPicPr>
            <a:picLocks noChangeAspect="1"/>
          </p:cNvPicPr>
          <p:nvPr/>
        </p:nvPicPr>
        <p:blipFill>
          <a:blip r:embed="rId2"/>
          <a:stretch>
            <a:fillRect/>
          </a:stretch>
        </p:blipFill>
        <p:spPr>
          <a:xfrm>
            <a:off x="4908642" y="1143000"/>
            <a:ext cx="3532956" cy="2606040"/>
          </a:xfrm>
          <a:prstGeom prst="rect">
            <a:avLst/>
          </a:prstGeom>
        </p:spPr>
      </p:pic>
      <p:sp>
        <p:nvSpPr>
          <p:cNvPr id="9" name="Text 5"/>
          <p:cNvSpPr txBox="1"/>
          <p:nvPr/>
        </p:nvSpPr>
        <p:spPr>
          <a:xfrm>
            <a:off x="4663440" y="3858768"/>
            <a:ext cx="4023360" cy="228600"/>
          </a:xfrm>
          <a:prstGeom prst="rect">
            <a:avLst/>
          </a:prstGeom>
          <a:noFill/>
          <a:ln/>
        </p:spPr>
        <p:txBody>
          <a:bodyPr wrap="square" lIns="0" tIns="0" rIns="0" bIns="0" rtlCol="0" anchor="t"/>
          <a:lstStyle/>
          <a:p>
            <a:pPr algn="ctr" indent="0" marL="0">
              <a:buNone/>
            </a:pPr>
            <a:r>
              <a:rPr lang="en-US" sz="1200" i="1" dirty="0">
                <a:solidFill>
                  <a:schemeClr val="tx2"/>
                </a:solidFill>
              </a:rPr>
              <a:t>Figure 9.6 Success message (screenshot from the report)</a:t>
            </a:r>
            <a:endParaRPr lang="en-US" sz="1200" dirty="0"/>
          </a:p>
        </p:txBody>
      </p:sp>
      <p:sp>
        <p:nvSpPr>
          <p:cNvPr id="10" name="Text 6"/>
          <p:cNvSpPr txBox="1"/>
          <p:nvPr/>
        </p:nvSpPr>
        <p:spPr>
          <a:xfrm>
            <a:off x="4663440" y="4133088"/>
            <a:ext cx="4023360" cy="640080"/>
          </a:xfrm>
          <a:prstGeom prst="rect">
            <a:avLst/>
          </a:prstGeom>
          <a:noFill/>
          <a:ln/>
        </p:spPr>
        <p:txBody>
          <a:bodyPr wrap="square" lIns="0" tIns="0" rIns="0" bIns="0" rtlCol="0" anchor="t"/>
          <a:lstStyle/>
          <a:p>
            <a:pPr algn="ctr" indent="0" marL="0">
              <a:buNone/>
            </a:pPr>
            <a:r>
              <a:rPr lang="en-US" sz="1600" dirty="0">
                <a:solidFill>
                  <a:schemeClr val="tx1"/>
                </a:solidFill>
              </a:rPr>
              <a:t>The request is saved. The page says: Enrollment submitted successfully.</a:t>
            </a:r>
            <a:endParaRPr lang="en-US" sz="16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Testing</a:t>
            </a:r>
            <a:endParaRPr lang="en-US" sz="3200" dirty="0"/>
          </a:p>
        </p:txBody>
      </p:sp>
      <p:sp>
        <p:nvSpPr>
          <p:cNvPr id="3" name="tested card"/>
          <p:cNvSpPr/>
          <p:nvPr/>
        </p:nvSpPr>
        <p:spPr>
          <a:xfrm>
            <a:off x="457200" y="1143000"/>
            <a:ext cx="4023360" cy="2606040"/>
          </a:xfrm>
          <a:prstGeom prst="roundRect">
            <a:avLst>
              <a:gd name="adj" fmla="val 3509"/>
            </a:avLst>
          </a:prstGeom>
          <a:solidFill>
            <a:schemeClr val="bg2"/>
          </a:solidFill>
          <a:ln w="12700">
            <a:solidFill>
              <a:schemeClr val="bg2"/>
            </a:solidFill>
            <a:prstDash val="solid"/>
          </a:ln>
        </p:spPr>
      </p:sp>
      <p:sp>
        <p:nvSpPr>
          <p:cNvPr id="4" name="Text 2"/>
          <p:cNvSpPr txBox="1"/>
          <p:nvPr/>
        </p:nvSpPr>
        <p:spPr>
          <a:xfrm>
            <a:off x="640080" y="1234440"/>
            <a:ext cx="3657600" cy="365760"/>
          </a:xfrm>
          <a:prstGeom prst="rect">
            <a:avLst/>
          </a:prstGeom>
          <a:noFill/>
          <a:ln/>
        </p:spPr>
        <p:txBody>
          <a:bodyPr wrap="square" lIns="0" tIns="0" rIns="0" bIns="0" rtlCol="0" anchor="t"/>
          <a:lstStyle/>
          <a:p>
            <a:pPr indent="0" marL="0">
              <a:buNone/>
            </a:pPr>
            <a:r>
              <a:rPr lang="en-US" sz="1800" b="1" dirty="0">
                <a:solidFill>
                  <a:schemeClr val="accent5"/>
                </a:solidFill>
              </a:rPr>
              <a:t>Tested in the browser</a:t>
            </a:r>
            <a:endParaRPr lang="en-US" sz="1800" dirty="0"/>
          </a:p>
        </p:txBody>
      </p:sp>
      <p:sp>
        <p:nvSpPr>
          <p:cNvPr id="5" name="icon circle FaCheck"/>
          <p:cNvSpPr/>
          <p:nvPr/>
        </p:nvSpPr>
        <p:spPr>
          <a:xfrm>
            <a:off x="640080" y="1874520"/>
            <a:ext cx="310896" cy="310896"/>
          </a:xfrm>
          <a:prstGeom prst="ellipse">
            <a:avLst/>
          </a:prstGeom>
          <a:solidFill>
            <a:schemeClr val="accent6"/>
          </a:solidFill>
          <a:ln w="12700">
            <a:solidFill>
              <a:schemeClr val="accent6"/>
            </a:solidFill>
            <a:prstDash val="solid"/>
          </a:ln>
        </p:spPr>
      </p:sp>
      <p:pic>
        <p:nvPicPr>
          <p:cNvPr id="6" name="icon FaCheck" descr="FaCheck">    </p:cNvPr>
          <p:cNvPicPr>
            <a:picLocks noChangeAspect="1"/>
          </p:cNvPicPr>
          <p:nvPr/>
        </p:nvPicPr>
        <p:blipFill>
          <a:blip r:embed="rId1"/>
          <a:stretch>
            <a:fillRect/>
          </a:stretch>
        </p:blipFill>
        <p:spPr>
          <a:xfrm>
            <a:off x="720913" y="1955353"/>
            <a:ext cx="149230" cy="149230"/>
          </a:xfrm>
          <a:prstGeom prst="rect">
            <a:avLst/>
          </a:prstGeom>
        </p:spPr>
      </p:pic>
      <p:sp>
        <p:nvSpPr>
          <p:cNvPr id="7" name="Text 4"/>
          <p:cNvSpPr txBox="1"/>
          <p:nvPr/>
        </p:nvSpPr>
        <p:spPr>
          <a:xfrm>
            <a:off x="1051560" y="1783080"/>
            <a:ext cx="1417320" cy="493776"/>
          </a:xfrm>
          <a:prstGeom prst="rect">
            <a:avLst/>
          </a:prstGeom>
          <a:noFill/>
          <a:ln/>
        </p:spPr>
        <p:txBody>
          <a:bodyPr wrap="square" lIns="0" tIns="0" rIns="0" bIns="0" rtlCol="0" anchor="ctr"/>
          <a:lstStyle/>
          <a:p>
            <a:pPr indent="0" marL="0">
              <a:buNone/>
            </a:pPr>
            <a:r>
              <a:rPr lang="en-US" sz="1500" dirty="0">
                <a:solidFill>
                  <a:schemeClr val="tx1"/>
                </a:solidFill>
              </a:rPr>
              <a:t>Category browsing</a:t>
            </a:r>
            <a:endParaRPr lang="en-US" sz="1500" dirty="0"/>
          </a:p>
        </p:txBody>
      </p:sp>
      <p:sp>
        <p:nvSpPr>
          <p:cNvPr id="8" name="icon circle FaCheck"/>
          <p:cNvSpPr/>
          <p:nvPr/>
        </p:nvSpPr>
        <p:spPr>
          <a:xfrm>
            <a:off x="2560320" y="1874520"/>
            <a:ext cx="310896" cy="310896"/>
          </a:xfrm>
          <a:prstGeom prst="ellipse">
            <a:avLst/>
          </a:prstGeom>
          <a:solidFill>
            <a:schemeClr val="accent6"/>
          </a:solidFill>
          <a:ln w="12700">
            <a:solidFill>
              <a:schemeClr val="accent6"/>
            </a:solidFill>
            <a:prstDash val="solid"/>
          </a:ln>
        </p:spPr>
      </p:sp>
      <p:pic>
        <p:nvPicPr>
          <p:cNvPr id="9" name="icon FaCheck" descr="FaCheck">    </p:cNvPr>
          <p:cNvPicPr>
            <a:picLocks noChangeAspect="1"/>
          </p:cNvPicPr>
          <p:nvPr/>
        </p:nvPicPr>
        <p:blipFill>
          <a:blip r:embed="rId2"/>
          <a:stretch>
            <a:fillRect/>
          </a:stretch>
        </p:blipFill>
        <p:spPr>
          <a:xfrm>
            <a:off x="2641153" y="1955353"/>
            <a:ext cx="149230" cy="149230"/>
          </a:xfrm>
          <a:prstGeom prst="rect">
            <a:avLst/>
          </a:prstGeom>
        </p:spPr>
      </p:pic>
      <p:sp>
        <p:nvSpPr>
          <p:cNvPr id="10" name="Text 6"/>
          <p:cNvSpPr txBox="1"/>
          <p:nvPr/>
        </p:nvSpPr>
        <p:spPr>
          <a:xfrm>
            <a:off x="2971800" y="1783080"/>
            <a:ext cx="1417320" cy="493776"/>
          </a:xfrm>
          <a:prstGeom prst="rect">
            <a:avLst/>
          </a:prstGeom>
          <a:noFill/>
          <a:ln/>
        </p:spPr>
        <p:txBody>
          <a:bodyPr wrap="square" lIns="0" tIns="0" rIns="0" bIns="0" rtlCol="0" anchor="ctr"/>
          <a:lstStyle/>
          <a:p>
            <a:pPr indent="0" marL="0">
              <a:buNone/>
            </a:pPr>
            <a:r>
              <a:rPr lang="en-US" sz="1500" dirty="0">
                <a:solidFill>
                  <a:schemeClr val="tx1"/>
                </a:solidFill>
              </a:rPr>
              <a:t>Course filter</a:t>
            </a:r>
            <a:endParaRPr lang="en-US" sz="1500" dirty="0"/>
          </a:p>
        </p:txBody>
      </p:sp>
      <p:sp>
        <p:nvSpPr>
          <p:cNvPr id="11" name="icon circle FaCheck"/>
          <p:cNvSpPr/>
          <p:nvPr/>
        </p:nvSpPr>
        <p:spPr>
          <a:xfrm>
            <a:off x="640080" y="2514600"/>
            <a:ext cx="310896" cy="310896"/>
          </a:xfrm>
          <a:prstGeom prst="ellipse">
            <a:avLst/>
          </a:prstGeom>
          <a:solidFill>
            <a:schemeClr val="accent6"/>
          </a:solidFill>
          <a:ln w="12700">
            <a:solidFill>
              <a:schemeClr val="accent6"/>
            </a:solidFill>
            <a:prstDash val="solid"/>
          </a:ln>
        </p:spPr>
      </p:sp>
      <p:pic>
        <p:nvPicPr>
          <p:cNvPr id="12" name="icon FaCheck" descr="FaCheck">    </p:cNvPr>
          <p:cNvPicPr>
            <a:picLocks noChangeAspect="1"/>
          </p:cNvPicPr>
          <p:nvPr/>
        </p:nvPicPr>
        <p:blipFill>
          <a:blip r:embed="rId3"/>
          <a:stretch>
            <a:fillRect/>
          </a:stretch>
        </p:blipFill>
        <p:spPr>
          <a:xfrm>
            <a:off x="720913" y="2595433"/>
            <a:ext cx="149230" cy="149230"/>
          </a:xfrm>
          <a:prstGeom prst="rect">
            <a:avLst/>
          </a:prstGeom>
        </p:spPr>
      </p:pic>
      <p:sp>
        <p:nvSpPr>
          <p:cNvPr id="13" name="Text 8"/>
          <p:cNvSpPr txBox="1"/>
          <p:nvPr/>
        </p:nvSpPr>
        <p:spPr>
          <a:xfrm>
            <a:off x="1051560" y="2423160"/>
            <a:ext cx="1417320" cy="493776"/>
          </a:xfrm>
          <a:prstGeom prst="rect">
            <a:avLst/>
          </a:prstGeom>
          <a:noFill/>
          <a:ln/>
        </p:spPr>
        <p:txBody>
          <a:bodyPr wrap="square" lIns="0" tIns="0" rIns="0" bIns="0" rtlCol="0" anchor="ctr"/>
          <a:lstStyle/>
          <a:p>
            <a:pPr indent="0" marL="0">
              <a:buNone/>
            </a:pPr>
            <a:r>
              <a:rPr lang="en-US" sz="1500" dirty="0">
                <a:solidFill>
                  <a:schemeClr val="tx1"/>
                </a:solidFill>
              </a:rPr>
              <a:t>Enrollment form</a:t>
            </a:r>
            <a:endParaRPr lang="en-US" sz="1500" dirty="0"/>
          </a:p>
        </p:txBody>
      </p:sp>
      <p:sp>
        <p:nvSpPr>
          <p:cNvPr id="14" name="icon circle FaCheck"/>
          <p:cNvSpPr/>
          <p:nvPr/>
        </p:nvSpPr>
        <p:spPr>
          <a:xfrm>
            <a:off x="2560320" y="2514600"/>
            <a:ext cx="310896" cy="310896"/>
          </a:xfrm>
          <a:prstGeom prst="ellipse">
            <a:avLst/>
          </a:prstGeom>
          <a:solidFill>
            <a:schemeClr val="accent6"/>
          </a:solidFill>
          <a:ln w="12700">
            <a:solidFill>
              <a:schemeClr val="accent6"/>
            </a:solidFill>
            <a:prstDash val="solid"/>
          </a:ln>
        </p:spPr>
      </p:sp>
      <p:pic>
        <p:nvPicPr>
          <p:cNvPr id="15" name="icon FaCheck" descr="FaCheck">    </p:cNvPr>
          <p:cNvPicPr>
            <a:picLocks noChangeAspect="1"/>
          </p:cNvPicPr>
          <p:nvPr/>
        </p:nvPicPr>
        <p:blipFill>
          <a:blip r:embed="rId4"/>
          <a:stretch>
            <a:fillRect/>
          </a:stretch>
        </p:blipFill>
        <p:spPr>
          <a:xfrm>
            <a:off x="2641153" y="2595433"/>
            <a:ext cx="149230" cy="149230"/>
          </a:xfrm>
          <a:prstGeom prst="rect">
            <a:avLst/>
          </a:prstGeom>
        </p:spPr>
      </p:pic>
      <p:sp>
        <p:nvSpPr>
          <p:cNvPr id="16" name="Text 10"/>
          <p:cNvSpPr txBox="1"/>
          <p:nvPr/>
        </p:nvSpPr>
        <p:spPr>
          <a:xfrm>
            <a:off x="2971800" y="2423160"/>
            <a:ext cx="1417320" cy="493776"/>
          </a:xfrm>
          <a:prstGeom prst="rect">
            <a:avLst/>
          </a:prstGeom>
          <a:noFill/>
          <a:ln/>
        </p:spPr>
        <p:txBody>
          <a:bodyPr wrap="square" lIns="0" tIns="0" rIns="0" bIns="0" rtlCol="0" anchor="ctr"/>
          <a:lstStyle/>
          <a:p>
            <a:pPr indent="0" marL="0">
              <a:buNone/>
            </a:pPr>
            <a:r>
              <a:rPr lang="en-US" sz="1500" dirty="0">
                <a:solidFill>
                  <a:schemeClr val="tx1"/>
                </a:solidFill>
              </a:rPr>
              <a:t>Login checks</a:t>
            </a:r>
            <a:endParaRPr lang="en-US" sz="1500" dirty="0"/>
          </a:p>
        </p:txBody>
      </p:sp>
      <p:sp>
        <p:nvSpPr>
          <p:cNvPr id="17" name="icon circle FaCheck"/>
          <p:cNvSpPr/>
          <p:nvPr/>
        </p:nvSpPr>
        <p:spPr>
          <a:xfrm>
            <a:off x="640080" y="3154680"/>
            <a:ext cx="310896" cy="310896"/>
          </a:xfrm>
          <a:prstGeom prst="ellipse">
            <a:avLst/>
          </a:prstGeom>
          <a:solidFill>
            <a:schemeClr val="accent6"/>
          </a:solidFill>
          <a:ln w="12700">
            <a:solidFill>
              <a:schemeClr val="accent6"/>
            </a:solidFill>
            <a:prstDash val="solid"/>
          </a:ln>
        </p:spPr>
      </p:sp>
      <p:pic>
        <p:nvPicPr>
          <p:cNvPr id="18" name="icon FaCheck" descr="FaCheck">    </p:cNvPr>
          <p:cNvPicPr>
            <a:picLocks noChangeAspect="1"/>
          </p:cNvPicPr>
          <p:nvPr/>
        </p:nvPicPr>
        <p:blipFill>
          <a:blip r:embed="rId5"/>
          <a:stretch>
            <a:fillRect/>
          </a:stretch>
        </p:blipFill>
        <p:spPr>
          <a:xfrm>
            <a:off x="720913" y="3235513"/>
            <a:ext cx="149230" cy="149230"/>
          </a:xfrm>
          <a:prstGeom prst="rect">
            <a:avLst/>
          </a:prstGeom>
        </p:spPr>
      </p:pic>
      <p:sp>
        <p:nvSpPr>
          <p:cNvPr id="19" name="Text 12"/>
          <p:cNvSpPr txBox="1"/>
          <p:nvPr/>
        </p:nvSpPr>
        <p:spPr>
          <a:xfrm>
            <a:off x="1051560" y="3063240"/>
            <a:ext cx="1417320" cy="493776"/>
          </a:xfrm>
          <a:prstGeom prst="rect">
            <a:avLst/>
          </a:prstGeom>
          <a:noFill/>
          <a:ln/>
        </p:spPr>
        <p:txBody>
          <a:bodyPr wrap="square" lIns="0" tIns="0" rIns="0" bIns="0" rtlCol="0" anchor="ctr"/>
          <a:lstStyle/>
          <a:p>
            <a:pPr indent="0" marL="0">
              <a:buNone/>
            </a:pPr>
            <a:r>
              <a:rPr lang="en-US" sz="1500" dirty="0">
                <a:solidFill>
                  <a:schemeClr val="tx1"/>
                </a:solidFill>
              </a:rPr>
              <a:t>Dashboard</a:t>
            </a:r>
            <a:endParaRPr lang="en-US" sz="1500" dirty="0"/>
          </a:p>
        </p:txBody>
      </p:sp>
      <p:sp>
        <p:nvSpPr>
          <p:cNvPr id="20" name="icon circle FaCheck"/>
          <p:cNvSpPr/>
          <p:nvPr/>
        </p:nvSpPr>
        <p:spPr>
          <a:xfrm>
            <a:off x="2560320" y="3154680"/>
            <a:ext cx="310896" cy="310896"/>
          </a:xfrm>
          <a:prstGeom prst="ellipse">
            <a:avLst/>
          </a:prstGeom>
          <a:solidFill>
            <a:schemeClr val="accent6"/>
          </a:solidFill>
          <a:ln w="12700">
            <a:solidFill>
              <a:schemeClr val="accent6"/>
            </a:solidFill>
            <a:prstDash val="solid"/>
          </a:ln>
        </p:spPr>
      </p:sp>
      <p:pic>
        <p:nvPicPr>
          <p:cNvPr id="21" name="icon FaCheck" descr="FaCheck">    </p:cNvPr>
          <p:cNvPicPr>
            <a:picLocks noChangeAspect="1"/>
          </p:cNvPicPr>
          <p:nvPr/>
        </p:nvPicPr>
        <p:blipFill>
          <a:blip r:embed="rId6"/>
          <a:stretch>
            <a:fillRect/>
          </a:stretch>
        </p:blipFill>
        <p:spPr>
          <a:xfrm>
            <a:off x="2641153" y="3235513"/>
            <a:ext cx="149230" cy="149230"/>
          </a:xfrm>
          <a:prstGeom prst="rect">
            <a:avLst/>
          </a:prstGeom>
        </p:spPr>
      </p:pic>
      <p:sp>
        <p:nvSpPr>
          <p:cNvPr id="22" name="Text 14"/>
          <p:cNvSpPr txBox="1"/>
          <p:nvPr/>
        </p:nvSpPr>
        <p:spPr>
          <a:xfrm>
            <a:off x="2971800" y="3063240"/>
            <a:ext cx="1417320" cy="493776"/>
          </a:xfrm>
          <a:prstGeom prst="rect">
            <a:avLst/>
          </a:prstGeom>
          <a:noFill/>
          <a:ln/>
        </p:spPr>
        <p:txBody>
          <a:bodyPr wrap="square" lIns="0" tIns="0" rIns="0" bIns="0" rtlCol="0" anchor="ctr"/>
          <a:lstStyle/>
          <a:p>
            <a:pPr indent="0" marL="0">
              <a:buNone/>
            </a:pPr>
            <a:r>
              <a:rPr lang="en-US" sz="1500" dirty="0">
                <a:solidFill>
                  <a:schemeClr val="tx1"/>
                </a:solidFill>
              </a:rPr>
              <a:t>Database setup</a:t>
            </a:r>
            <a:endParaRPr lang="en-US" sz="1500" dirty="0"/>
          </a:p>
        </p:txBody>
      </p:sp>
      <p:sp>
        <p:nvSpPr>
          <p:cNvPr id="23" name="edge cases card"/>
          <p:cNvSpPr/>
          <p:nvPr/>
        </p:nvSpPr>
        <p:spPr>
          <a:xfrm>
            <a:off x="4663440" y="1143000"/>
            <a:ext cx="4023360" cy="2606040"/>
          </a:xfrm>
          <a:prstGeom prst="roundRect">
            <a:avLst>
              <a:gd name="adj" fmla="val 3509"/>
            </a:avLst>
          </a:prstGeom>
          <a:solidFill>
            <a:schemeClr val="bg2"/>
          </a:solidFill>
          <a:ln w="12700">
            <a:solidFill>
              <a:schemeClr val="bg2"/>
            </a:solidFill>
            <a:prstDash val="solid"/>
          </a:ln>
        </p:spPr>
      </p:sp>
      <p:sp>
        <p:nvSpPr>
          <p:cNvPr id="24" name="Text 16"/>
          <p:cNvSpPr txBox="1"/>
          <p:nvPr/>
        </p:nvSpPr>
        <p:spPr>
          <a:xfrm>
            <a:off x="4846320" y="1234440"/>
            <a:ext cx="3657600" cy="365760"/>
          </a:xfrm>
          <a:prstGeom prst="rect">
            <a:avLst/>
          </a:prstGeom>
          <a:noFill/>
          <a:ln/>
        </p:spPr>
        <p:txBody>
          <a:bodyPr wrap="square" lIns="0" tIns="0" rIns="0" bIns="0" rtlCol="0" anchor="t"/>
          <a:lstStyle/>
          <a:p>
            <a:pPr indent="0" marL="0">
              <a:buNone/>
            </a:pPr>
            <a:r>
              <a:rPr lang="en-US" sz="1800" b="1" dirty="0">
                <a:solidFill>
                  <a:schemeClr val="accent2"/>
                </a:solidFill>
              </a:rPr>
              <a:t>Wrong inputs tested</a:t>
            </a:r>
            <a:endParaRPr lang="en-US" sz="1800" dirty="0"/>
          </a:p>
        </p:txBody>
      </p:sp>
      <p:sp>
        <p:nvSpPr>
          <p:cNvPr id="25" name="Text 17"/>
          <p:cNvSpPr txBox="1"/>
          <p:nvPr/>
        </p:nvSpPr>
        <p:spPr>
          <a:xfrm>
            <a:off x="4846320" y="1737360"/>
            <a:ext cx="365760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Empty fields</a:t>
            </a:r>
            <a:endParaRPr lang="en-US" sz="1600" dirty="0"/>
          </a:p>
          <a:p>
            <a:pPr marL="342900" indent="-342900">
              <a:spcAft>
                <a:spcPts val="800"/>
              </a:spcAft>
              <a:buSzPct val="100000"/>
              <a:buChar char="•"/>
            </a:pPr>
            <a:r>
              <a:rPr lang="en-US" sz="1600" dirty="0">
                <a:solidFill>
                  <a:schemeClr val="tx1"/>
                </a:solidFill>
              </a:rPr>
              <a:t>Wrong email format</a:t>
            </a:r>
            <a:endParaRPr lang="en-US" sz="1600" dirty="0"/>
          </a:p>
          <a:p>
            <a:pPr marL="342900" indent="-342900">
              <a:spcAft>
                <a:spcPts val="800"/>
              </a:spcAft>
              <a:buSzPct val="100000"/>
              <a:buChar char="•"/>
            </a:pPr>
            <a:r>
              <a:rPr lang="en-US" sz="1600" dirty="0">
                <a:solidFill>
                  <a:schemeClr val="tx1"/>
                </a:solidFill>
              </a:rPr>
              <a:t>Short password</a:t>
            </a:r>
            <a:endParaRPr lang="en-US" sz="1600" dirty="0"/>
          </a:p>
          <a:p>
            <a:pPr marL="342900" indent="-342900">
              <a:spcAft>
                <a:spcPts val="800"/>
              </a:spcAft>
              <a:buSzPct val="100000"/>
              <a:buChar char="•"/>
            </a:pPr>
            <a:r>
              <a:rPr lang="en-US" sz="1600" dirty="0">
                <a:solidFill>
                  <a:schemeClr val="tx1"/>
                </a:solidFill>
              </a:rPr>
              <a:t>Database not running</a:t>
            </a:r>
            <a:endParaRPr lang="en-US" sz="1600" dirty="0"/>
          </a:p>
        </p:txBody>
      </p:sp>
      <p:sp>
        <p:nvSpPr>
          <p:cNvPr id="26" name="result strip"/>
          <p:cNvSpPr/>
          <p:nvPr/>
        </p:nvSpPr>
        <p:spPr>
          <a:xfrm>
            <a:off x="457200" y="3931920"/>
            <a:ext cx="8229600" cy="731520"/>
          </a:xfrm>
          <a:prstGeom prst="roundRect">
            <a:avLst>
              <a:gd name="adj" fmla="val 12500"/>
            </a:avLst>
          </a:prstGeom>
          <a:solidFill>
            <a:schemeClr val="accent5"/>
          </a:solidFill>
          <a:ln w="12700">
            <a:solidFill>
              <a:schemeClr val="accent5"/>
            </a:solidFill>
            <a:prstDash val="solid"/>
          </a:ln>
        </p:spPr>
      </p:sp>
      <p:sp>
        <p:nvSpPr>
          <p:cNvPr id="27" name="Text 19"/>
          <p:cNvSpPr txBox="1"/>
          <p:nvPr/>
        </p:nvSpPr>
        <p:spPr>
          <a:xfrm>
            <a:off x="640080" y="3931920"/>
            <a:ext cx="7863840" cy="731520"/>
          </a:xfrm>
          <a:prstGeom prst="rect">
            <a:avLst/>
          </a:prstGeom>
          <a:noFill/>
          <a:ln/>
        </p:spPr>
        <p:txBody>
          <a:bodyPr wrap="square" lIns="0" tIns="0" rIns="0" bIns="0" rtlCol="0" anchor="ctr"/>
          <a:lstStyle/>
          <a:p>
            <a:pPr indent="0" marL="0">
              <a:buNone/>
            </a:pPr>
            <a:r>
              <a:rPr lang="en-US" sz="1600" b="1" dirty="0">
                <a:solidFill>
                  <a:schemeClr val="bg1"/>
                </a:solidFill>
              </a:rPr>
              <a:t>Result: pages worked as expected. Pages loaded fast because the queries are simple and the data is small.</a:t>
            </a:r>
            <a:endParaRPr lang="en-US" sz="16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Advantages and Limitations</a:t>
            </a:r>
            <a:endParaRPr lang="en-US" sz="3200" dirty="0"/>
          </a:p>
        </p:txBody>
      </p:sp>
      <p:sp>
        <p:nvSpPr>
          <p:cNvPr id="3" name="advantages card"/>
          <p:cNvSpPr/>
          <p:nvPr/>
        </p:nvSpPr>
        <p:spPr>
          <a:xfrm>
            <a:off x="457200" y="1097280"/>
            <a:ext cx="4023360" cy="3566160"/>
          </a:xfrm>
          <a:prstGeom prst="roundRect">
            <a:avLst>
              <a:gd name="adj" fmla="val 2564"/>
            </a:avLst>
          </a:prstGeom>
          <a:solidFill>
            <a:schemeClr val="bg2"/>
          </a:solidFill>
          <a:ln w="12700">
            <a:solidFill>
              <a:schemeClr val="bg2"/>
            </a:solidFill>
            <a:prstDash val="solid"/>
          </a:ln>
        </p:spPr>
      </p:sp>
      <p:sp>
        <p:nvSpPr>
          <p:cNvPr id="4" name="Text 2"/>
          <p:cNvSpPr txBox="1"/>
          <p:nvPr/>
        </p:nvSpPr>
        <p:spPr>
          <a:xfrm>
            <a:off x="640080" y="1170432"/>
            <a:ext cx="3657600" cy="365760"/>
          </a:xfrm>
          <a:prstGeom prst="rect">
            <a:avLst/>
          </a:prstGeom>
          <a:noFill/>
          <a:ln/>
        </p:spPr>
        <p:txBody>
          <a:bodyPr wrap="square" lIns="0" tIns="0" rIns="0" bIns="0" rtlCol="0" anchor="t"/>
          <a:lstStyle/>
          <a:p>
            <a:pPr indent="0" marL="0">
              <a:buNone/>
            </a:pPr>
            <a:r>
              <a:rPr lang="en-US" sz="1800" b="1" dirty="0">
                <a:solidFill>
                  <a:schemeClr val="accent6"/>
                </a:solidFill>
              </a:rPr>
              <a:t>Advantages</a:t>
            </a:r>
            <a:endParaRPr lang="en-US" sz="1800" dirty="0"/>
          </a:p>
        </p:txBody>
      </p:sp>
      <p:sp>
        <p:nvSpPr>
          <p:cNvPr id="5" name="limitations card"/>
          <p:cNvSpPr/>
          <p:nvPr/>
        </p:nvSpPr>
        <p:spPr>
          <a:xfrm>
            <a:off x="4663440" y="1097280"/>
            <a:ext cx="4023360" cy="3566160"/>
          </a:xfrm>
          <a:prstGeom prst="roundRect">
            <a:avLst>
              <a:gd name="adj" fmla="val 2564"/>
            </a:avLst>
          </a:prstGeom>
          <a:solidFill>
            <a:schemeClr val="bg2"/>
          </a:solidFill>
          <a:ln w="12700">
            <a:solidFill>
              <a:schemeClr val="bg2"/>
            </a:solidFill>
            <a:prstDash val="solid"/>
          </a:ln>
        </p:spPr>
      </p:sp>
      <p:sp>
        <p:nvSpPr>
          <p:cNvPr id="6" name="Text 4"/>
          <p:cNvSpPr txBox="1"/>
          <p:nvPr/>
        </p:nvSpPr>
        <p:spPr>
          <a:xfrm>
            <a:off x="4846320" y="1170432"/>
            <a:ext cx="3657600" cy="365760"/>
          </a:xfrm>
          <a:prstGeom prst="rect">
            <a:avLst/>
          </a:prstGeom>
          <a:noFill/>
          <a:ln/>
        </p:spPr>
        <p:txBody>
          <a:bodyPr wrap="square" lIns="0" tIns="0" rIns="0" bIns="0" rtlCol="0" anchor="t"/>
          <a:lstStyle/>
          <a:p>
            <a:pPr indent="0" marL="0">
              <a:buNone/>
            </a:pPr>
            <a:r>
              <a:rPr lang="en-US" sz="1800" b="1" dirty="0">
                <a:solidFill>
                  <a:schemeClr val="accent2"/>
                </a:solidFill>
              </a:rPr>
              <a:t>Limitations (found in testing)</a:t>
            </a:r>
            <a:endParaRPr lang="en-US" sz="1800" dirty="0"/>
          </a:p>
        </p:txBody>
      </p:sp>
      <p:sp>
        <p:nvSpPr>
          <p:cNvPr id="7" name="icon circle FaCheck"/>
          <p:cNvSpPr/>
          <p:nvPr/>
        </p:nvSpPr>
        <p:spPr>
          <a:xfrm>
            <a:off x="640080" y="1682496"/>
            <a:ext cx="310896" cy="310896"/>
          </a:xfrm>
          <a:prstGeom prst="ellipse">
            <a:avLst/>
          </a:prstGeom>
          <a:solidFill>
            <a:schemeClr val="accent6"/>
          </a:solidFill>
          <a:ln w="12700">
            <a:solidFill>
              <a:schemeClr val="accent6"/>
            </a:solidFill>
            <a:prstDash val="solid"/>
          </a:ln>
        </p:spPr>
      </p:sp>
      <p:pic>
        <p:nvPicPr>
          <p:cNvPr id="8" name="icon FaCheck" descr="FaCheck">    </p:cNvPr>
          <p:cNvPicPr>
            <a:picLocks noChangeAspect="1"/>
          </p:cNvPicPr>
          <p:nvPr/>
        </p:nvPicPr>
        <p:blipFill>
          <a:blip r:embed="rId1"/>
          <a:stretch>
            <a:fillRect/>
          </a:stretch>
        </p:blipFill>
        <p:spPr>
          <a:xfrm>
            <a:off x="720913" y="1763329"/>
            <a:ext cx="149230" cy="149230"/>
          </a:xfrm>
          <a:prstGeom prst="rect">
            <a:avLst/>
          </a:prstGeom>
        </p:spPr>
      </p:pic>
      <p:sp>
        <p:nvSpPr>
          <p:cNvPr id="9" name="Text 6"/>
          <p:cNvSpPr txBox="1"/>
          <p:nvPr/>
        </p:nvSpPr>
        <p:spPr>
          <a:xfrm>
            <a:off x="1051560" y="1627632"/>
            <a:ext cx="3337560" cy="420624"/>
          </a:xfrm>
          <a:prstGeom prst="rect">
            <a:avLst/>
          </a:prstGeom>
          <a:noFill/>
          <a:ln/>
        </p:spPr>
        <p:txBody>
          <a:bodyPr wrap="square" lIns="0" tIns="0" rIns="0" bIns="0" rtlCol="0" anchor="ctr"/>
          <a:lstStyle/>
          <a:p>
            <a:pPr indent="0" marL="0">
              <a:buNone/>
            </a:pPr>
            <a:r>
              <a:rPr lang="en-US" sz="1500" dirty="0">
                <a:solidFill>
                  <a:schemeClr val="tx1"/>
                </a:solidFill>
              </a:rPr>
              <a:t>All course details in one place</a:t>
            </a:r>
            <a:endParaRPr lang="en-US" sz="1500" dirty="0"/>
          </a:p>
        </p:txBody>
      </p:sp>
      <p:sp>
        <p:nvSpPr>
          <p:cNvPr id="10" name="icon circle FaExclamationTriangle"/>
          <p:cNvSpPr/>
          <p:nvPr/>
        </p:nvSpPr>
        <p:spPr>
          <a:xfrm>
            <a:off x="4846320" y="1682496"/>
            <a:ext cx="310896" cy="310896"/>
          </a:xfrm>
          <a:prstGeom prst="ellipse">
            <a:avLst/>
          </a:prstGeom>
          <a:solidFill>
            <a:schemeClr val="accent2"/>
          </a:solidFill>
          <a:ln w="12700">
            <a:solidFill>
              <a:schemeClr val="accent2"/>
            </a:solidFill>
            <a:prstDash val="solid"/>
          </a:ln>
        </p:spPr>
      </p:sp>
      <p:pic>
        <p:nvPicPr>
          <p:cNvPr id="11" name="icon FaExclamationTriangle" descr="FaExclamationTriangle">    </p:cNvPr>
          <p:cNvPicPr>
            <a:picLocks noChangeAspect="1"/>
          </p:cNvPicPr>
          <p:nvPr/>
        </p:nvPicPr>
        <p:blipFill>
          <a:blip r:embed="rId2"/>
          <a:stretch>
            <a:fillRect/>
          </a:stretch>
        </p:blipFill>
        <p:spPr>
          <a:xfrm>
            <a:off x="4927153" y="1763329"/>
            <a:ext cx="149230" cy="149230"/>
          </a:xfrm>
          <a:prstGeom prst="rect">
            <a:avLst/>
          </a:prstGeom>
        </p:spPr>
      </p:pic>
      <p:sp>
        <p:nvSpPr>
          <p:cNvPr id="12" name="Text 8"/>
          <p:cNvSpPr txBox="1"/>
          <p:nvPr/>
        </p:nvSpPr>
        <p:spPr>
          <a:xfrm>
            <a:off x="5257800" y="1627632"/>
            <a:ext cx="3337560" cy="420624"/>
          </a:xfrm>
          <a:prstGeom prst="rect">
            <a:avLst/>
          </a:prstGeom>
          <a:noFill/>
          <a:ln/>
        </p:spPr>
        <p:txBody>
          <a:bodyPr wrap="square" lIns="0" tIns="0" rIns="0" bIns="0" rtlCol="0" anchor="ctr"/>
          <a:lstStyle/>
          <a:p>
            <a:pPr indent="0" marL="0">
              <a:buNone/>
            </a:pPr>
            <a:r>
              <a:rPr lang="en-US" sz="1500" dirty="0">
                <a:solidFill>
                  <a:schemeClr val="tx1"/>
                </a:solidFill>
              </a:rPr>
              <a:t>Sample courses show twice</a:t>
            </a:r>
            <a:endParaRPr lang="en-US" sz="1500" dirty="0"/>
          </a:p>
        </p:txBody>
      </p:sp>
      <p:sp>
        <p:nvSpPr>
          <p:cNvPr id="13" name="icon circle FaCheck"/>
          <p:cNvSpPr/>
          <p:nvPr/>
        </p:nvSpPr>
        <p:spPr>
          <a:xfrm>
            <a:off x="640080" y="2185416"/>
            <a:ext cx="310896" cy="310896"/>
          </a:xfrm>
          <a:prstGeom prst="ellipse">
            <a:avLst/>
          </a:prstGeom>
          <a:solidFill>
            <a:schemeClr val="accent6"/>
          </a:solidFill>
          <a:ln w="12700">
            <a:solidFill>
              <a:schemeClr val="accent6"/>
            </a:solidFill>
            <a:prstDash val="solid"/>
          </a:ln>
        </p:spPr>
      </p:sp>
      <p:pic>
        <p:nvPicPr>
          <p:cNvPr id="14" name="icon FaCheck" descr="FaCheck">    </p:cNvPr>
          <p:cNvPicPr>
            <a:picLocks noChangeAspect="1"/>
          </p:cNvPicPr>
          <p:nvPr/>
        </p:nvPicPr>
        <p:blipFill>
          <a:blip r:embed="rId3"/>
          <a:stretch>
            <a:fillRect/>
          </a:stretch>
        </p:blipFill>
        <p:spPr>
          <a:xfrm>
            <a:off x="720913" y="2266249"/>
            <a:ext cx="149230" cy="149230"/>
          </a:xfrm>
          <a:prstGeom prst="rect">
            <a:avLst/>
          </a:prstGeom>
        </p:spPr>
      </p:pic>
      <p:sp>
        <p:nvSpPr>
          <p:cNvPr id="15" name="Text 10"/>
          <p:cNvSpPr txBox="1"/>
          <p:nvPr/>
        </p:nvSpPr>
        <p:spPr>
          <a:xfrm>
            <a:off x="1051560" y="2130552"/>
            <a:ext cx="3337560" cy="420624"/>
          </a:xfrm>
          <a:prstGeom prst="rect">
            <a:avLst/>
          </a:prstGeom>
          <a:noFill/>
          <a:ln/>
        </p:spPr>
        <p:txBody>
          <a:bodyPr wrap="square" lIns="0" tIns="0" rIns="0" bIns="0" rtlCol="0" anchor="ctr"/>
          <a:lstStyle/>
          <a:p>
            <a:pPr indent="0" marL="0">
              <a:buNone/>
            </a:pPr>
            <a:r>
              <a:rPr lang="en-US" sz="1500" dirty="0">
                <a:solidFill>
                  <a:schemeClr val="tx1"/>
                </a:solidFill>
              </a:rPr>
              <a:t>Enrollment in one simple form</a:t>
            </a:r>
            <a:endParaRPr lang="en-US" sz="1500" dirty="0"/>
          </a:p>
        </p:txBody>
      </p:sp>
      <p:sp>
        <p:nvSpPr>
          <p:cNvPr id="16" name="icon circle FaExclamationTriangle"/>
          <p:cNvSpPr/>
          <p:nvPr/>
        </p:nvSpPr>
        <p:spPr>
          <a:xfrm>
            <a:off x="4846320" y="2185416"/>
            <a:ext cx="310896" cy="310896"/>
          </a:xfrm>
          <a:prstGeom prst="ellipse">
            <a:avLst/>
          </a:prstGeom>
          <a:solidFill>
            <a:schemeClr val="accent2"/>
          </a:solidFill>
          <a:ln w="12700">
            <a:solidFill>
              <a:schemeClr val="accent2"/>
            </a:solidFill>
            <a:prstDash val="solid"/>
          </a:ln>
        </p:spPr>
      </p:sp>
      <p:pic>
        <p:nvPicPr>
          <p:cNvPr id="17" name="icon FaExclamationTriangle" descr="FaExclamationTriangle">    </p:cNvPr>
          <p:cNvPicPr>
            <a:picLocks noChangeAspect="1"/>
          </p:cNvPicPr>
          <p:nvPr/>
        </p:nvPicPr>
        <p:blipFill>
          <a:blip r:embed="rId4"/>
          <a:stretch>
            <a:fillRect/>
          </a:stretch>
        </p:blipFill>
        <p:spPr>
          <a:xfrm>
            <a:off x="4927153" y="2266249"/>
            <a:ext cx="149230" cy="149230"/>
          </a:xfrm>
          <a:prstGeom prst="rect">
            <a:avLst/>
          </a:prstGeom>
        </p:spPr>
      </p:pic>
      <p:sp>
        <p:nvSpPr>
          <p:cNvPr id="18" name="Text 12"/>
          <p:cNvSpPr txBox="1"/>
          <p:nvPr/>
        </p:nvSpPr>
        <p:spPr>
          <a:xfrm>
            <a:off x="5257800" y="2130552"/>
            <a:ext cx="3337560" cy="420624"/>
          </a:xfrm>
          <a:prstGeom prst="rect">
            <a:avLst/>
          </a:prstGeom>
          <a:noFill/>
          <a:ln/>
        </p:spPr>
        <p:txBody>
          <a:bodyPr wrap="square" lIns="0" tIns="0" rIns="0" bIns="0" rtlCol="0" anchor="ctr"/>
          <a:lstStyle/>
          <a:p>
            <a:pPr indent="0" marL="0">
              <a:buNone/>
            </a:pPr>
            <a:r>
              <a:rPr lang="en-US" sz="1500" dirty="0">
                <a:solidFill>
                  <a:schemeClr val="tx1"/>
                </a:solidFill>
              </a:rPr>
              <a:t>Login does not check saved accounts</a:t>
            </a:r>
            <a:endParaRPr lang="en-US" sz="1500" dirty="0"/>
          </a:p>
        </p:txBody>
      </p:sp>
      <p:sp>
        <p:nvSpPr>
          <p:cNvPr id="19" name="icon circle FaCheck"/>
          <p:cNvSpPr/>
          <p:nvPr/>
        </p:nvSpPr>
        <p:spPr>
          <a:xfrm>
            <a:off x="640080" y="2688336"/>
            <a:ext cx="310896" cy="310896"/>
          </a:xfrm>
          <a:prstGeom prst="ellipse">
            <a:avLst/>
          </a:prstGeom>
          <a:solidFill>
            <a:schemeClr val="accent6"/>
          </a:solidFill>
          <a:ln w="12700">
            <a:solidFill>
              <a:schemeClr val="accent6"/>
            </a:solidFill>
            <a:prstDash val="solid"/>
          </a:ln>
        </p:spPr>
      </p:sp>
      <p:pic>
        <p:nvPicPr>
          <p:cNvPr id="20" name="icon FaCheck" descr="FaCheck">    </p:cNvPr>
          <p:cNvPicPr>
            <a:picLocks noChangeAspect="1"/>
          </p:cNvPicPr>
          <p:nvPr/>
        </p:nvPicPr>
        <p:blipFill>
          <a:blip r:embed="rId5"/>
          <a:stretch>
            <a:fillRect/>
          </a:stretch>
        </p:blipFill>
        <p:spPr>
          <a:xfrm>
            <a:off x="720913" y="2769169"/>
            <a:ext cx="149230" cy="149230"/>
          </a:xfrm>
          <a:prstGeom prst="rect">
            <a:avLst/>
          </a:prstGeom>
        </p:spPr>
      </p:pic>
      <p:sp>
        <p:nvSpPr>
          <p:cNvPr id="21" name="Text 14"/>
          <p:cNvSpPr txBox="1"/>
          <p:nvPr/>
        </p:nvSpPr>
        <p:spPr>
          <a:xfrm>
            <a:off x="1051560" y="2633472"/>
            <a:ext cx="3337560" cy="420624"/>
          </a:xfrm>
          <a:prstGeom prst="rect">
            <a:avLst/>
          </a:prstGeom>
          <a:noFill/>
          <a:ln/>
        </p:spPr>
        <p:txBody>
          <a:bodyPr wrap="square" lIns="0" tIns="0" rIns="0" bIns="0" rtlCol="0" anchor="ctr"/>
          <a:lstStyle/>
          <a:p>
            <a:pPr indent="0" marL="0">
              <a:buNone/>
            </a:pPr>
            <a:r>
              <a:rPr lang="en-US" sz="1500" dirty="0">
                <a:solidFill>
                  <a:schemeClr val="tx1"/>
                </a:solidFill>
              </a:rPr>
              <a:t>Checks reduce typing mistakes</a:t>
            </a:r>
            <a:endParaRPr lang="en-US" sz="1500" dirty="0"/>
          </a:p>
        </p:txBody>
      </p:sp>
      <p:sp>
        <p:nvSpPr>
          <p:cNvPr id="22" name="icon circle FaExclamationTriangle"/>
          <p:cNvSpPr/>
          <p:nvPr/>
        </p:nvSpPr>
        <p:spPr>
          <a:xfrm>
            <a:off x="4846320" y="2688336"/>
            <a:ext cx="310896" cy="310896"/>
          </a:xfrm>
          <a:prstGeom prst="ellipse">
            <a:avLst/>
          </a:prstGeom>
          <a:solidFill>
            <a:schemeClr val="accent2"/>
          </a:solidFill>
          <a:ln w="12700">
            <a:solidFill>
              <a:schemeClr val="accent2"/>
            </a:solidFill>
            <a:prstDash val="solid"/>
          </a:ln>
        </p:spPr>
      </p:sp>
      <p:pic>
        <p:nvPicPr>
          <p:cNvPr id="23" name="icon FaExclamationTriangle" descr="FaExclamationTriangle">    </p:cNvPr>
          <p:cNvPicPr>
            <a:picLocks noChangeAspect="1"/>
          </p:cNvPicPr>
          <p:nvPr/>
        </p:nvPicPr>
        <p:blipFill>
          <a:blip r:embed="rId6"/>
          <a:stretch>
            <a:fillRect/>
          </a:stretch>
        </p:blipFill>
        <p:spPr>
          <a:xfrm>
            <a:off x="4927153" y="2769169"/>
            <a:ext cx="149230" cy="149230"/>
          </a:xfrm>
          <a:prstGeom prst="rect">
            <a:avLst/>
          </a:prstGeom>
        </p:spPr>
      </p:pic>
      <p:sp>
        <p:nvSpPr>
          <p:cNvPr id="24" name="Text 16"/>
          <p:cNvSpPr txBox="1"/>
          <p:nvPr/>
        </p:nvSpPr>
        <p:spPr>
          <a:xfrm>
            <a:off x="5257800" y="2633472"/>
            <a:ext cx="3337560" cy="420624"/>
          </a:xfrm>
          <a:prstGeom prst="rect">
            <a:avLst/>
          </a:prstGeom>
          <a:noFill/>
          <a:ln/>
        </p:spPr>
        <p:txBody>
          <a:bodyPr wrap="square" lIns="0" tIns="0" rIns="0" bIns="0" rtlCol="0" anchor="ctr"/>
          <a:lstStyle/>
          <a:p>
            <a:pPr indent="0" marL="0">
              <a:buNone/>
            </a:pPr>
            <a:r>
              <a:rPr lang="en-US" sz="1500" dirty="0">
                <a:solidFill>
                  <a:schemeClr val="tx1"/>
                </a:solidFill>
              </a:rPr>
              <a:t>Dashboard shows only latest 8</a:t>
            </a:r>
            <a:endParaRPr lang="en-US" sz="1500" dirty="0"/>
          </a:p>
        </p:txBody>
      </p:sp>
      <p:sp>
        <p:nvSpPr>
          <p:cNvPr id="25" name="icon circle FaCheck"/>
          <p:cNvSpPr/>
          <p:nvPr/>
        </p:nvSpPr>
        <p:spPr>
          <a:xfrm>
            <a:off x="640080" y="3191256"/>
            <a:ext cx="310896" cy="310896"/>
          </a:xfrm>
          <a:prstGeom prst="ellipse">
            <a:avLst/>
          </a:prstGeom>
          <a:solidFill>
            <a:schemeClr val="accent6"/>
          </a:solidFill>
          <a:ln w="12700">
            <a:solidFill>
              <a:schemeClr val="accent6"/>
            </a:solidFill>
            <a:prstDash val="solid"/>
          </a:ln>
        </p:spPr>
      </p:sp>
      <p:pic>
        <p:nvPicPr>
          <p:cNvPr id="26" name="icon FaCheck" descr="FaCheck">    </p:cNvPr>
          <p:cNvPicPr>
            <a:picLocks noChangeAspect="1"/>
          </p:cNvPicPr>
          <p:nvPr/>
        </p:nvPicPr>
        <p:blipFill>
          <a:blip r:embed="rId7"/>
          <a:stretch>
            <a:fillRect/>
          </a:stretch>
        </p:blipFill>
        <p:spPr>
          <a:xfrm>
            <a:off x="720913" y="3272089"/>
            <a:ext cx="149230" cy="149230"/>
          </a:xfrm>
          <a:prstGeom prst="rect">
            <a:avLst/>
          </a:prstGeom>
        </p:spPr>
      </p:pic>
      <p:sp>
        <p:nvSpPr>
          <p:cNvPr id="27" name="Text 18"/>
          <p:cNvSpPr txBox="1"/>
          <p:nvPr/>
        </p:nvSpPr>
        <p:spPr>
          <a:xfrm>
            <a:off x="1051560" y="3136392"/>
            <a:ext cx="3337560" cy="420624"/>
          </a:xfrm>
          <a:prstGeom prst="rect">
            <a:avLst/>
          </a:prstGeom>
          <a:noFill/>
          <a:ln/>
        </p:spPr>
        <p:txBody>
          <a:bodyPr wrap="square" lIns="0" tIns="0" rIns="0" bIns="0" rtlCol="0" anchor="ctr"/>
          <a:lstStyle/>
          <a:p>
            <a:pPr indent="0" marL="0">
              <a:buNone/>
            </a:pPr>
            <a:r>
              <a:rPr lang="en-US" sz="1500" dirty="0">
                <a:solidFill>
                  <a:schemeClr val="tx1"/>
                </a:solidFill>
              </a:rPr>
              <a:t>Instant success or error message</a:t>
            </a:r>
            <a:endParaRPr lang="en-US" sz="1500" dirty="0"/>
          </a:p>
        </p:txBody>
      </p:sp>
      <p:sp>
        <p:nvSpPr>
          <p:cNvPr id="28" name="icon circle FaExclamationTriangle"/>
          <p:cNvSpPr/>
          <p:nvPr/>
        </p:nvSpPr>
        <p:spPr>
          <a:xfrm>
            <a:off x="4846320" y="3191256"/>
            <a:ext cx="310896" cy="310896"/>
          </a:xfrm>
          <a:prstGeom prst="ellipse">
            <a:avLst/>
          </a:prstGeom>
          <a:solidFill>
            <a:schemeClr val="accent2"/>
          </a:solidFill>
          <a:ln w="12700">
            <a:solidFill>
              <a:schemeClr val="accent2"/>
            </a:solidFill>
            <a:prstDash val="solid"/>
          </a:ln>
        </p:spPr>
      </p:sp>
      <p:pic>
        <p:nvPicPr>
          <p:cNvPr id="29" name="icon FaExclamationTriangle" descr="FaExclamationTriangle">    </p:cNvPr>
          <p:cNvPicPr>
            <a:picLocks noChangeAspect="1"/>
          </p:cNvPicPr>
          <p:nvPr/>
        </p:nvPicPr>
        <p:blipFill>
          <a:blip r:embed="rId8"/>
          <a:stretch>
            <a:fillRect/>
          </a:stretch>
        </p:blipFill>
        <p:spPr>
          <a:xfrm>
            <a:off x="4927153" y="3272089"/>
            <a:ext cx="149230" cy="149230"/>
          </a:xfrm>
          <a:prstGeom prst="rect">
            <a:avLst/>
          </a:prstGeom>
        </p:spPr>
      </p:pic>
      <p:sp>
        <p:nvSpPr>
          <p:cNvPr id="30" name="Text 20"/>
          <p:cNvSpPr txBox="1"/>
          <p:nvPr/>
        </p:nvSpPr>
        <p:spPr>
          <a:xfrm>
            <a:off x="5257800" y="3136392"/>
            <a:ext cx="3337560" cy="420624"/>
          </a:xfrm>
          <a:prstGeom prst="rect">
            <a:avLst/>
          </a:prstGeom>
          <a:noFill/>
          <a:ln/>
        </p:spPr>
        <p:txBody>
          <a:bodyPr wrap="square" lIns="0" tIns="0" rIns="0" bIns="0" rtlCol="0" anchor="ctr"/>
          <a:lstStyle/>
          <a:p>
            <a:pPr indent="0" marL="0">
              <a:buNone/>
            </a:pPr>
            <a:r>
              <a:rPr lang="en-US" sz="1500" dirty="0">
                <a:solidFill>
                  <a:schemeClr val="tx1"/>
                </a:solidFill>
              </a:rPr>
              <a:t>Any course with any category</a:t>
            </a:r>
            <a:endParaRPr lang="en-US" sz="1500" dirty="0"/>
          </a:p>
        </p:txBody>
      </p:sp>
      <p:sp>
        <p:nvSpPr>
          <p:cNvPr id="31" name="icon circle FaCheck"/>
          <p:cNvSpPr/>
          <p:nvPr/>
        </p:nvSpPr>
        <p:spPr>
          <a:xfrm>
            <a:off x="640080" y="3694176"/>
            <a:ext cx="310896" cy="310896"/>
          </a:xfrm>
          <a:prstGeom prst="ellipse">
            <a:avLst/>
          </a:prstGeom>
          <a:solidFill>
            <a:schemeClr val="accent6"/>
          </a:solidFill>
          <a:ln w="12700">
            <a:solidFill>
              <a:schemeClr val="accent6"/>
            </a:solidFill>
            <a:prstDash val="solid"/>
          </a:ln>
        </p:spPr>
      </p:sp>
      <p:pic>
        <p:nvPicPr>
          <p:cNvPr id="32" name="icon FaCheck" descr="FaCheck">    </p:cNvPr>
          <p:cNvPicPr>
            <a:picLocks noChangeAspect="1"/>
          </p:cNvPicPr>
          <p:nvPr/>
        </p:nvPicPr>
        <p:blipFill>
          <a:blip r:embed="rId9"/>
          <a:stretch>
            <a:fillRect/>
          </a:stretch>
        </p:blipFill>
        <p:spPr>
          <a:xfrm>
            <a:off x="720913" y="3775009"/>
            <a:ext cx="149230" cy="149230"/>
          </a:xfrm>
          <a:prstGeom prst="rect">
            <a:avLst/>
          </a:prstGeom>
        </p:spPr>
      </p:pic>
      <p:sp>
        <p:nvSpPr>
          <p:cNvPr id="33" name="Text 22"/>
          <p:cNvSpPr txBox="1"/>
          <p:nvPr/>
        </p:nvSpPr>
        <p:spPr>
          <a:xfrm>
            <a:off x="1051560" y="3639312"/>
            <a:ext cx="3337560" cy="420624"/>
          </a:xfrm>
          <a:prstGeom prst="rect">
            <a:avLst/>
          </a:prstGeom>
          <a:noFill/>
          <a:ln/>
        </p:spPr>
        <p:txBody>
          <a:bodyPr wrap="square" lIns="0" tIns="0" rIns="0" bIns="0" rtlCol="0" anchor="ctr"/>
          <a:lstStyle/>
          <a:p>
            <a:pPr indent="0" marL="0">
              <a:buNone/>
            </a:pPr>
            <a:r>
              <a:rPr lang="en-US" sz="1500" dirty="0">
                <a:solidFill>
                  <a:schemeClr val="tx1"/>
                </a:solidFill>
              </a:rPr>
              <a:t>Staff see latest enrollments</a:t>
            </a:r>
            <a:endParaRPr lang="en-US" sz="1500" dirty="0"/>
          </a:p>
        </p:txBody>
      </p:sp>
      <p:sp>
        <p:nvSpPr>
          <p:cNvPr id="34" name="icon circle FaExclamationTriangle"/>
          <p:cNvSpPr/>
          <p:nvPr/>
        </p:nvSpPr>
        <p:spPr>
          <a:xfrm>
            <a:off x="4846320" y="3694176"/>
            <a:ext cx="310896" cy="310896"/>
          </a:xfrm>
          <a:prstGeom prst="ellipse">
            <a:avLst/>
          </a:prstGeom>
          <a:solidFill>
            <a:schemeClr val="accent2"/>
          </a:solidFill>
          <a:ln w="12700">
            <a:solidFill>
              <a:schemeClr val="accent2"/>
            </a:solidFill>
            <a:prstDash val="solid"/>
          </a:ln>
        </p:spPr>
      </p:sp>
      <p:pic>
        <p:nvPicPr>
          <p:cNvPr id="35" name="icon FaExclamationTriangle" descr="FaExclamationTriangle">    </p:cNvPr>
          <p:cNvPicPr>
            <a:picLocks noChangeAspect="1"/>
          </p:cNvPicPr>
          <p:nvPr/>
        </p:nvPicPr>
        <p:blipFill>
          <a:blip r:embed="rId10"/>
          <a:stretch>
            <a:fillRect/>
          </a:stretch>
        </p:blipFill>
        <p:spPr>
          <a:xfrm>
            <a:off x="4927153" y="3775009"/>
            <a:ext cx="149230" cy="149230"/>
          </a:xfrm>
          <a:prstGeom prst="rect">
            <a:avLst/>
          </a:prstGeom>
        </p:spPr>
      </p:pic>
      <p:sp>
        <p:nvSpPr>
          <p:cNvPr id="36" name="Text 24"/>
          <p:cNvSpPr txBox="1"/>
          <p:nvPr/>
        </p:nvSpPr>
        <p:spPr>
          <a:xfrm>
            <a:off x="5257800" y="3639312"/>
            <a:ext cx="3337560" cy="420624"/>
          </a:xfrm>
          <a:prstGeom prst="rect">
            <a:avLst/>
          </a:prstGeom>
          <a:noFill/>
          <a:ln/>
        </p:spPr>
        <p:txBody>
          <a:bodyPr wrap="square" lIns="0" tIns="0" rIns="0" bIns="0" rtlCol="0" anchor="ctr"/>
          <a:lstStyle/>
          <a:p>
            <a:pPr indent="0" marL="0">
              <a:buNone/>
            </a:pPr>
            <a:r>
              <a:rPr lang="en-US" sz="1500" dirty="0">
                <a:solidFill>
                  <a:schemeClr val="tx1"/>
                </a:solidFill>
              </a:rPr>
              <a:t>Seats do not go down on enroll</a:t>
            </a:r>
            <a:endParaRPr lang="en-US" sz="1500" dirty="0"/>
          </a:p>
        </p:txBody>
      </p:sp>
      <p:sp>
        <p:nvSpPr>
          <p:cNvPr id="37" name="icon circle FaCheck"/>
          <p:cNvSpPr/>
          <p:nvPr/>
        </p:nvSpPr>
        <p:spPr>
          <a:xfrm>
            <a:off x="640080" y="4197096"/>
            <a:ext cx="310896" cy="310896"/>
          </a:xfrm>
          <a:prstGeom prst="ellipse">
            <a:avLst/>
          </a:prstGeom>
          <a:solidFill>
            <a:schemeClr val="accent6"/>
          </a:solidFill>
          <a:ln w="12700">
            <a:solidFill>
              <a:schemeClr val="accent6"/>
            </a:solidFill>
            <a:prstDash val="solid"/>
          </a:ln>
        </p:spPr>
      </p:sp>
      <p:pic>
        <p:nvPicPr>
          <p:cNvPr id="38" name="icon FaCheck" descr="FaCheck">    </p:cNvPr>
          <p:cNvPicPr>
            <a:picLocks noChangeAspect="1"/>
          </p:cNvPicPr>
          <p:nvPr/>
        </p:nvPicPr>
        <p:blipFill>
          <a:blip r:embed="rId11"/>
          <a:stretch>
            <a:fillRect/>
          </a:stretch>
        </p:blipFill>
        <p:spPr>
          <a:xfrm>
            <a:off x="720913" y="4277929"/>
            <a:ext cx="149230" cy="149230"/>
          </a:xfrm>
          <a:prstGeom prst="rect">
            <a:avLst/>
          </a:prstGeom>
        </p:spPr>
      </p:pic>
      <p:sp>
        <p:nvSpPr>
          <p:cNvPr id="39" name="Text 26"/>
          <p:cNvSpPr txBox="1"/>
          <p:nvPr/>
        </p:nvSpPr>
        <p:spPr>
          <a:xfrm>
            <a:off x="1051560" y="4142232"/>
            <a:ext cx="3337560" cy="420624"/>
          </a:xfrm>
          <a:prstGeom prst="rect">
            <a:avLst/>
          </a:prstGeom>
          <a:noFill/>
          <a:ln/>
        </p:spPr>
        <p:txBody>
          <a:bodyPr wrap="square" lIns="0" tIns="0" rIns="0" bIns="0" rtlCol="0" anchor="ctr"/>
          <a:lstStyle/>
          <a:p>
            <a:pPr indent="0" marL="0">
              <a:buNone/>
            </a:pPr>
            <a:r>
              <a:rPr lang="en-US" sz="1500" dirty="0">
                <a:solidFill>
                  <a:schemeClr val="tx1"/>
                </a:solidFill>
              </a:rPr>
              <a:t>Safe queries (no SQL injection)</a:t>
            </a:r>
            <a:endParaRPr lang="en-US" sz="1500" dirty="0"/>
          </a:p>
        </p:txBody>
      </p:sp>
      <p:sp>
        <p:nvSpPr>
          <p:cNvPr id="40" name="icon circle FaExclamationTriangle"/>
          <p:cNvSpPr/>
          <p:nvPr/>
        </p:nvSpPr>
        <p:spPr>
          <a:xfrm>
            <a:off x="4846320" y="4197096"/>
            <a:ext cx="310896" cy="310896"/>
          </a:xfrm>
          <a:prstGeom prst="ellipse">
            <a:avLst/>
          </a:prstGeom>
          <a:solidFill>
            <a:schemeClr val="accent2"/>
          </a:solidFill>
          <a:ln w="12700">
            <a:solidFill>
              <a:schemeClr val="accent2"/>
            </a:solidFill>
            <a:prstDash val="solid"/>
          </a:ln>
        </p:spPr>
      </p:sp>
      <p:pic>
        <p:nvPicPr>
          <p:cNvPr id="41" name="icon FaExclamationTriangle" descr="FaExclamationTriangle">    </p:cNvPr>
          <p:cNvPicPr>
            <a:picLocks noChangeAspect="1"/>
          </p:cNvPicPr>
          <p:nvPr/>
        </p:nvPicPr>
        <p:blipFill>
          <a:blip r:embed="rId12"/>
          <a:stretch>
            <a:fillRect/>
          </a:stretch>
        </p:blipFill>
        <p:spPr>
          <a:xfrm>
            <a:off x="4927153" y="4277929"/>
            <a:ext cx="149230" cy="149230"/>
          </a:xfrm>
          <a:prstGeom prst="rect">
            <a:avLst/>
          </a:prstGeom>
        </p:spPr>
      </p:pic>
      <p:sp>
        <p:nvSpPr>
          <p:cNvPr id="42" name="Text 28"/>
          <p:cNvSpPr txBox="1"/>
          <p:nvPr/>
        </p:nvSpPr>
        <p:spPr>
          <a:xfrm>
            <a:off x="5257800" y="4142232"/>
            <a:ext cx="3337560" cy="420624"/>
          </a:xfrm>
          <a:prstGeom prst="rect">
            <a:avLst/>
          </a:prstGeom>
          <a:noFill/>
          <a:ln/>
        </p:spPr>
        <p:txBody>
          <a:bodyPr wrap="square" lIns="0" tIns="0" rIns="0" bIns="0" rtlCol="0" anchor="ctr"/>
          <a:lstStyle/>
          <a:p>
            <a:pPr indent="0" marL="0">
              <a:buNone/>
            </a:pPr>
            <a:r>
              <a:rPr lang="en-US" sz="1500" dirty="0">
                <a:solidFill>
                  <a:schemeClr val="tx1"/>
                </a:solidFill>
              </a:rPr>
              <a:t>Database password is in the code</a:t>
            </a:r>
            <a:endParaRPr lang="en-US" sz="15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Applications and Conclusion</a:t>
            </a:r>
            <a:endParaRPr lang="en-US" sz="3200" dirty="0"/>
          </a:p>
        </p:txBody>
      </p:sp>
      <p:sp>
        <p:nvSpPr>
          <p:cNvPr id="3" name="application 1"/>
          <p:cNvSpPr/>
          <p:nvPr/>
        </p:nvSpPr>
        <p:spPr>
          <a:xfrm>
            <a:off x="457200" y="1143000"/>
            <a:ext cx="3840480" cy="1051560"/>
          </a:xfrm>
          <a:prstGeom prst="roundRect">
            <a:avLst>
              <a:gd name="adj" fmla="val 8696"/>
            </a:avLst>
          </a:prstGeom>
          <a:solidFill>
            <a:schemeClr val="bg2"/>
          </a:solidFill>
          <a:ln w="12700">
            <a:solidFill>
              <a:schemeClr val="bg2"/>
            </a:solidFill>
            <a:prstDash val="solid"/>
          </a:ln>
        </p:spPr>
      </p:sp>
      <p:sp>
        <p:nvSpPr>
          <p:cNvPr id="4" name="icon circle FaUniversity"/>
          <p:cNvSpPr/>
          <p:nvPr/>
        </p:nvSpPr>
        <p:spPr>
          <a:xfrm>
            <a:off x="594360" y="1417320"/>
            <a:ext cx="502920" cy="502920"/>
          </a:xfrm>
          <a:prstGeom prst="ellipse">
            <a:avLst/>
          </a:prstGeom>
          <a:solidFill>
            <a:schemeClr val="accent1"/>
          </a:solidFill>
          <a:ln w="12700">
            <a:solidFill>
              <a:schemeClr val="accent1"/>
            </a:solidFill>
            <a:prstDash val="solid"/>
          </a:ln>
        </p:spPr>
      </p:sp>
      <p:pic>
        <p:nvPicPr>
          <p:cNvPr id="5" name="icon FaUniversity" descr="FaUniversity">    </p:cNvPr>
          <p:cNvPicPr>
            <a:picLocks noChangeAspect="1"/>
          </p:cNvPicPr>
          <p:nvPr/>
        </p:nvPicPr>
        <p:blipFill>
          <a:blip r:embed="rId1"/>
          <a:stretch>
            <a:fillRect/>
          </a:stretch>
        </p:blipFill>
        <p:spPr>
          <a:xfrm>
            <a:off x="725119" y="1548079"/>
            <a:ext cx="241402" cy="241402"/>
          </a:xfrm>
          <a:prstGeom prst="rect">
            <a:avLst/>
          </a:prstGeom>
        </p:spPr>
      </p:pic>
      <p:sp>
        <p:nvSpPr>
          <p:cNvPr id="6" name="Text 3"/>
          <p:cNvSpPr txBox="1"/>
          <p:nvPr/>
        </p:nvSpPr>
        <p:spPr>
          <a:xfrm>
            <a:off x="1280160" y="1325880"/>
            <a:ext cx="2926080" cy="320040"/>
          </a:xfrm>
          <a:prstGeom prst="rect">
            <a:avLst/>
          </a:prstGeom>
          <a:noFill/>
          <a:ln/>
        </p:spPr>
        <p:txBody>
          <a:bodyPr wrap="square" lIns="0" tIns="0" rIns="0" bIns="0" rtlCol="0" anchor="t"/>
          <a:lstStyle/>
          <a:p>
            <a:pPr indent="0" marL="0">
              <a:buNone/>
            </a:pPr>
            <a:r>
              <a:rPr lang="en-US" sz="1700" b="1" dirty="0">
                <a:solidFill>
                  <a:schemeClr val="tx1"/>
                </a:solidFill>
              </a:rPr>
              <a:t>Training institutes</a:t>
            </a:r>
            <a:endParaRPr lang="en-US" sz="1700" dirty="0"/>
          </a:p>
        </p:txBody>
      </p:sp>
      <p:sp>
        <p:nvSpPr>
          <p:cNvPr id="7" name="Text 4"/>
          <p:cNvSpPr txBox="1"/>
          <p:nvPr/>
        </p:nvSpPr>
        <p:spPr>
          <a:xfrm>
            <a:off x="1280160" y="1691640"/>
            <a:ext cx="2926080" cy="365760"/>
          </a:xfrm>
          <a:prstGeom prst="rect">
            <a:avLst/>
          </a:prstGeom>
          <a:noFill/>
          <a:ln/>
        </p:spPr>
        <p:txBody>
          <a:bodyPr wrap="square" lIns="0" tIns="0" rIns="0" bIns="0" rtlCol="0" anchor="t"/>
          <a:lstStyle/>
          <a:p>
            <a:pPr indent="0" marL="0">
              <a:buNone/>
            </a:pPr>
            <a:r>
              <a:rPr lang="en-US" sz="1500" dirty="0">
                <a:solidFill>
                  <a:schemeClr val="tx2"/>
                </a:solidFill>
              </a:rPr>
              <a:t>Enroll learners online</a:t>
            </a:r>
            <a:endParaRPr lang="en-US" sz="1500" dirty="0"/>
          </a:p>
        </p:txBody>
      </p:sp>
      <p:sp>
        <p:nvSpPr>
          <p:cNvPr id="8" name="application 2"/>
          <p:cNvSpPr/>
          <p:nvPr/>
        </p:nvSpPr>
        <p:spPr>
          <a:xfrm>
            <a:off x="457200" y="2313432"/>
            <a:ext cx="3840480" cy="1051560"/>
          </a:xfrm>
          <a:prstGeom prst="roundRect">
            <a:avLst>
              <a:gd name="adj" fmla="val 8696"/>
            </a:avLst>
          </a:prstGeom>
          <a:solidFill>
            <a:schemeClr val="bg2"/>
          </a:solidFill>
          <a:ln w="12700">
            <a:solidFill>
              <a:schemeClr val="bg2"/>
            </a:solidFill>
            <a:prstDash val="solid"/>
          </a:ln>
        </p:spPr>
      </p:sp>
      <p:sp>
        <p:nvSpPr>
          <p:cNvPr id="9" name="icon circle FaBookOpen"/>
          <p:cNvSpPr/>
          <p:nvPr/>
        </p:nvSpPr>
        <p:spPr>
          <a:xfrm>
            <a:off x="594360" y="2587752"/>
            <a:ext cx="502920" cy="502920"/>
          </a:xfrm>
          <a:prstGeom prst="ellipse">
            <a:avLst/>
          </a:prstGeom>
          <a:solidFill>
            <a:schemeClr val="accent1"/>
          </a:solidFill>
          <a:ln w="12700">
            <a:solidFill>
              <a:schemeClr val="accent1"/>
            </a:solidFill>
            <a:prstDash val="solid"/>
          </a:ln>
        </p:spPr>
      </p:sp>
      <p:pic>
        <p:nvPicPr>
          <p:cNvPr id="10" name="icon FaBookOpen" descr="FaBookOpen">    </p:cNvPr>
          <p:cNvPicPr>
            <a:picLocks noChangeAspect="1"/>
          </p:cNvPicPr>
          <p:nvPr/>
        </p:nvPicPr>
        <p:blipFill>
          <a:blip r:embed="rId2"/>
          <a:stretch>
            <a:fillRect/>
          </a:stretch>
        </p:blipFill>
        <p:spPr>
          <a:xfrm>
            <a:off x="725119" y="2718511"/>
            <a:ext cx="241402" cy="241402"/>
          </a:xfrm>
          <a:prstGeom prst="rect">
            <a:avLst/>
          </a:prstGeom>
        </p:spPr>
      </p:pic>
      <p:sp>
        <p:nvSpPr>
          <p:cNvPr id="11" name="Text 7"/>
          <p:cNvSpPr txBox="1"/>
          <p:nvPr/>
        </p:nvSpPr>
        <p:spPr>
          <a:xfrm>
            <a:off x="1280160" y="2496312"/>
            <a:ext cx="2926080" cy="320040"/>
          </a:xfrm>
          <a:prstGeom prst="rect">
            <a:avLst/>
          </a:prstGeom>
          <a:noFill/>
          <a:ln/>
        </p:spPr>
        <p:txBody>
          <a:bodyPr wrap="square" lIns="0" tIns="0" rIns="0" bIns="0" rtlCol="0" anchor="t"/>
          <a:lstStyle/>
          <a:p>
            <a:pPr indent="0" marL="0">
              <a:buNone/>
            </a:pPr>
            <a:r>
              <a:rPr lang="en-US" sz="1700" b="1" dirty="0">
                <a:solidFill>
                  <a:schemeClr val="tx1"/>
                </a:solidFill>
              </a:rPr>
              <a:t>Learning platforms</a:t>
            </a:r>
            <a:endParaRPr lang="en-US" sz="1700" dirty="0"/>
          </a:p>
        </p:txBody>
      </p:sp>
      <p:sp>
        <p:nvSpPr>
          <p:cNvPr id="12" name="Text 8"/>
          <p:cNvSpPr txBox="1"/>
          <p:nvPr/>
        </p:nvSpPr>
        <p:spPr>
          <a:xfrm>
            <a:off x="1280160" y="2862072"/>
            <a:ext cx="2926080" cy="365760"/>
          </a:xfrm>
          <a:prstGeom prst="rect">
            <a:avLst/>
          </a:prstGeom>
          <a:noFill/>
          <a:ln/>
        </p:spPr>
        <p:txBody>
          <a:bodyPr wrap="square" lIns="0" tIns="0" rIns="0" bIns="0" rtlCol="0" anchor="t"/>
          <a:lstStyle/>
          <a:p>
            <a:pPr indent="0" marL="0">
              <a:buNone/>
            </a:pPr>
            <a:r>
              <a:rPr lang="en-US" sz="1500" dirty="0">
                <a:solidFill>
                  <a:schemeClr val="tx2"/>
                </a:solidFill>
              </a:rPr>
              <a:t>Browse and join courses</a:t>
            </a:r>
            <a:endParaRPr lang="en-US" sz="1500" dirty="0"/>
          </a:p>
        </p:txBody>
      </p:sp>
      <p:sp>
        <p:nvSpPr>
          <p:cNvPr id="13" name="application 3"/>
          <p:cNvSpPr/>
          <p:nvPr/>
        </p:nvSpPr>
        <p:spPr>
          <a:xfrm>
            <a:off x="457200" y="3483864"/>
            <a:ext cx="3840480" cy="1051560"/>
          </a:xfrm>
          <a:prstGeom prst="roundRect">
            <a:avLst>
              <a:gd name="adj" fmla="val 8696"/>
            </a:avLst>
          </a:prstGeom>
          <a:solidFill>
            <a:schemeClr val="bg2"/>
          </a:solidFill>
          <a:ln w="12700">
            <a:solidFill>
              <a:schemeClr val="bg2"/>
            </a:solidFill>
            <a:prstDash val="solid"/>
          </a:ln>
        </p:spPr>
      </p:sp>
      <p:sp>
        <p:nvSpPr>
          <p:cNvPr id="14" name="icon circle FaUserShield"/>
          <p:cNvSpPr/>
          <p:nvPr/>
        </p:nvSpPr>
        <p:spPr>
          <a:xfrm>
            <a:off x="594360" y="3758184"/>
            <a:ext cx="502920" cy="502920"/>
          </a:xfrm>
          <a:prstGeom prst="ellipse">
            <a:avLst/>
          </a:prstGeom>
          <a:solidFill>
            <a:schemeClr val="accent1"/>
          </a:solidFill>
          <a:ln w="12700">
            <a:solidFill>
              <a:schemeClr val="accent1"/>
            </a:solidFill>
            <a:prstDash val="solid"/>
          </a:ln>
        </p:spPr>
      </p:sp>
      <p:pic>
        <p:nvPicPr>
          <p:cNvPr id="15" name="icon FaUserShield" descr="FaUserShield">    </p:cNvPr>
          <p:cNvPicPr>
            <a:picLocks noChangeAspect="1"/>
          </p:cNvPicPr>
          <p:nvPr/>
        </p:nvPicPr>
        <p:blipFill>
          <a:blip r:embed="rId3"/>
          <a:stretch>
            <a:fillRect/>
          </a:stretch>
        </p:blipFill>
        <p:spPr>
          <a:xfrm>
            <a:off x="725119" y="3888943"/>
            <a:ext cx="241402" cy="241402"/>
          </a:xfrm>
          <a:prstGeom prst="rect">
            <a:avLst/>
          </a:prstGeom>
        </p:spPr>
      </p:pic>
      <p:sp>
        <p:nvSpPr>
          <p:cNvPr id="16" name="Text 11"/>
          <p:cNvSpPr txBox="1"/>
          <p:nvPr/>
        </p:nvSpPr>
        <p:spPr>
          <a:xfrm>
            <a:off x="1280160" y="3666744"/>
            <a:ext cx="2926080" cy="320040"/>
          </a:xfrm>
          <a:prstGeom prst="rect">
            <a:avLst/>
          </a:prstGeom>
          <a:noFill/>
          <a:ln/>
        </p:spPr>
        <p:txBody>
          <a:bodyPr wrap="square" lIns="0" tIns="0" rIns="0" bIns="0" rtlCol="0" anchor="t"/>
          <a:lstStyle/>
          <a:p>
            <a:pPr indent="0" marL="0">
              <a:buNone/>
            </a:pPr>
            <a:r>
              <a:rPr lang="en-US" sz="1700" b="1" dirty="0">
                <a:solidFill>
                  <a:schemeClr val="tx1"/>
                </a:solidFill>
              </a:rPr>
              <a:t>Institute staff</a:t>
            </a:r>
            <a:endParaRPr lang="en-US" sz="1700" dirty="0"/>
          </a:p>
        </p:txBody>
      </p:sp>
      <p:sp>
        <p:nvSpPr>
          <p:cNvPr id="17" name="Text 12"/>
          <p:cNvSpPr txBox="1"/>
          <p:nvPr/>
        </p:nvSpPr>
        <p:spPr>
          <a:xfrm>
            <a:off x="1280160" y="4032504"/>
            <a:ext cx="2926080" cy="365760"/>
          </a:xfrm>
          <a:prstGeom prst="rect">
            <a:avLst/>
          </a:prstGeom>
          <a:noFill/>
          <a:ln/>
        </p:spPr>
        <p:txBody>
          <a:bodyPr wrap="square" lIns="0" tIns="0" rIns="0" bIns="0" rtlCol="0" anchor="t"/>
          <a:lstStyle/>
          <a:p>
            <a:pPr indent="0" marL="0">
              <a:buNone/>
            </a:pPr>
            <a:r>
              <a:rPr lang="en-US" sz="1500" dirty="0">
                <a:solidFill>
                  <a:schemeClr val="tx2"/>
                </a:solidFill>
              </a:rPr>
              <a:t>See latest requests in one place</a:t>
            </a:r>
            <a:endParaRPr lang="en-US" sz="1500" dirty="0"/>
          </a:p>
        </p:txBody>
      </p:sp>
      <p:sp>
        <p:nvSpPr>
          <p:cNvPr id="18" name="conclusion panel"/>
          <p:cNvSpPr/>
          <p:nvPr/>
        </p:nvSpPr>
        <p:spPr>
          <a:xfrm>
            <a:off x="4526280" y="1143000"/>
            <a:ext cx="4160520" cy="3474720"/>
          </a:xfrm>
          <a:prstGeom prst="roundRect">
            <a:avLst>
              <a:gd name="adj" fmla="val 2632"/>
            </a:avLst>
          </a:prstGeom>
          <a:solidFill>
            <a:schemeClr val="accent4"/>
          </a:solidFill>
          <a:ln w="12700">
            <a:solidFill>
              <a:schemeClr val="accent4"/>
            </a:solidFill>
            <a:prstDash val="solid"/>
          </a:ln>
        </p:spPr>
      </p:sp>
      <p:sp>
        <p:nvSpPr>
          <p:cNvPr id="19" name="Text 14"/>
          <p:cNvSpPr txBox="1"/>
          <p:nvPr/>
        </p:nvSpPr>
        <p:spPr>
          <a:xfrm>
            <a:off x="4754880" y="1261872"/>
            <a:ext cx="3749040" cy="365760"/>
          </a:xfrm>
          <a:prstGeom prst="rect">
            <a:avLst/>
          </a:prstGeom>
          <a:noFill/>
          <a:ln/>
        </p:spPr>
        <p:txBody>
          <a:bodyPr wrap="square" lIns="0" tIns="0" rIns="0" bIns="0" rtlCol="0" anchor="t"/>
          <a:lstStyle/>
          <a:p>
            <a:pPr indent="0" marL="0">
              <a:buNone/>
            </a:pPr>
            <a:r>
              <a:rPr lang="en-US" sz="2000" b="1" dirty="0">
                <a:solidFill>
                  <a:schemeClr val="accent3"/>
                </a:solidFill>
              </a:rPr>
              <a:t>Conclusion</a:t>
            </a:r>
            <a:endParaRPr lang="en-US" sz="2000" dirty="0"/>
          </a:p>
        </p:txBody>
      </p:sp>
      <p:sp>
        <p:nvSpPr>
          <p:cNvPr id="20" name="Text 15"/>
          <p:cNvSpPr txBox="1"/>
          <p:nvPr/>
        </p:nvSpPr>
        <p:spPr>
          <a:xfrm>
            <a:off x="4754880" y="1737360"/>
            <a:ext cx="3749040" cy="2788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Online enrollment replaces paper forms</a:t>
            </a:r>
            <a:endParaRPr lang="en-US" sz="1600" dirty="0"/>
          </a:p>
          <a:p>
            <a:pPr marL="342900" indent="-342900">
              <a:spcAft>
                <a:spcPts val="800"/>
              </a:spcAft>
              <a:buSzPct val="100000"/>
              <a:buChar char="•"/>
            </a:pPr>
            <a:r>
              <a:rPr lang="en-US" sz="1600" dirty="0">
                <a:solidFill>
                  <a:schemeClr val="bg1"/>
                </a:solidFill>
              </a:rPr>
              <a:t>Built with HTML, CSS, JavaScript, FastAPI and MySQL</a:t>
            </a:r>
            <a:endParaRPr lang="en-US" sz="1600" dirty="0"/>
          </a:p>
          <a:p>
            <a:pPr marL="342900" indent="-342900">
              <a:spcAft>
                <a:spcPts val="800"/>
              </a:spcAft>
              <a:buSzPct val="100000"/>
              <a:buChar char="•"/>
            </a:pPr>
            <a:r>
              <a:rPr lang="en-US" sz="1600" dirty="0">
                <a:solidFill>
                  <a:schemeClr val="bg1"/>
                </a:solidFill>
              </a:rPr>
              <a:t>Main modules were built and tested</a:t>
            </a:r>
            <a:endParaRPr lang="en-US" sz="1600" dirty="0"/>
          </a:p>
          <a:p>
            <a:pPr marL="342900" indent="-342900">
              <a:spcAft>
                <a:spcPts val="800"/>
              </a:spcAft>
              <a:buSzPct val="100000"/>
              <a:buChar char="•"/>
            </a:pPr>
            <a:r>
              <a:rPr lang="en-US" sz="1600" dirty="0">
                <a:solidFill>
                  <a:schemeClr val="bg1"/>
                </a:solidFill>
              </a:rPr>
              <a:t>I gained practical experience in Python web development, SQL and testing</a:t>
            </a:r>
            <a:endParaRPr lang="en-US" sz="16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bg1"/>
                </a:solidFill>
              </a:rPr>
              <a:t>Future Enhancements</a:t>
            </a:r>
            <a:endParaRPr lang="en-US" sz="3200" dirty="0"/>
          </a:p>
        </p:txBody>
      </p:sp>
      <p:sp>
        <p:nvSpPr>
          <p:cNvPr id="3" name="future 1"/>
          <p:cNvSpPr/>
          <p:nvPr/>
        </p:nvSpPr>
        <p:spPr>
          <a:xfrm>
            <a:off x="457200" y="109728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4" name="Text 2"/>
          <p:cNvSpPr txBox="1"/>
          <p:nvPr/>
        </p:nvSpPr>
        <p:spPr>
          <a:xfrm>
            <a:off x="566928" y="115214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01</a:t>
            </a:r>
            <a:endParaRPr lang="en-US" sz="1200" dirty="0"/>
          </a:p>
        </p:txBody>
      </p:sp>
      <p:sp>
        <p:nvSpPr>
          <p:cNvPr id="5" name="Text 3"/>
          <p:cNvSpPr txBox="1"/>
          <p:nvPr/>
        </p:nvSpPr>
        <p:spPr>
          <a:xfrm>
            <a:off x="566928" y="1353312"/>
            <a:ext cx="1719072" cy="676656"/>
          </a:xfrm>
          <a:prstGeom prst="rect">
            <a:avLst/>
          </a:prstGeom>
          <a:noFill/>
          <a:ln/>
        </p:spPr>
        <p:txBody>
          <a:bodyPr wrap="square" lIns="0" tIns="0" rIns="0" bIns="0" rtlCol="0" anchor="t"/>
          <a:lstStyle/>
          <a:p>
            <a:pPr indent="0" marL="0">
              <a:buNone/>
            </a:pPr>
            <a:r>
              <a:rPr lang="en-US" sz="1400" dirty="0">
                <a:solidFill>
                  <a:schemeClr val="bg1"/>
                </a:solidFill>
              </a:rPr>
              <a:t>Secure login with password hashing</a:t>
            </a:r>
            <a:endParaRPr lang="en-US" sz="1400" dirty="0"/>
          </a:p>
        </p:txBody>
      </p:sp>
      <p:sp>
        <p:nvSpPr>
          <p:cNvPr id="6" name="future 2"/>
          <p:cNvSpPr/>
          <p:nvPr/>
        </p:nvSpPr>
        <p:spPr>
          <a:xfrm>
            <a:off x="2560320" y="109728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7" name="Text 5"/>
          <p:cNvSpPr txBox="1"/>
          <p:nvPr/>
        </p:nvSpPr>
        <p:spPr>
          <a:xfrm>
            <a:off x="2670048" y="115214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02</a:t>
            </a:r>
            <a:endParaRPr lang="en-US" sz="1200" dirty="0"/>
          </a:p>
        </p:txBody>
      </p:sp>
      <p:sp>
        <p:nvSpPr>
          <p:cNvPr id="8" name="Text 6"/>
          <p:cNvSpPr txBox="1"/>
          <p:nvPr/>
        </p:nvSpPr>
        <p:spPr>
          <a:xfrm>
            <a:off x="2670048" y="1353312"/>
            <a:ext cx="1719072" cy="676656"/>
          </a:xfrm>
          <a:prstGeom prst="rect">
            <a:avLst/>
          </a:prstGeom>
          <a:noFill/>
          <a:ln/>
        </p:spPr>
        <p:txBody>
          <a:bodyPr wrap="square" lIns="0" tIns="0" rIns="0" bIns="0" rtlCol="0" anchor="t"/>
          <a:lstStyle/>
          <a:p>
            <a:pPr indent="0" marL="0">
              <a:buNone/>
            </a:pPr>
            <a:r>
              <a:rPr lang="en-US" sz="1400" dirty="0">
                <a:solidFill>
                  <a:schemeClr val="bg1"/>
                </a:solidFill>
              </a:rPr>
              <a:t>Admin panel to manage courses</a:t>
            </a:r>
            <a:endParaRPr lang="en-US" sz="1400" dirty="0"/>
          </a:p>
        </p:txBody>
      </p:sp>
      <p:sp>
        <p:nvSpPr>
          <p:cNvPr id="9" name="future 3"/>
          <p:cNvSpPr/>
          <p:nvPr/>
        </p:nvSpPr>
        <p:spPr>
          <a:xfrm>
            <a:off x="4663440" y="109728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10" name="Text 8"/>
          <p:cNvSpPr txBox="1"/>
          <p:nvPr/>
        </p:nvSpPr>
        <p:spPr>
          <a:xfrm>
            <a:off x="4773168" y="115214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03</a:t>
            </a:r>
            <a:endParaRPr lang="en-US" sz="1200" dirty="0"/>
          </a:p>
        </p:txBody>
      </p:sp>
      <p:sp>
        <p:nvSpPr>
          <p:cNvPr id="11" name="Text 9"/>
          <p:cNvSpPr txBox="1"/>
          <p:nvPr/>
        </p:nvSpPr>
        <p:spPr>
          <a:xfrm>
            <a:off x="4773168" y="1353312"/>
            <a:ext cx="1719072" cy="676656"/>
          </a:xfrm>
          <a:prstGeom prst="rect">
            <a:avLst/>
          </a:prstGeom>
          <a:noFill/>
          <a:ln/>
        </p:spPr>
        <p:txBody>
          <a:bodyPr wrap="square" lIns="0" tIns="0" rIns="0" bIns="0" rtlCol="0" anchor="t"/>
          <a:lstStyle/>
          <a:p>
            <a:pPr indent="0" marL="0">
              <a:buNone/>
            </a:pPr>
            <a:r>
              <a:rPr lang="en-US" sz="1400" dirty="0">
                <a:solidFill>
                  <a:schemeClr val="bg1"/>
                </a:solidFill>
              </a:rPr>
              <a:t>Seat control and waiting list</a:t>
            </a:r>
            <a:endParaRPr lang="en-US" sz="1400" dirty="0"/>
          </a:p>
        </p:txBody>
      </p:sp>
      <p:sp>
        <p:nvSpPr>
          <p:cNvPr id="12" name="future 4"/>
          <p:cNvSpPr/>
          <p:nvPr/>
        </p:nvSpPr>
        <p:spPr>
          <a:xfrm>
            <a:off x="6766560" y="109728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13" name="Text 11"/>
          <p:cNvSpPr txBox="1"/>
          <p:nvPr/>
        </p:nvSpPr>
        <p:spPr>
          <a:xfrm>
            <a:off x="6876288" y="115214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04</a:t>
            </a:r>
            <a:endParaRPr lang="en-US" sz="1200" dirty="0"/>
          </a:p>
        </p:txBody>
      </p:sp>
      <p:sp>
        <p:nvSpPr>
          <p:cNvPr id="14" name="Text 12"/>
          <p:cNvSpPr txBox="1"/>
          <p:nvPr/>
        </p:nvSpPr>
        <p:spPr>
          <a:xfrm>
            <a:off x="6876288" y="1353312"/>
            <a:ext cx="1719072" cy="676656"/>
          </a:xfrm>
          <a:prstGeom prst="rect">
            <a:avLst/>
          </a:prstGeom>
          <a:noFill/>
          <a:ln/>
        </p:spPr>
        <p:txBody>
          <a:bodyPr wrap="square" lIns="0" tIns="0" rIns="0" bIns="0" rtlCol="0" anchor="t"/>
          <a:lstStyle/>
          <a:p>
            <a:pPr indent="0" marL="0">
              <a:buNone/>
            </a:pPr>
            <a:r>
              <a:rPr lang="en-US" sz="1400" dirty="0">
                <a:solidFill>
                  <a:schemeClr val="bg1"/>
                </a:solidFill>
              </a:rPr>
              <a:t>Stop duplicate enrollments</a:t>
            </a:r>
            <a:endParaRPr lang="en-US" sz="1400" dirty="0"/>
          </a:p>
        </p:txBody>
      </p:sp>
      <p:sp>
        <p:nvSpPr>
          <p:cNvPr id="15" name="future 5"/>
          <p:cNvSpPr/>
          <p:nvPr/>
        </p:nvSpPr>
        <p:spPr>
          <a:xfrm>
            <a:off x="457200" y="219456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16" name="Text 14"/>
          <p:cNvSpPr txBox="1"/>
          <p:nvPr/>
        </p:nvSpPr>
        <p:spPr>
          <a:xfrm>
            <a:off x="566928" y="224942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05</a:t>
            </a:r>
            <a:endParaRPr lang="en-US" sz="1200" dirty="0"/>
          </a:p>
        </p:txBody>
      </p:sp>
      <p:sp>
        <p:nvSpPr>
          <p:cNvPr id="17" name="Text 15"/>
          <p:cNvSpPr txBox="1"/>
          <p:nvPr/>
        </p:nvSpPr>
        <p:spPr>
          <a:xfrm>
            <a:off x="566928" y="2450592"/>
            <a:ext cx="1719072" cy="676656"/>
          </a:xfrm>
          <a:prstGeom prst="rect">
            <a:avLst/>
          </a:prstGeom>
          <a:noFill/>
          <a:ln/>
        </p:spPr>
        <p:txBody>
          <a:bodyPr wrap="square" lIns="0" tIns="0" rIns="0" bIns="0" rtlCol="0" anchor="t"/>
          <a:lstStyle/>
          <a:p>
            <a:pPr indent="0" marL="0">
              <a:buNone/>
            </a:pPr>
            <a:r>
              <a:rPr lang="en-US" sz="1400" dirty="0">
                <a:solidFill>
                  <a:schemeClr val="bg1"/>
                </a:solidFill>
              </a:rPr>
              <a:t>Course list changes with category</a:t>
            </a:r>
            <a:endParaRPr lang="en-US" sz="1400" dirty="0"/>
          </a:p>
        </p:txBody>
      </p:sp>
      <p:sp>
        <p:nvSpPr>
          <p:cNvPr id="18" name="future 6"/>
          <p:cNvSpPr/>
          <p:nvPr/>
        </p:nvSpPr>
        <p:spPr>
          <a:xfrm>
            <a:off x="2560320" y="219456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19" name="Text 17"/>
          <p:cNvSpPr txBox="1"/>
          <p:nvPr/>
        </p:nvSpPr>
        <p:spPr>
          <a:xfrm>
            <a:off x="2670048" y="224942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06</a:t>
            </a:r>
            <a:endParaRPr lang="en-US" sz="1200" dirty="0"/>
          </a:p>
        </p:txBody>
      </p:sp>
      <p:sp>
        <p:nvSpPr>
          <p:cNvPr id="20" name="Text 18"/>
          <p:cNvSpPr txBox="1"/>
          <p:nvPr/>
        </p:nvSpPr>
        <p:spPr>
          <a:xfrm>
            <a:off x="2670048" y="2450592"/>
            <a:ext cx="1719072" cy="676656"/>
          </a:xfrm>
          <a:prstGeom prst="rect">
            <a:avLst/>
          </a:prstGeom>
          <a:noFill/>
          <a:ln/>
        </p:spPr>
        <p:txBody>
          <a:bodyPr wrap="square" lIns="0" tIns="0" rIns="0" bIns="0" rtlCol="0" anchor="t"/>
          <a:lstStyle/>
          <a:p>
            <a:pPr indent="0" marL="0">
              <a:buNone/>
            </a:pPr>
            <a:r>
              <a:rPr lang="en-US" sz="1400" dirty="0">
                <a:solidFill>
                  <a:schemeClr val="bg1"/>
                </a:solidFill>
              </a:rPr>
              <a:t>Foreign keys in enrollments table</a:t>
            </a:r>
            <a:endParaRPr lang="en-US" sz="1400" dirty="0"/>
          </a:p>
        </p:txBody>
      </p:sp>
      <p:sp>
        <p:nvSpPr>
          <p:cNvPr id="21" name="future 7"/>
          <p:cNvSpPr/>
          <p:nvPr/>
        </p:nvSpPr>
        <p:spPr>
          <a:xfrm>
            <a:off x="4663440" y="219456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22" name="Text 20"/>
          <p:cNvSpPr txBox="1"/>
          <p:nvPr/>
        </p:nvSpPr>
        <p:spPr>
          <a:xfrm>
            <a:off x="4773168" y="224942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07</a:t>
            </a:r>
            <a:endParaRPr lang="en-US" sz="1200" dirty="0"/>
          </a:p>
        </p:txBody>
      </p:sp>
      <p:sp>
        <p:nvSpPr>
          <p:cNvPr id="23" name="Text 21"/>
          <p:cNvSpPr txBox="1"/>
          <p:nvPr/>
        </p:nvSpPr>
        <p:spPr>
          <a:xfrm>
            <a:off x="4773168" y="2450592"/>
            <a:ext cx="1719072" cy="676656"/>
          </a:xfrm>
          <a:prstGeom prst="rect">
            <a:avLst/>
          </a:prstGeom>
          <a:noFill/>
          <a:ln/>
        </p:spPr>
        <p:txBody>
          <a:bodyPr wrap="square" lIns="0" tIns="0" rIns="0" bIns="0" rtlCol="0" anchor="t"/>
          <a:lstStyle/>
          <a:p>
            <a:pPr indent="0" marL="0">
              <a:buNone/>
            </a:pPr>
            <a:r>
              <a:rPr lang="en-US" sz="1400" dirty="0">
                <a:solidFill>
                  <a:schemeClr val="bg1"/>
                </a:solidFill>
              </a:rPr>
              <a:t>Email and SMS messages</a:t>
            </a:r>
            <a:endParaRPr lang="en-US" sz="1400" dirty="0"/>
          </a:p>
        </p:txBody>
      </p:sp>
      <p:sp>
        <p:nvSpPr>
          <p:cNvPr id="24" name="future 8"/>
          <p:cNvSpPr/>
          <p:nvPr/>
        </p:nvSpPr>
        <p:spPr>
          <a:xfrm>
            <a:off x="6766560" y="219456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25" name="Text 23"/>
          <p:cNvSpPr txBox="1"/>
          <p:nvPr/>
        </p:nvSpPr>
        <p:spPr>
          <a:xfrm>
            <a:off x="6876288" y="224942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08</a:t>
            </a:r>
            <a:endParaRPr lang="en-US" sz="1200" dirty="0"/>
          </a:p>
        </p:txBody>
      </p:sp>
      <p:sp>
        <p:nvSpPr>
          <p:cNvPr id="26" name="Text 24"/>
          <p:cNvSpPr txBox="1"/>
          <p:nvPr/>
        </p:nvSpPr>
        <p:spPr>
          <a:xfrm>
            <a:off x="6876288" y="2450592"/>
            <a:ext cx="1719072" cy="676656"/>
          </a:xfrm>
          <a:prstGeom prst="rect">
            <a:avLst/>
          </a:prstGeom>
          <a:noFill/>
          <a:ln/>
        </p:spPr>
        <p:txBody>
          <a:bodyPr wrap="square" lIns="0" tIns="0" rIns="0" bIns="0" rtlCol="0" anchor="t"/>
          <a:lstStyle/>
          <a:p>
            <a:pPr indent="0" marL="0">
              <a:buNone/>
            </a:pPr>
            <a:r>
              <a:rPr lang="en-US" sz="1400" dirty="0">
                <a:solidFill>
                  <a:schemeClr val="bg1"/>
                </a:solidFill>
              </a:rPr>
              <a:t>Online payment (Razorpay, Stripe)</a:t>
            </a:r>
            <a:endParaRPr lang="en-US" sz="1400" dirty="0"/>
          </a:p>
        </p:txBody>
      </p:sp>
      <p:sp>
        <p:nvSpPr>
          <p:cNvPr id="27" name="future 9"/>
          <p:cNvSpPr/>
          <p:nvPr/>
        </p:nvSpPr>
        <p:spPr>
          <a:xfrm>
            <a:off x="457200" y="329184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28" name="Text 26"/>
          <p:cNvSpPr txBox="1"/>
          <p:nvPr/>
        </p:nvSpPr>
        <p:spPr>
          <a:xfrm>
            <a:off x="566928" y="334670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09</a:t>
            </a:r>
            <a:endParaRPr lang="en-US" sz="1200" dirty="0"/>
          </a:p>
        </p:txBody>
      </p:sp>
      <p:sp>
        <p:nvSpPr>
          <p:cNvPr id="29" name="Text 27"/>
          <p:cNvSpPr txBox="1"/>
          <p:nvPr/>
        </p:nvSpPr>
        <p:spPr>
          <a:xfrm>
            <a:off x="566928" y="3547872"/>
            <a:ext cx="1719072" cy="676656"/>
          </a:xfrm>
          <a:prstGeom prst="rect">
            <a:avLst/>
          </a:prstGeom>
          <a:noFill/>
          <a:ln/>
        </p:spPr>
        <p:txBody>
          <a:bodyPr wrap="square" lIns="0" tIns="0" rIns="0" bIns="0" rtlCol="0" anchor="t"/>
          <a:lstStyle/>
          <a:p>
            <a:pPr indent="0" marL="0">
              <a:buNone/>
            </a:pPr>
            <a:r>
              <a:rPr lang="en-US" sz="1400" dirty="0">
                <a:solidFill>
                  <a:schemeClr val="bg1"/>
                </a:solidFill>
              </a:rPr>
              <a:t>Search and pagination</a:t>
            </a:r>
            <a:endParaRPr lang="en-US" sz="1400" dirty="0"/>
          </a:p>
        </p:txBody>
      </p:sp>
      <p:sp>
        <p:nvSpPr>
          <p:cNvPr id="30" name="future 10"/>
          <p:cNvSpPr/>
          <p:nvPr/>
        </p:nvSpPr>
        <p:spPr>
          <a:xfrm>
            <a:off x="2560320" y="329184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31" name="Text 29"/>
          <p:cNvSpPr txBox="1"/>
          <p:nvPr/>
        </p:nvSpPr>
        <p:spPr>
          <a:xfrm>
            <a:off x="2670048" y="334670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10</a:t>
            </a:r>
            <a:endParaRPr lang="en-US" sz="1200" dirty="0"/>
          </a:p>
        </p:txBody>
      </p:sp>
      <p:sp>
        <p:nvSpPr>
          <p:cNvPr id="32" name="Text 30"/>
          <p:cNvSpPr txBox="1"/>
          <p:nvPr/>
        </p:nvSpPr>
        <p:spPr>
          <a:xfrm>
            <a:off x="2670048" y="3547872"/>
            <a:ext cx="1719072" cy="676656"/>
          </a:xfrm>
          <a:prstGeom prst="rect">
            <a:avLst/>
          </a:prstGeom>
          <a:noFill/>
          <a:ln/>
        </p:spPr>
        <p:txBody>
          <a:bodyPr wrap="square" lIns="0" tIns="0" rIns="0" bIns="0" rtlCol="0" anchor="t"/>
          <a:lstStyle/>
          <a:p>
            <a:pPr indent="0" marL="0">
              <a:buNone/>
            </a:pPr>
            <a:r>
              <a:rPr lang="en-US" sz="1400" dirty="0">
                <a:solidFill>
                  <a:schemeClr val="bg1"/>
                </a:solidFill>
              </a:rPr>
              <a:t>Reports with CSV or PDF export</a:t>
            </a:r>
            <a:endParaRPr lang="en-US" sz="1400" dirty="0"/>
          </a:p>
        </p:txBody>
      </p:sp>
      <p:sp>
        <p:nvSpPr>
          <p:cNvPr id="33" name="future 11"/>
          <p:cNvSpPr/>
          <p:nvPr/>
        </p:nvSpPr>
        <p:spPr>
          <a:xfrm>
            <a:off x="4663440" y="329184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34" name="Text 32"/>
          <p:cNvSpPr txBox="1"/>
          <p:nvPr/>
        </p:nvSpPr>
        <p:spPr>
          <a:xfrm>
            <a:off x="4773168" y="334670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11</a:t>
            </a:r>
            <a:endParaRPr lang="en-US" sz="1200" dirty="0"/>
          </a:p>
        </p:txBody>
      </p:sp>
      <p:sp>
        <p:nvSpPr>
          <p:cNvPr id="35" name="Text 33"/>
          <p:cNvSpPr txBox="1"/>
          <p:nvPr/>
        </p:nvSpPr>
        <p:spPr>
          <a:xfrm>
            <a:off x="4773168" y="3547872"/>
            <a:ext cx="1719072" cy="676656"/>
          </a:xfrm>
          <a:prstGeom prst="rect">
            <a:avLst/>
          </a:prstGeom>
          <a:noFill/>
          <a:ln/>
        </p:spPr>
        <p:txBody>
          <a:bodyPr wrap="square" lIns="0" tIns="0" rIns="0" bIns="0" rtlCol="0" anchor="t"/>
          <a:lstStyle/>
          <a:p>
            <a:pPr indent="0" marL="0">
              <a:buNone/>
            </a:pPr>
            <a:r>
              <a:rPr lang="en-US" sz="1400" dirty="0">
                <a:solidFill>
                  <a:schemeClr val="bg1"/>
                </a:solidFill>
              </a:rPr>
              <a:t>Environment variables and Pytest tests</a:t>
            </a:r>
            <a:endParaRPr lang="en-US" sz="1400" dirty="0"/>
          </a:p>
        </p:txBody>
      </p:sp>
      <p:sp>
        <p:nvSpPr>
          <p:cNvPr id="36" name="future 12"/>
          <p:cNvSpPr/>
          <p:nvPr/>
        </p:nvSpPr>
        <p:spPr>
          <a:xfrm>
            <a:off x="6766560" y="3291840"/>
            <a:ext cx="1920240" cy="960120"/>
          </a:xfrm>
          <a:prstGeom prst="roundRect">
            <a:avLst>
              <a:gd name="adj" fmla="val 9524"/>
            </a:avLst>
          </a:prstGeom>
          <a:solidFill>
            <a:schemeClr val="accent1">
              <a:alpha val="28000"/>
            </a:schemeClr>
          </a:solidFill>
          <a:ln w="12700">
            <a:solidFill>
              <a:schemeClr val="accent1"/>
            </a:solidFill>
            <a:prstDash val="solid"/>
          </a:ln>
        </p:spPr>
      </p:sp>
      <p:sp>
        <p:nvSpPr>
          <p:cNvPr id="37" name="Text 35"/>
          <p:cNvSpPr txBox="1"/>
          <p:nvPr/>
        </p:nvSpPr>
        <p:spPr>
          <a:xfrm>
            <a:off x="6876288" y="3346704"/>
            <a:ext cx="548640" cy="201168"/>
          </a:xfrm>
          <a:prstGeom prst="rect">
            <a:avLst/>
          </a:prstGeom>
          <a:noFill/>
          <a:ln/>
        </p:spPr>
        <p:txBody>
          <a:bodyPr wrap="square" lIns="0" tIns="0" rIns="0" bIns="0" rtlCol="0" anchor="t"/>
          <a:lstStyle/>
          <a:p>
            <a:pPr indent="0" marL="0">
              <a:buNone/>
            </a:pPr>
            <a:r>
              <a:rPr lang="en-US" sz="1200" b="1" dirty="0">
                <a:solidFill>
                  <a:schemeClr val="accent3"/>
                </a:solidFill>
              </a:rPr>
              <a:t>12</a:t>
            </a:r>
            <a:endParaRPr lang="en-US" sz="1200" dirty="0"/>
          </a:p>
        </p:txBody>
      </p:sp>
      <p:sp>
        <p:nvSpPr>
          <p:cNvPr id="38" name="Text 36"/>
          <p:cNvSpPr txBox="1"/>
          <p:nvPr/>
        </p:nvSpPr>
        <p:spPr>
          <a:xfrm>
            <a:off x="6876288" y="3547872"/>
            <a:ext cx="1719072" cy="676656"/>
          </a:xfrm>
          <a:prstGeom prst="rect">
            <a:avLst/>
          </a:prstGeom>
          <a:noFill/>
          <a:ln/>
        </p:spPr>
        <p:txBody>
          <a:bodyPr wrap="square" lIns="0" tIns="0" rIns="0" bIns="0" rtlCol="0" anchor="t"/>
          <a:lstStyle/>
          <a:p>
            <a:pPr indent="0" marL="0">
              <a:buNone/>
            </a:pPr>
            <a:r>
              <a:rPr lang="en-US" sz="1400" dirty="0">
                <a:solidFill>
                  <a:schemeClr val="bg1"/>
                </a:solidFill>
              </a:rPr>
              <a:t>Docker, cloud and mobile apps</a:t>
            </a:r>
            <a:endParaRPr lang="en-US" sz="1400" dirty="0"/>
          </a:p>
        </p:txBody>
      </p:sp>
      <p:sp>
        <p:nvSpPr>
          <p:cNvPr id="39" name="Text 37"/>
          <p:cNvSpPr txBox="1"/>
          <p:nvPr/>
        </p:nvSpPr>
        <p:spPr>
          <a:xfrm>
            <a:off x="457200" y="4434840"/>
            <a:ext cx="8229600" cy="320040"/>
          </a:xfrm>
          <a:prstGeom prst="rect">
            <a:avLst/>
          </a:prstGeom>
          <a:noFill/>
          <a:ln/>
        </p:spPr>
        <p:txBody>
          <a:bodyPr wrap="square" lIns="0" tIns="0" rIns="0" bIns="0" rtlCol="0" anchor="t"/>
          <a:lstStyle/>
          <a:p>
            <a:pPr algn="ctr" indent="0" marL="0">
              <a:buNone/>
            </a:pPr>
            <a:r>
              <a:rPr lang="en-US" sz="1800" b="1" dirty="0">
                <a:solidFill>
                  <a:schemeClr val="accent3"/>
                </a:solidFill>
              </a:rPr>
              <a:t>Thank you. Questions are welcome.</a:t>
            </a:r>
            <a:endParaRPr lang="en-US" sz="1800" dirty="0"/>
          </a:p>
        </p:txBody>
      </p:sp>
      <p:sp>
        <p:nvSpPr>
          <p:cNvPr id="25" name="Slide Number Placeholder 0"/>
          <p:cNvSpPr>
            <a:spLocks noGrp="1"/>
          </p:cNvSpPr>
          <p:nvPr>
            <p:ph type="sldNum" sz="quarter" idx="4294967295"/>
          </p:nvPr>
        </p:nvSpPr>
        <p:spPr>
          <a:xfrm>
            <a:off x="8138160" y="484632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EduSphere Internship">
  <a:themeElements>
    <a:clrScheme name="EduSphere Internship">
      <a:dk1>
        <a:srgbClr val="0F172A"/>
      </a:dk1>
      <a:lt1>
        <a:srgbClr val="FFFFFF"/>
      </a:lt1>
      <a:dk2>
        <a:srgbClr val="475569"/>
      </a:dk2>
      <a:lt2>
        <a:srgbClr val="F1F4FF"/>
      </a:lt2>
      <a:accent1>
        <a:srgbClr val="6366F1"/>
      </a:accent1>
      <a:accent2>
        <a:srgbClr val="EC4899"/>
      </a:accent2>
      <a:accent3>
        <a:srgbClr val="06B6D4"/>
      </a:accent3>
      <a:accent4>
        <a:srgbClr val="07111F"/>
      </a:accent4>
      <a:accent5>
        <a:srgbClr val="4338CA"/>
      </a:accent5>
      <a:accent6>
        <a:srgbClr val="0F766E"/>
      </a:accent6>
      <a:hlink>
        <a:srgbClr val="4338CA"/>
      </a:hlink>
      <a:folHlink>
        <a:srgbClr val="7C3AED"/>
      </a:folHlink>
    </a:clrScheme>
    <a:fontScheme name="EduSphere Internshi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Course Enrollment System - Summer Internship Presentation</dc:title>
  <dc:subject>Summer Internship (IT3711), B.Tech Information Technology</dc:subject>
  <dc:creator>Janani L</dc:creator>
  <cp:lastModifiedBy>Janani L</cp:lastModifiedBy>
  <cp:revision>1</cp:revision>
  <dcterms:created xsi:type="dcterms:W3CDTF">2026-10-21T11:08:01Z</dcterms:created>
  <dcterms:modified xsi:type="dcterms:W3CDTF">2026-10-21T11:08:01Z</dcterms:modified>
</cp:coreProperties>
</file>